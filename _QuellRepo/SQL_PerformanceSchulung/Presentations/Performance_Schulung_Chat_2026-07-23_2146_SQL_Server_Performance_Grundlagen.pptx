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d9d3b178924b40" /><Relationship Type="http://schemas.openxmlformats.org/officeDocument/2006/relationships/extended-properties" Target="/docProps/app.xml" Id="R708e1d58645d4c18" /><Relationship Type="http://schemas.openxmlformats.org/officeDocument/2006/relationships/officeDocument" Target="/ppt/presentation.xml" Id="R01eb1bb650b24473" /></Relationships>
</file>

<file path=ppt/presentation.xml><?xml version="1.0" encoding="utf-8"?>
<p:presentation xmlns:p="http://schemas.openxmlformats.org/presentationml/2006/main">
  <p:sldMasterIdLst>
    <p:sldMasterId xmlns:r="http://schemas.openxmlformats.org/officeDocument/2006/relationships" id="2147483648" r:id="Rf90f44b3993346a8"/>
  </p:sldMasterIdLst>
  <p:notesMasterIdLst>
    <p:notesMasterId xmlns:r="http://schemas.openxmlformats.org/officeDocument/2006/relationships" r:id="R7a07f356ca4e466f"/>
  </p:notesMasterIdLst>
  <p:sldIdLst>
    <p:sldId xmlns:r="http://schemas.openxmlformats.org/officeDocument/2006/relationships" id="256" r:id="R9af5ade6f84644f6"/>
    <p:sldId xmlns:r="http://schemas.openxmlformats.org/officeDocument/2006/relationships" id="257" r:id="Rd0288e975c2f4069"/>
    <p:sldId xmlns:r="http://schemas.openxmlformats.org/officeDocument/2006/relationships" id="258" r:id="Reb526cc03d4847eb"/>
    <p:sldId xmlns:r="http://schemas.openxmlformats.org/officeDocument/2006/relationships" id="259" r:id="Rabe9f9a2c9554bca"/>
    <p:sldId xmlns:r="http://schemas.openxmlformats.org/officeDocument/2006/relationships" id="260" r:id="R92be306100934c6c"/>
    <p:sldId xmlns:r="http://schemas.openxmlformats.org/officeDocument/2006/relationships" id="261" r:id="Rfb8ecebd3e9247e9"/>
    <p:sldId xmlns:r="http://schemas.openxmlformats.org/officeDocument/2006/relationships" id="262" r:id="R01f03f5736b94476"/>
    <p:sldId xmlns:r="http://schemas.openxmlformats.org/officeDocument/2006/relationships" id="263" r:id="R3185430012ca4be1"/>
    <p:sldId xmlns:r="http://schemas.openxmlformats.org/officeDocument/2006/relationships" id="264" r:id="R80a67b936efb4d7a"/>
    <p:sldId xmlns:r="http://schemas.openxmlformats.org/officeDocument/2006/relationships" id="265" r:id="Rd282713b62064d7e"/>
    <p:sldId xmlns:r="http://schemas.openxmlformats.org/officeDocument/2006/relationships" id="266" r:id="Re45853f6baea43ca"/>
    <p:sldId xmlns:r="http://schemas.openxmlformats.org/officeDocument/2006/relationships" id="267" r:id="R2fd81bace29b430e"/>
    <p:sldId xmlns:r="http://schemas.openxmlformats.org/officeDocument/2006/relationships" id="268" r:id="Ra259f4d16ecf4783"/>
    <p:sldId xmlns:r="http://schemas.openxmlformats.org/officeDocument/2006/relationships" id="269" r:id="R72e39b04775842da"/>
    <p:sldId xmlns:r="http://schemas.openxmlformats.org/officeDocument/2006/relationships" id="270" r:id="R31ea24ddee674570"/>
    <p:sldId xmlns:r="http://schemas.openxmlformats.org/officeDocument/2006/relationships" id="271" r:id="R0b4a5b4e28a04f00"/>
    <p:sldId xmlns:r="http://schemas.openxmlformats.org/officeDocument/2006/relationships" id="272" r:id="R015ca29b1777460a"/>
    <p:sldId xmlns:r="http://schemas.openxmlformats.org/officeDocument/2006/relationships" id="273" r:id="Rca1d7f76288f43ed"/>
    <p:sldId xmlns:r="http://schemas.openxmlformats.org/officeDocument/2006/relationships" id="274" r:id="R2a6688ec4e8e41f3"/>
    <p:sldId xmlns:r="http://schemas.openxmlformats.org/officeDocument/2006/relationships" id="275" r:id="R9d8b2cdd8adb466d"/>
    <p:sldId xmlns:r="http://schemas.openxmlformats.org/officeDocument/2006/relationships" id="276" r:id="R494c444097934948"/>
    <p:sldId xmlns:r="http://schemas.openxmlformats.org/officeDocument/2006/relationships" id="277" r:id="R2d79193c83ed485e"/>
    <p:sldId xmlns:r="http://schemas.openxmlformats.org/officeDocument/2006/relationships" id="278" r:id="R2fc59d7ac0384d5e"/>
    <p:sldId xmlns:r="http://schemas.openxmlformats.org/officeDocument/2006/relationships" id="279" r:id="R27025f98a770494b"/>
    <p:sldId xmlns:r="http://schemas.openxmlformats.org/officeDocument/2006/relationships" id="280" r:id="Ra89794663ad54adb"/>
    <p:sldId xmlns:r="http://schemas.openxmlformats.org/officeDocument/2006/relationships" id="281" r:id="Ra2cd32b3e7e64029"/>
    <p:sldId xmlns:r="http://schemas.openxmlformats.org/officeDocument/2006/relationships" id="282" r:id="R7a4a6bada38646d0"/>
    <p:sldId xmlns:r="http://schemas.openxmlformats.org/officeDocument/2006/relationships" id="283" r:id="R91809e7bd1de4cf0"/>
    <p:sldId xmlns:r="http://schemas.openxmlformats.org/officeDocument/2006/relationships" id="284" r:id="Rb8531af1f76a4332"/>
    <p:sldId xmlns:r="http://schemas.openxmlformats.org/officeDocument/2006/relationships" id="285" r:id="R60957d9fad8a4e33"/>
    <p:sldId xmlns:r="http://schemas.openxmlformats.org/officeDocument/2006/relationships" id="286" r:id="R88570f6d397e4893"/>
    <p:sldId xmlns:r="http://schemas.openxmlformats.org/officeDocument/2006/relationships" id="287" r:id="Rb218617823a24634"/>
    <p:sldId xmlns:r="http://schemas.openxmlformats.org/officeDocument/2006/relationships" id="288" r:id="R7567ef181147466f"/>
    <p:sldId xmlns:r="http://schemas.openxmlformats.org/officeDocument/2006/relationships" id="289" r:id="R5c4f4b4eae0c43dd"/>
    <p:sldId xmlns:r="http://schemas.openxmlformats.org/officeDocument/2006/relationships" id="290" r:id="R35428053c69c4f96"/>
    <p:sldId xmlns:r="http://schemas.openxmlformats.org/officeDocument/2006/relationships" id="291" r:id="R55d29c2be6af47d0"/>
    <p:sldId xmlns:r="http://schemas.openxmlformats.org/officeDocument/2006/relationships" id="292" r:id="R9c61315223224dd7"/>
    <p:sldId xmlns:r="http://schemas.openxmlformats.org/officeDocument/2006/relationships" id="293" r:id="Rd64fa24e4b294d66"/>
    <p:sldId xmlns:r="http://schemas.openxmlformats.org/officeDocument/2006/relationships" id="294" r:id="Rd8b3b59351fc404f"/>
    <p:sldId xmlns:r="http://schemas.openxmlformats.org/officeDocument/2006/relationships" id="295" r:id="Rb0b84fa6847a413b"/>
    <p:sldId xmlns:r="http://schemas.openxmlformats.org/officeDocument/2006/relationships" id="296" r:id="R6475fd34c6ab404c"/>
    <p:sldId xmlns:r="http://schemas.openxmlformats.org/officeDocument/2006/relationships" id="297" r:id="Rd917bf301a724a58"/>
    <p:sldId xmlns:r="http://schemas.openxmlformats.org/officeDocument/2006/relationships" id="298" r:id="R292dd8a77fae4930"/>
    <p:sldId xmlns:r="http://schemas.openxmlformats.org/officeDocument/2006/relationships" id="299" r:id="R26a47f6ba0874f02"/>
    <p:sldId xmlns:r="http://schemas.openxmlformats.org/officeDocument/2006/relationships" id="300" r:id="R3d9b37b1ccc84b77"/>
    <p:sldId xmlns:r="http://schemas.openxmlformats.org/officeDocument/2006/relationships" id="301" r:id="Rc603da5a4e9b4011"/>
    <p:sldId xmlns:r="http://schemas.openxmlformats.org/officeDocument/2006/relationships" id="302" r:id="R210764eaf41f4a54"/>
    <p:sldId xmlns:r="http://schemas.openxmlformats.org/officeDocument/2006/relationships" id="303" r:id="R30a78236b3cd4786"/>
    <p:sldId xmlns:r="http://schemas.openxmlformats.org/officeDocument/2006/relationships" id="304" r:id="R3f8ad469b8d84e8c"/>
    <p:sldId xmlns:r="http://schemas.openxmlformats.org/officeDocument/2006/relationships" id="305" r:id="R0299571affad4603"/>
    <p:sldId xmlns:r="http://schemas.openxmlformats.org/officeDocument/2006/relationships" id="306" r:id="Rbb49dea0666743d9"/>
    <p:sldId xmlns:r="http://schemas.openxmlformats.org/officeDocument/2006/relationships" id="307" r:id="R3966566c51024c28"/>
    <p:sldId xmlns:r="http://schemas.openxmlformats.org/officeDocument/2006/relationships" id="308" r:id="Rface26ae4a4441e8"/>
    <p:sldId xmlns:r="http://schemas.openxmlformats.org/officeDocument/2006/relationships" id="309" r:id="R05f7db3ce1be48ac"/>
    <p:sldId xmlns:r="http://schemas.openxmlformats.org/officeDocument/2006/relationships" id="310" r:id="Ra619368f586a4cbd"/>
    <p:sldId xmlns:r="http://schemas.openxmlformats.org/officeDocument/2006/relationships" id="311" r:id="Rd5acec895fec463d"/>
    <p:sldId xmlns:r="http://schemas.openxmlformats.org/officeDocument/2006/relationships" id="312" r:id="R85590b9e6f9b4add"/>
    <p:sldId xmlns:r="http://schemas.openxmlformats.org/officeDocument/2006/relationships" id="313" r:id="R9e122cc1637b4d1c"/>
    <p:sldId xmlns:r="http://schemas.openxmlformats.org/officeDocument/2006/relationships" id="314" r:id="R4e02dafec4f14fd5"/>
    <p:sldId xmlns:r="http://schemas.openxmlformats.org/officeDocument/2006/relationships" id="315" r:id="R9f6e848be4284800"/>
    <p:sldId xmlns:r="http://schemas.openxmlformats.org/officeDocument/2006/relationships" id="316" r:id="R7572c6613b644367"/>
    <p:sldId xmlns:r="http://schemas.openxmlformats.org/officeDocument/2006/relationships" id="317" r:id="R2ce860e87fab4ae9"/>
    <p:sldId xmlns:r="http://schemas.openxmlformats.org/officeDocument/2006/relationships" id="318" r:id="R837475813d8e48de"/>
    <p:sldId xmlns:r="http://schemas.openxmlformats.org/officeDocument/2006/relationships" id="319" r:id="R653d5bfc1c3f4313"/>
    <p:sldId xmlns:r="http://schemas.openxmlformats.org/officeDocument/2006/relationships" id="320" r:id="Redbbc7cb15bd400e"/>
    <p:sldId xmlns:r="http://schemas.openxmlformats.org/officeDocument/2006/relationships" id="321" r:id="Rcc7631ac62a64631"/>
    <p:sldId xmlns:r="http://schemas.openxmlformats.org/officeDocument/2006/relationships" id="322" r:id="Rde4cb292047d428d"/>
    <p:sldId xmlns:r="http://schemas.openxmlformats.org/officeDocument/2006/relationships" id="323" r:id="R41e37626eaaf4aac"/>
    <p:sldId xmlns:r="http://schemas.openxmlformats.org/officeDocument/2006/relationships" id="324" r:id="R63f03412912b4f64"/>
    <p:sldId xmlns:r="http://schemas.openxmlformats.org/officeDocument/2006/relationships" id="325" r:id="R113b87a89eb04b18"/>
    <p:sldId xmlns:r="http://schemas.openxmlformats.org/officeDocument/2006/relationships" id="326" r:id="Rb42b13324b9f4881"/>
    <p:sldId xmlns:r="http://schemas.openxmlformats.org/officeDocument/2006/relationships" id="327" r:id="Rfbfc2284f7184e08"/>
    <p:sldId xmlns:r="http://schemas.openxmlformats.org/officeDocument/2006/relationships" id="328" r:id="R08058342464d4162"/>
    <p:sldId xmlns:r="http://schemas.openxmlformats.org/officeDocument/2006/relationships" id="329" r:id="R31601813c6414066"/>
    <p:sldId xmlns:r="http://schemas.openxmlformats.org/officeDocument/2006/relationships" id="330" r:id="Ra24ecf52143a47b7"/>
    <p:sldId xmlns:r="http://schemas.openxmlformats.org/officeDocument/2006/relationships" id="331" r:id="R0f696379842e4c88"/>
    <p:sldId xmlns:r="http://schemas.openxmlformats.org/officeDocument/2006/relationships" id="332" r:id="R1b18cf7f9fa048f4"/>
    <p:sldId xmlns:r="http://schemas.openxmlformats.org/officeDocument/2006/relationships" id="333" r:id="R2991e448316e4b5f"/>
    <p:sldId xmlns:r="http://schemas.openxmlformats.org/officeDocument/2006/relationships" id="334" r:id="Rc6dea49c844a4abd"/>
    <p:sldId xmlns:r="http://schemas.openxmlformats.org/officeDocument/2006/relationships" id="335" r:id="R648b63ea58e04983"/>
    <p:sldId xmlns:r="http://schemas.openxmlformats.org/officeDocument/2006/relationships" id="336" r:id="R3ab1f6f569ba4e7e"/>
    <p:sldId xmlns:r="http://schemas.openxmlformats.org/officeDocument/2006/relationships" id="337" r:id="R8d5ac03b75604d72"/>
    <p:sldId xmlns:r="http://schemas.openxmlformats.org/officeDocument/2006/relationships" id="338" r:id="Raf3c8503f6c445b6"/>
    <p:sldId xmlns:r="http://schemas.openxmlformats.org/officeDocument/2006/relationships" id="339" r:id="R31faa33d3bce42b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c9f53126c448c3" /><Relationship Type="http://schemas.openxmlformats.org/officeDocument/2006/relationships/slideMaster" Target="/ppt/slideMasters/slideMaster1.xml" Id="Rf90f44b3993346a8" /><Relationship Type="http://schemas.openxmlformats.org/officeDocument/2006/relationships/notesMaster" Target="/ppt/notesMasters/notesMaster1.xml" Id="R7a07f356ca4e466f" /><Relationship Type="http://schemas.openxmlformats.org/officeDocument/2006/relationships/presProps" Target="/ppt/presProps.xml" Id="R31a019d3c20548e2" /><Relationship Type="http://schemas.openxmlformats.org/officeDocument/2006/relationships/tableStyles" Target="/ppt/tableStyles.xml" Id="R38f385b4369a4d17" /><Relationship Type="http://schemas.openxmlformats.org/officeDocument/2006/relationships/slide" Target="/ppt/slides/slide1.xml" Id="R9af5ade6f84644f6" /><Relationship Type="http://schemas.openxmlformats.org/officeDocument/2006/relationships/slide" Target="/ppt/slides/slide2.xml" Id="Rd0288e975c2f4069" /><Relationship Type="http://schemas.openxmlformats.org/officeDocument/2006/relationships/slide" Target="/ppt/slides/slide3.xml" Id="Reb526cc03d4847eb" /><Relationship Type="http://schemas.openxmlformats.org/officeDocument/2006/relationships/slide" Target="/ppt/slides/slide4.xml" Id="Rabe9f9a2c9554bca" /><Relationship Type="http://schemas.openxmlformats.org/officeDocument/2006/relationships/slide" Target="/ppt/slides/slide5.xml" Id="R92be306100934c6c" /><Relationship Type="http://schemas.openxmlformats.org/officeDocument/2006/relationships/slide" Target="/ppt/slides/slide6.xml" Id="Rfb8ecebd3e9247e9" /><Relationship Type="http://schemas.openxmlformats.org/officeDocument/2006/relationships/slide" Target="/ppt/slides/slide7.xml" Id="R01f03f5736b94476" /><Relationship Type="http://schemas.openxmlformats.org/officeDocument/2006/relationships/slide" Target="/ppt/slides/slide8.xml" Id="R3185430012ca4be1" /><Relationship Type="http://schemas.openxmlformats.org/officeDocument/2006/relationships/slide" Target="/ppt/slides/slide9.xml" Id="R80a67b936efb4d7a" /><Relationship Type="http://schemas.openxmlformats.org/officeDocument/2006/relationships/slide" Target="/ppt/slides/slide10.xml" Id="Rd282713b62064d7e" /><Relationship Type="http://schemas.openxmlformats.org/officeDocument/2006/relationships/slide" Target="/ppt/slides/slide11.xml" Id="Re45853f6baea43ca" /><Relationship Type="http://schemas.openxmlformats.org/officeDocument/2006/relationships/slide" Target="/ppt/slides/slide12.xml" Id="R2fd81bace29b430e" /><Relationship Type="http://schemas.openxmlformats.org/officeDocument/2006/relationships/slide" Target="/ppt/slides/slide13.xml" Id="Ra259f4d16ecf4783" /><Relationship Type="http://schemas.openxmlformats.org/officeDocument/2006/relationships/slide" Target="/ppt/slides/slide14.xml" Id="R72e39b04775842da" /><Relationship Type="http://schemas.openxmlformats.org/officeDocument/2006/relationships/slide" Target="/ppt/slides/slide15.xml" Id="R31ea24ddee674570" /><Relationship Type="http://schemas.openxmlformats.org/officeDocument/2006/relationships/slide" Target="/ppt/slides/slide16.xml" Id="R0b4a5b4e28a04f00" /><Relationship Type="http://schemas.openxmlformats.org/officeDocument/2006/relationships/slide" Target="/ppt/slides/slide17.xml" Id="R015ca29b1777460a" /><Relationship Type="http://schemas.openxmlformats.org/officeDocument/2006/relationships/slide" Target="/ppt/slides/slide18.xml" Id="Rca1d7f76288f43ed" /><Relationship Type="http://schemas.openxmlformats.org/officeDocument/2006/relationships/slide" Target="/ppt/slides/slide19.xml" Id="R2a6688ec4e8e41f3" /><Relationship Type="http://schemas.openxmlformats.org/officeDocument/2006/relationships/slide" Target="/ppt/slides/slide20.xml" Id="R9d8b2cdd8adb466d" /><Relationship Type="http://schemas.openxmlformats.org/officeDocument/2006/relationships/slide" Target="/ppt/slides/slide21.xml" Id="R494c444097934948" /><Relationship Type="http://schemas.openxmlformats.org/officeDocument/2006/relationships/slide" Target="/ppt/slides/slide22.xml" Id="R2d79193c83ed485e" /><Relationship Type="http://schemas.openxmlformats.org/officeDocument/2006/relationships/slide" Target="/ppt/slides/slide23.xml" Id="R2fc59d7ac0384d5e" /><Relationship Type="http://schemas.openxmlformats.org/officeDocument/2006/relationships/slide" Target="/ppt/slides/slide24.xml" Id="R27025f98a770494b" /><Relationship Type="http://schemas.openxmlformats.org/officeDocument/2006/relationships/slide" Target="/ppt/slides/slide25.xml" Id="Ra89794663ad54adb" /><Relationship Type="http://schemas.openxmlformats.org/officeDocument/2006/relationships/slide" Target="/ppt/slides/slide26.xml" Id="Ra2cd32b3e7e64029" /><Relationship Type="http://schemas.openxmlformats.org/officeDocument/2006/relationships/slide" Target="/ppt/slides/slide27.xml" Id="R7a4a6bada38646d0" /><Relationship Type="http://schemas.openxmlformats.org/officeDocument/2006/relationships/slide" Target="/ppt/slides/slide28.xml" Id="R91809e7bd1de4cf0" /><Relationship Type="http://schemas.openxmlformats.org/officeDocument/2006/relationships/slide" Target="/ppt/slides/slide29.xml" Id="Rb8531af1f76a4332" /><Relationship Type="http://schemas.openxmlformats.org/officeDocument/2006/relationships/slide" Target="/ppt/slides/slide30.xml" Id="R60957d9fad8a4e33" /><Relationship Type="http://schemas.openxmlformats.org/officeDocument/2006/relationships/slide" Target="/ppt/slides/slide31.xml" Id="R88570f6d397e4893" /><Relationship Type="http://schemas.openxmlformats.org/officeDocument/2006/relationships/slide" Target="/ppt/slides/slide32.xml" Id="Rb218617823a24634" /><Relationship Type="http://schemas.openxmlformats.org/officeDocument/2006/relationships/slide" Target="/ppt/slides/slide33.xml" Id="R7567ef181147466f" /><Relationship Type="http://schemas.openxmlformats.org/officeDocument/2006/relationships/slide" Target="/ppt/slides/slide34.xml" Id="R5c4f4b4eae0c43dd" /><Relationship Type="http://schemas.openxmlformats.org/officeDocument/2006/relationships/slide" Target="/ppt/slides/slide35.xml" Id="R35428053c69c4f96" /><Relationship Type="http://schemas.openxmlformats.org/officeDocument/2006/relationships/slide" Target="/ppt/slides/slide36.xml" Id="R55d29c2be6af47d0" /><Relationship Type="http://schemas.openxmlformats.org/officeDocument/2006/relationships/slide" Target="/ppt/slides/slide37.xml" Id="R9c61315223224dd7" /><Relationship Type="http://schemas.openxmlformats.org/officeDocument/2006/relationships/slide" Target="/ppt/slides/slide38.xml" Id="Rd64fa24e4b294d66" /><Relationship Type="http://schemas.openxmlformats.org/officeDocument/2006/relationships/slide" Target="/ppt/slides/slide39.xml" Id="Rd8b3b59351fc404f" /><Relationship Type="http://schemas.openxmlformats.org/officeDocument/2006/relationships/slide" Target="/ppt/slides/slide40.xml" Id="Rb0b84fa6847a413b" /><Relationship Type="http://schemas.openxmlformats.org/officeDocument/2006/relationships/slide" Target="/ppt/slides/slide41.xml" Id="R6475fd34c6ab404c" /><Relationship Type="http://schemas.openxmlformats.org/officeDocument/2006/relationships/slide" Target="/ppt/slides/slide42.xml" Id="Rd917bf301a724a58" /><Relationship Type="http://schemas.openxmlformats.org/officeDocument/2006/relationships/slide" Target="/ppt/slides/slide43.xml" Id="R292dd8a77fae4930" /><Relationship Type="http://schemas.openxmlformats.org/officeDocument/2006/relationships/slide" Target="/ppt/slides/slide44.xml" Id="R26a47f6ba0874f02" /><Relationship Type="http://schemas.openxmlformats.org/officeDocument/2006/relationships/slide" Target="/ppt/slides/slide45.xml" Id="R3d9b37b1ccc84b77" /><Relationship Type="http://schemas.openxmlformats.org/officeDocument/2006/relationships/slide" Target="/ppt/slides/slide46.xml" Id="Rc603da5a4e9b4011" /><Relationship Type="http://schemas.openxmlformats.org/officeDocument/2006/relationships/slide" Target="/ppt/slides/slide47.xml" Id="R210764eaf41f4a54" /><Relationship Type="http://schemas.openxmlformats.org/officeDocument/2006/relationships/slide" Target="/ppt/slides/slide48.xml" Id="R30a78236b3cd4786" /><Relationship Type="http://schemas.openxmlformats.org/officeDocument/2006/relationships/slide" Target="/ppt/slides/slide49.xml" Id="R3f8ad469b8d84e8c" /><Relationship Type="http://schemas.openxmlformats.org/officeDocument/2006/relationships/slide" Target="/ppt/slides/slide50.xml" Id="R0299571affad4603" /><Relationship Type="http://schemas.openxmlformats.org/officeDocument/2006/relationships/slide" Target="/ppt/slides/slide51.xml" Id="Rbb49dea0666743d9" /><Relationship Type="http://schemas.openxmlformats.org/officeDocument/2006/relationships/slide" Target="/ppt/slides/slide52.xml" Id="R3966566c51024c28" /><Relationship Type="http://schemas.openxmlformats.org/officeDocument/2006/relationships/slide" Target="/ppt/slides/slide53.xml" Id="Rface26ae4a4441e8" /><Relationship Type="http://schemas.openxmlformats.org/officeDocument/2006/relationships/slide" Target="/ppt/slides/slide54.xml" Id="R05f7db3ce1be48ac" /><Relationship Type="http://schemas.openxmlformats.org/officeDocument/2006/relationships/slide" Target="/ppt/slides/slide55.xml" Id="Ra619368f586a4cbd" /><Relationship Type="http://schemas.openxmlformats.org/officeDocument/2006/relationships/slide" Target="/ppt/slides/slide56.xml" Id="Rd5acec895fec463d" /><Relationship Type="http://schemas.openxmlformats.org/officeDocument/2006/relationships/slide" Target="/ppt/slides/slide57.xml" Id="R85590b9e6f9b4add" /><Relationship Type="http://schemas.openxmlformats.org/officeDocument/2006/relationships/slide" Target="/ppt/slides/slide58.xml" Id="R9e122cc1637b4d1c" /><Relationship Type="http://schemas.openxmlformats.org/officeDocument/2006/relationships/slide" Target="/ppt/slides/slide59.xml" Id="R4e02dafec4f14fd5" /><Relationship Type="http://schemas.openxmlformats.org/officeDocument/2006/relationships/slide" Target="/ppt/slides/slide60.xml" Id="R9f6e848be4284800" /><Relationship Type="http://schemas.openxmlformats.org/officeDocument/2006/relationships/slide" Target="/ppt/slides/slide61.xml" Id="R7572c6613b644367" /><Relationship Type="http://schemas.openxmlformats.org/officeDocument/2006/relationships/slide" Target="/ppt/slides/slide62.xml" Id="R2ce860e87fab4ae9" /><Relationship Type="http://schemas.openxmlformats.org/officeDocument/2006/relationships/slide" Target="/ppt/slides/slide63.xml" Id="R837475813d8e48de" /><Relationship Type="http://schemas.openxmlformats.org/officeDocument/2006/relationships/slide" Target="/ppt/slides/slide64.xml" Id="R653d5bfc1c3f4313" /><Relationship Type="http://schemas.openxmlformats.org/officeDocument/2006/relationships/slide" Target="/ppt/slides/slide65.xml" Id="Redbbc7cb15bd400e" /><Relationship Type="http://schemas.openxmlformats.org/officeDocument/2006/relationships/slide" Target="/ppt/slides/slide66.xml" Id="Rcc7631ac62a64631" /><Relationship Type="http://schemas.openxmlformats.org/officeDocument/2006/relationships/slide" Target="/ppt/slides/slide67.xml" Id="Rde4cb292047d428d" /><Relationship Type="http://schemas.openxmlformats.org/officeDocument/2006/relationships/slide" Target="/ppt/slides/slide68.xml" Id="R41e37626eaaf4aac" /><Relationship Type="http://schemas.openxmlformats.org/officeDocument/2006/relationships/slide" Target="/ppt/slides/slide69.xml" Id="R63f03412912b4f64" /><Relationship Type="http://schemas.openxmlformats.org/officeDocument/2006/relationships/slide" Target="/ppt/slides/slide70.xml" Id="R113b87a89eb04b18" /><Relationship Type="http://schemas.openxmlformats.org/officeDocument/2006/relationships/slide" Target="/ppt/slides/slide71.xml" Id="Rb42b13324b9f4881" /><Relationship Type="http://schemas.openxmlformats.org/officeDocument/2006/relationships/slide" Target="/ppt/slides/slide72.xml" Id="Rfbfc2284f7184e08" /><Relationship Type="http://schemas.openxmlformats.org/officeDocument/2006/relationships/slide" Target="/ppt/slides/slide73.xml" Id="R08058342464d4162" /><Relationship Type="http://schemas.openxmlformats.org/officeDocument/2006/relationships/slide" Target="/ppt/slides/slide74.xml" Id="R31601813c6414066" /><Relationship Type="http://schemas.openxmlformats.org/officeDocument/2006/relationships/slide" Target="/ppt/slides/slide75.xml" Id="Ra24ecf52143a47b7" /><Relationship Type="http://schemas.openxmlformats.org/officeDocument/2006/relationships/slide" Target="/ppt/slides/slide76.xml" Id="R0f696379842e4c88" /><Relationship Type="http://schemas.openxmlformats.org/officeDocument/2006/relationships/slide" Target="/ppt/slides/slide77.xml" Id="R1b18cf7f9fa048f4" /><Relationship Type="http://schemas.openxmlformats.org/officeDocument/2006/relationships/slide" Target="/ppt/slides/slide78.xml" Id="R2991e448316e4b5f" /><Relationship Type="http://schemas.openxmlformats.org/officeDocument/2006/relationships/slide" Target="/ppt/slides/slide79.xml" Id="Rc6dea49c844a4abd" /><Relationship Type="http://schemas.openxmlformats.org/officeDocument/2006/relationships/slide" Target="/ppt/slides/slide80.xml" Id="R648b63ea58e04983" /><Relationship Type="http://schemas.openxmlformats.org/officeDocument/2006/relationships/slide" Target="/ppt/slides/slide81.xml" Id="R3ab1f6f569ba4e7e" /><Relationship Type="http://schemas.openxmlformats.org/officeDocument/2006/relationships/slide" Target="/ppt/slides/slide82.xml" Id="R8d5ac03b75604d72" /><Relationship Type="http://schemas.openxmlformats.org/officeDocument/2006/relationships/slide" Target="/ppt/slides/slide83.xml" Id="Raf3c8503f6c445b6" /><Relationship Type="http://schemas.openxmlformats.org/officeDocument/2006/relationships/slide" Target="/ppt/slides/slide84.xml" Id="R31faa33d3bce42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70e4e47a3747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5491a5e6e545ed" /><Relationship Type="http://schemas.openxmlformats.org/officeDocument/2006/relationships/notesMaster" Target="/ppt/notesMasters/notesMaster1.xml" Id="R8ea35a97ecff4a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184e2284784f24" /><Relationship Type="http://schemas.openxmlformats.org/officeDocument/2006/relationships/notesMaster" Target="/ppt/notesMasters/notesMaster1.xml" Id="Ra1c367d0671245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cf7e96518d4937" /><Relationship Type="http://schemas.openxmlformats.org/officeDocument/2006/relationships/notesMaster" Target="/ppt/notesMasters/notesMaster1.xml" Id="R96eb04e69f4e43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3aeca013e740c7" /><Relationship Type="http://schemas.openxmlformats.org/officeDocument/2006/relationships/notesMaster" Target="/ppt/notesMasters/notesMaster1.xml" Id="Raf7dbd90b95a48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0568c2455c49a6" /><Relationship Type="http://schemas.openxmlformats.org/officeDocument/2006/relationships/notesMaster" Target="/ppt/notesMasters/notesMaster1.xml" Id="R66ca4e80c7bb43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313ebb8ead4375" /><Relationship Type="http://schemas.openxmlformats.org/officeDocument/2006/relationships/notesMaster" Target="/ppt/notesMasters/notesMaster1.xml" Id="R45f23f7399a14b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a004d61c684722" /><Relationship Type="http://schemas.openxmlformats.org/officeDocument/2006/relationships/notesMaster" Target="/ppt/notesMasters/notesMaster1.xml" Id="R1b09151b82a547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ab422ece404943" /><Relationship Type="http://schemas.openxmlformats.org/officeDocument/2006/relationships/notesMaster" Target="/ppt/notesMasters/notesMaster1.xml" Id="R20bf850a810043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d75dc9723548d9" /><Relationship Type="http://schemas.openxmlformats.org/officeDocument/2006/relationships/notesMaster" Target="/ppt/notesMasters/notesMaster1.xml" Id="Rd9deb25049a84e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65e07b15164fc9" /><Relationship Type="http://schemas.openxmlformats.org/officeDocument/2006/relationships/notesMaster" Target="/ppt/notesMasters/notesMaster1.xml" Id="Rd37d5b86abad42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0536b36d7c427e" /><Relationship Type="http://schemas.openxmlformats.org/officeDocument/2006/relationships/notesMaster" Target="/ppt/notesMasters/notesMaster1.xml" Id="Rf2a6599e80e340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462a61f40cf43f9" /><Relationship Type="http://schemas.openxmlformats.org/officeDocument/2006/relationships/notesMaster" Target="/ppt/notesMasters/notesMaster1.xml" Id="R7b03cbc63ac045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9345f53ae04e46" /><Relationship Type="http://schemas.openxmlformats.org/officeDocument/2006/relationships/notesMaster" Target="/ppt/notesMasters/notesMaster1.xml" Id="Ra74a8038c7014b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e4e2ae04464d38" /><Relationship Type="http://schemas.openxmlformats.org/officeDocument/2006/relationships/notesMaster" Target="/ppt/notesMasters/notesMaster1.xml" Id="R78f5db7903d84ba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313cc88a3c4131" /><Relationship Type="http://schemas.openxmlformats.org/officeDocument/2006/relationships/notesMaster" Target="/ppt/notesMasters/notesMaster1.xml" Id="Rd4381e3044ce4c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b8b0517d374984" /><Relationship Type="http://schemas.openxmlformats.org/officeDocument/2006/relationships/notesMaster" Target="/ppt/notesMasters/notesMaster1.xml" Id="R8b41d09b24b048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776afed69fe4464" /><Relationship Type="http://schemas.openxmlformats.org/officeDocument/2006/relationships/notesMaster" Target="/ppt/notesMasters/notesMaster1.xml" Id="R215fcd83012a4c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dc6fa40d254f4c" /><Relationship Type="http://schemas.openxmlformats.org/officeDocument/2006/relationships/notesMaster" Target="/ppt/notesMasters/notesMaster1.xml" Id="Rbc9395de5bfa4e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e55d0a3eca43ec" /><Relationship Type="http://schemas.openxmlformats.org/officeDocument/2006/relationships/notesMaster" Target="/ppt/notesMasters/notesMaster1.xml" Id="Ra7cceafbc1f34e2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95620ecc954d01" /><Relationship Type="http://schemas.openxmlformats.org/officeDocument/2006/relationships/notesMaster" Target="/ppt/notesMasters/notesMaster1.xml" Id="Ra9e73beb9ae443c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7112ff338746e8" /><Relationship Type="http://schemas.openxmlformats.org/officeDocument/2006/relationships/notesMaster" Target="/ppt/notesMasters/notesMaster1.xml" Id="Ra7dd0d8c406b43f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0901c8543d0453a" /><Relationship Type="http://schemas.openxmlformats.org/officeDocument/2006/relationships/notesMaster" Target="/ppt/notesMasters/notesMaster1.xml" Id="R7c2fc3e5081243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4f7cc3a5bab42df" /><Relationship Type="http://schemas.openxmlformats.org/officeDocument/2006/relationships/notesMaster" Target="/ppt/notesMasters/notesMaster1.xml" Id="Rbede092e0473442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344c26af8644308" /><Relationship Type="http://schemas.openxmlformats.org/officeDocument/2006/relationships/notesMaster" Target="/ppt/notesMasters/notesMaster1.xml" Id="R3485f3df83f4467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bfeeedef385461f" /><Relationship Type="http://schemas.openxmlformats.org/officeDocument/2006/relationships/notesMaster" Target="/ppt/notesMasters/notesMaster1.xml" Id="R173f243c7eb843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7bfb3fbc01d4a56" /><Relationship Type="http://schemas.openxmlformats.org/officeDocument/2006/relationships/notesMaster" Target="/ppt/notesMasters/notesMaster1.xml" Id="Recf655a41519420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142776fe5824289" /><Relationship Type="http://schemas.openxmlformats.org/officeDocument/2006/relationships/notesMaster" Target="/ppt/notesMasters/notesMaster1.xml" Id="R51ab72ae0cdc4b3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9c2515ece08406f" /><Relationship Type="http://schemas.openxmlformats.org/officeDocument/2006/relationships/notesMaster" Target="/ppt/notesMasters/notesMaster1.xml" Id="R4d614d4f45ec42a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4ffd17fe6b145ab" /><Relationship Type="http://schemas.openxmlformats.org/officeDocument/2006/relationships/notesMaster" Target="/ppt/notesMasters/notesMaster1.xml" Id="R2bf388bb11df43d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b657847b5494f96" /><Relationship Type="http://schemas.openxmlformats.org/officeDocument/2006/relationships/notesMaster" Target="/ppt/notesMasters/notesMaster1.xml" Id="Rb9734b2cf7824df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1e7b7cd320b422f" /><Relationship Type="http://schemas.openxmlformats.org/officeDocument/2006/relationships/notesMaster" Target="/ppt/notesMasters/notesMaster1.xml" Id="R024dc14a088c4a5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ce29970023f4385" /><Relationship Type="http://schemas.openxmlformats.org/officeDocument/2006/relationships/notesMaster" Target="/ppt/notesMasters/notesMaster1.xml" Id="Rf8230d5e7cd84db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36e64d7eac04af1" /><Relationship Type="http://schemas.openxmlformats.org/officeDocument/2006/relationships/notesMaster" Target="/ppt/notesMasters/notesMaster1.xml" Id="R96b192db118e472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19d7ad76500410d" /><Relationship Type="http://schemas.openxmlformats.org/officeDocument/2006/relationships/notesMaster" Target="/ppt/notesMasters/notesMaster1.xml" Id="R4d9572e8adcb447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52b1ed368c4420b" /><Relationship Type="http://schemas.openxmlformats.org/officeDocument/2006/relationships/notesMaster" Target="/ppt/notesMasters/notesMaster1.xml" Id="Ra2a9eb915b2f4c7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e5d0baa204d497a" /><Relationship Type="http://schemas.openxmlformats.org/officeDocument/2006/relationships/notesMaster" Target="/ppt/notesMasters/notesMaster1.xml" Id="Rc311b6795d2a4de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48c5004fdd248f0" /><Relationship Type="http://schemas.openxmlformats.org/officeDocument/2006/relationships/notesMaster" Target="/ppt/notesMasters/notesMaster1.xml" Id="R3103969993f2450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2cbcbd3fee54c52" /><Relationship Type="http://schemas.openxmlformats.org/officeDocument/2006/relationships/notesMaster" Target="/ppt/notesMasters/notesMaster1.xml" Id="R190847cf41e74b1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f6f3ae28279466b" /><Relationship Type="http://schemas.openxmlformats.org/officeDocument/2006/relationships/notesMaster" Target="/ppt/notesMasters/notesMaster1.xml" Id="R89943807a9234a9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2615c1ecbc04b08" /><Relationship Type="http://schemas.openxmlformats.org/officeDocument/2006/relationships/notesMaster" Target="/ppt/notesMasters/notesMaster1.xml" Id="R58149f76ef664d0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507209a57924608" /><Relationship Type="http://schemas.openxmlformats.org/officeDocument/2006/relationships/notesMaster" Target="/ppt/notesMasters/notesMaster1.xml" Id="Ra27003a64e48476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e4f96341adf456b" /><Relationship Type="http://schemas.openxmlformats.org/officeDocument/2006/relationships/notesMaster" Target="/ppt/notesMasters/notesMaster1.xml" Id="Re2db3ee56bdd423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80904c39d3744cb" /><Relationship Type="http://schemas.openxmlformats.org/officeDocument/2006/relationships/notesMaster" Target="/ppt/notesMasters/notesMaster1.xml" Id="Re7976934671047f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c43f2c67302408f" /><Relationship Type="http://schemas.openxmlformats.org/officeDocument/2006/relationships/notesMaster" Target="/ppt/notesMasters/notesMaster1.xml" Id="R8ecd34a699e3478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b30f52708574d6f" /><Relationship Type="http://schemas.openxmlformats.org/officeDocument/2006/relationships/notesMaster" Target="/ppt/notesMasters/notesMaster1.xml" Id="R4570c6c61754465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dba620709d24cae" /><Relationship Type="http://schemas.openxmlformats.org/officeDocument/2006/relationships/notesMaster" Target="/ppt/notesMasters/notesMaster1.xml" Id="R5a0d0fe1d77841c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632628e1ec44e9f" /><Relationship Type="http://schemas.openxmlformats.org/officeDocument/2006/relationships/notesMaster" Target="/ppt/notesMasters/notesMaster1.xml" Id="Rf11964765f1f459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09f3befa50b4b71" /><Relationship Type="http://schemas.openxmlformats.org/officeDocument/2006/relationships/notesMaster" Target="/ppt/notesMasters/notesMaster1.xml" Id="R82629b1d00934e2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2e8544866d04b4e" /><Relationship Type="http://schemas.openxmlformats.org/officeDocument/2006/relationships/notesMaster" Target="/ppt/notesMasters/notesMaster1.xml" Id="R0c45b4ab2d9f47e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f31d01efe5445d3" /><Relationship Type="http://schemas.openxmlformats.org/officeDocument/2006/relationships/notesMaster" Target="/ppt/notesMasters/notesMaster1.xml" Id="R73f938ab163c4a4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b9c62a764ae4b82" /><Relationship Type="http://schemas.openxmlformats.org/officeDocument/2006/relationships/notesMaster" Target="/ppt/notesMasters/notesMaster1.xml" Id="Rfe8ec079ddf3414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2bbd7ff3c5141c2" /><Relationship Type="http://schemas.openxmlformats.org/officeDocument/2006/relationships/notesMaster" Target="/ppt/notesMasters/notesMaster1.xml" Id="Rc6c95bd5a9be494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5c4e46086464ff9" /><Relationship Type="http://schemas.openxmlformats.org/officeDocument/2006/relationships/notesMaster" Target="/ppt/notesMasters/notesMaster1.xml" Id="Rf1d76a5025c64ba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60631cb3a9943c0" /><Relationship Type="http://schemas.openxmlformats.org/officeDocument/2006/relationships/notesMaster" Target="/ppt/notesMasters/notesMaster1.xml" Id="R386c266577f2498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ef2592065b540ff" /><Relationship Type="http://schemas.openxmlformats.org/officeDocument/2006/relationships/notesMaster" Target="/ppt/notesMasters/notesMaster1.xml" Id="Ra9e087093c5a463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bfbfba67b974e20" /><Relationship Type="http://schemas.openxmlformats.org/officeDocument/2006/relationships/notesMaster" Target="/ppt/notesMasters/notesMaster1.xml" Id="R3969f2e4bf9240f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f51ac7442f44111" /><Relationship Type="http://schemas.openxmlformats.org/officeDocument/2006/relationships/notesMaster" Target="/ppt/notesMasters/notesMaster1.xml" Id="Re962447c05e142a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f283d6359314268" /><Relationship Type="http://schemas.openxmlformats.org/officeDocument/2006/relationships/notesMaster" Target="/ppt/notesMasters/notesMaster1.xml" Id="R5dac781c192b4d5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aebd0ba53c4458f" /><Relationship Type="http://schemas.openxmlformats.org/officeDocument/2006/relationships/notesMaster" Target="/ppt/notesMasters/notesMaster1.xml" Id="R2a849fe8cd89421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87648ce4e10494d" /><Relationship Type="http://schemas.openxmlformats.org/officeDocument/2006/relationships/notesMaster" Target="/ppt/notesMasters/notesMaster1.xml" Id="R0e8fce0b4ba941a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2ddcb45abfa4ae6" /><Relationship Type="http://schemas.openxmlformats.org/officeDocument/2006/relationships/notesMaster" Target="/ppt/notesMasters/notesMaster1.xml" Id="R3fc3ec6fec58444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67ee5140cac40d8" /><Relationship Type="http://schemas.openxmlformats.org/officeDocument/2006/relationships/notesMaster" Target="/ppt/notesMasters/notesMaster1.xml" Id="R44049b7a024f489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3ceba3905db48ac" /><Relationship Type="http://schemas.openxmlformats.org/officeDocument/2006/relationships/notesMaster" Target="/ppt/notesMasters/notesMaster1.xml" Id="Rbc85ad78a3c84f5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69779755d8f243ba" /><Relationship Type="http://schemas.openxmlformats.org/officeDocument/2006/relationships/notesMaster" Target="/ppt/notesMasters/notesMaster1.xml" Id="R76a715d2f2704f1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5ccce885df9d4aab" /><Relationship Type="http://schemas.openxmlformats.org/officeDocument/2006/relationships/notesMaster" Target="/ppt/notesMasters/notesMaster1.xml" Id="Rd9501ad13ce244a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0936a444cc1d45f1" /><Relationship Type="http://schemas.openxmlformats.org/officeDocument/2006/relationships/notesMaster" Target="/ppt/notesMasters/notesMaster1.xml" Id="R12b00dea1ca74e6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4aeed6487c24d7d" /><Relationship Type="http://schemas.openxmlformats.org/officeDocument/2006/relationships/notesMaster" Target="/ppt/notesMasters/notesMaster1.xml" Id="R36544e3d38f24f1d"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11b3bbd6cc5455e" /><Relationship Type="http://schemas.openxmlformats.org/officeDocument/2006/relationships/notesMaster" Target="/ppt/notesMasters/notesMaster1.xml" Id="R0e8232f6d02546e5"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b047d449fa74fd3" /><Relationship Type="http://schemas.openxmlformats.org/officeDocument/2006/relationships/notesMaster" Target="/ppt/notesMasters/notesMaster1.xml" Id="Rf000976c67da4255"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4931afa798fe446d" /><Relationship Type="http://schemas.openxmlformats.org/officeDocument/2006/relationships/notesMaster" Target="/ppt/notesMasters/notesMaster1.xml" Id="Re4c7475ff3514f26"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6eaeef9c0bf9499a" /><Relationship Type="http://schemas.openxmlformats.org/officeDocument/2006/relationships/notesMaster" Target="/ppt/notesMasters/notesMaster1.xml" Id="R6f80b7122e824528"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5a08893bae5a44da" /><Relationship Type="http://schemas.openxmlformats.org/officeDocument/2006/relationships/notesMaster" Target="/ppt/notesMasters/notesMaster1.xml" Id="Rb926e3bcb55448ed"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99375d581ef4ba6" /><Relationship Type="http://schemas.openxmlformats.org/officeDocument/2006/relationships/notesMaster" Target="/ppt/notesMasters/notesMaster1.xml" Id="R52592cb039514b0c"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8ee5e44ee0cd41e7" /><Relationship Type="http://schemas.openxmlformats.org/officeDocument/2006/relationships/notesMaster" Target="/ppt/notesMasters/notesMaster1.xml" Id="Rebaac6e7ce6040e0"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c16fa8240d194598" /><Relationship Type="http://schemas.openxmlformats.org/officeDocument/2006/relationships/notesMaster" Target="/ppt/notesMasters/notesMaster1.xml" Id="R7f5108a868324179"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f3fc73693234f08" /><Relationship Type="http://schemas.openxmlformats.org/officeDocument/2006/relationships/notesMaster" Target="/ppt/notesMasters/notesMaster1.xml" Id="Rb2934e3d6d424e1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0e5fdda89fa146a0" /><Relationship Type="http://schemas.openxmlformats.org/officeDocument/2006/relationships/notesMaster" Target="/ppt/notesMasters/notesMaster1.xml" Id="Rd24d81d58bb640fb"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60b07b3c584a4e15" /><Relationship Type="http://schemas.openxmlformats.org/officeDocument/2006/relationships/notesMaster" Target="/ppt/notesMasters/notesMaster1.xml" Id="R220cd92883be4752"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948198816bd54cc0" /><Relationship Type="http://schemas.openxmlformats.org/officeDocument/2006/relationships/notesMaster" Target="/ppt/notesMasters/notesMaster1.xml" Id="R6c00ed2856c1446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457b7d56effb4aa8" /><Relationship Type="http://schemas.openxmlformats.org/officeDocument/2006/relationships/notesMaster" Target="/ppt/notesMasters/notesMaster1.xml" Id="R7a48ad16e08f4001"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17600a488bb94184" /><Relationship Type="http://schemas.openxmlformats.org/officeDocument/2006/relationships/notesMaster" Target="/ppt/notesMasters/notesMaster1.xml" Id="R7b8ce018551e4263"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ee4ff6195d1a4aa2" /><Relationship Type="http://schemas.openxmlformats.org/officeDocument/2006/relationships/notesMaster" Target="/ppt/notesMasters/notesMaster1.xml" Id="R75ecd045c7ae4a2f"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8c2ebb97bb2d4020" /><Relationship Type="http://schemas.openxmlformats.org/officeDocument/2006/relationships/notesMaster" Target="/ppt/notesMasters/notesMaster1.xml" Id="R3d902b1ebba54851"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0c8d7b7bb8ae4642" /><Relationship Type="http://schemas.openxmlformats.org/officeDocument/2006/relationships/notesMaster" Target="/ppt/notesMasters/notesMaster1.xml" Id="R4e7d256ac00146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Eröffnung: Performance wird als messbares Systemverhalten behandelt. Autor: Gerhard Pisch. Der Foliensatz ist firmenneutral und verwendet ausschließlich synthetische Beispiele.</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Schulung vermittelt kein Universalrezept. Eine Maßnahme ist erst belastbar, wenn ihre Wirkung unter vergleichbaren Bedingungen gemessen wurde.</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Empirisch zu bestimmen sind mindestens Antwortzeit und Ressourcenverbrauch. Eine Verbesserung darf die Systemkapazität oder andere Sessions nicht unbeachtet verschlechtern.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Dieser Ablauf ist der rote Faden des gesamten Decks. Änderungen ohne Hypothese und identische Vergleichsmessung erzeugen keine belastbare Evidenz.</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Query Store speichert Query-, Plan-, Runtime- und Wait-Statistiken; DMVs sind je Objekt unterschiedlich kumulativ oder aktuell. Quelle: https://learn.microsoft.com/en-us/sql/relational-databases/performance/monitoring-performance-by-using-the-query-store?view=sql-server-ver17 | https://learn.microsoft.com/en-us/sql/relational-databases/performance/performance-monitoring-and-tuning-tools?view=sql-server-ver17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Compatibility Level beeinflusst T-SQL- und Optimizerverhalten der Datenbank; Engine-Features können zusätzliche Voraussetzungen besitzen. Quellen: https://learn.microsoft.com/en-us/sql/relational-databases/performance/intelligent-query-processing?view=sql-server-ver17 | https://learn.microsoft.com/en-us/sql/sql-server/what-s-new-in-sql-server-2025?view=sql-server-ver17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Sprecherhinweis: Kernaussage anhand der sichtbaren Folie herleiten.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Logfiles arbeiten sequenziell innerhalb des aktiven VLF-Bereichs. Zusätzliche Logfiles erhöhen nicht automatisch den Logdurchsatz.</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Korrektur gegenüber dem Altbestand: Tabellen in getrennte Filegroups zu legen garantiert keinen parallelen I/O. Physische Topologie und Workload müssen gemessen werden.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Eine Page ist die fundamentale I/O- und Speichereinheit; acht zusammenhängende Pages bilden ein 64-KiB-Extent. Quelle: https://learn.microsoft.com/en-us/sql/relational-databases/pages-and-extents-architecture-guide?view=sql-server-ver17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Darstellung ist vereinfacht und zeigt Status Bits, Fixed-Length-Anteil, NULL Bitmap, Variable-Length-Metadaten und variable Daten. Quelle: https://learn.microsoft.com/en-us/sql/relational-databases/pages-and-extents-architecture-guide?view=sql-server-ver17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Empirisch: Die konkrete Rows-per-Page-Zahl ist vom Schema abhängig. Die Folie vermittelt die Kausalität, keinen universellen Faktor.</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Allocation Units werden je Partition und Speichertyp geführt. Quelle: https://learn.microsoft.com/en-us/sql/relational-databases/pages-and-extents-architecture-guide?view=sql-server-ver17 | https://learn.microsoft.com/en-us/sql/relational-databases/sql-server-index-design-guide?view=sql-server-ver17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Reads zählen Page-Zugriffe aus dem Buffer Pool. Physical Reads treten auf, wenn benötigte Pages nicht im Cache verfügbar sind. Read-ahead kann Pages vorab laden.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Vorher-Nachher-Vergleiche sind identische Cache- und Warm-up-Bedingungen erforderlich.</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 vollständig dauerhaften Transaktionen muss der relevante Logbereich vor der Commit-Bestätigung gehärtet sein. Delayed Durability ist eine gesonderte Trade-off-Entscheidung.</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Instant File Initialization gilt für Data Files, nicht für das Transaction Log. Prozentuelles Wachstum erschwert vorhersehbare Growth-Schritte.</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Transfer: Der Plan beschreibt den Zugriffspfad, aber nicht allein den momentanen Zustand von Cache, Storage und Konkurrenz.</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Sprecherhinweis: Kernaussage anhand der sichtbaren Folie herleiten.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Der Query Processor kompiliert, optimiert und führt Statements aus; Plan Cache und Parametrisierung beeinflussen Wiederverwendung. Quelle: https://learn.microsoft.com/en-us/sql/relational-databases/query-processing-architecture-guide?view=sql-server-ver17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Query Optimization ist kostenbasiert und time-bounded. Quelle: https://learn.microsoft.com/en-us/sql/relational-databases/query-processing-architecture-guide?view=sql-server-ver17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CE nutzt primär Statistiken, zusätzlich Constraints, logische Umschreibungen und Modellannahmen. Quellen: https://learn.microsoft.com/en-us/sql/relational-databases/performance/cardinality-estimation-sql-server?view=sql-server-ver17 | https://learn.microsoft.com/en-us/sql/relational-databases/statistics/statistics?view=sql-server-ver17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Das Histogramm umfasst höchstens 200 Schritte und bezieht sich auf die führende Statistikspalte. Quelle: https://learn.microsoft.com/en-us/sql/relational-databases/statistics/statistics?view=sql-server-ver17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https://learn.microsoft.com/en-us/sql/relational-databases/statistics/statistics?view=sql-server-ver17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Constraints müssen vertrauenswürdig sein, damit sie als Optimizerinformation dienen. Nicht validierte Constraints sind gesondert zu prüfen.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Execution Plans verursachen Erfassungsaufwand. Bei produktionsweiter Erfassung sind Lightweight Profiling, Query Store oder gezielte XE-Pfade zu bevorzugen.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Graphische Pläne werden häufig rechts nach links gelesen; entscheidend sind jedoch Datenfluss, Ausführungsanzahl, Actual Rows, Predicates, Warnings und Memory Grant.</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Kein Join ist allgemein überlegen. Kardinalität, Sortierung, Zugriffspfad und Memory bestimmen die Wahl.</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Sorts und Hashes benötigen Query Workspace Memory. Zu kleine Grants erzeugen Spills; zu große Grants reduzieren verfügbare Concurrency.</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 Grant Feedback kann wiederholte Ausführungen anpassen, ersetzt aber keine Ursachenanalyse.</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paralleler Plan verwendet Exchanges, Tasks und Workers auf Schedulern. Skew kann einzelne Worker dominieren; DOP ist kein Maß für tatsächlich gleichmäßige Arbeit.</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de-DE"/>
              <ns0:t>Dokumentiert (SQL Server 2019–2025): Beim Cache-Lookup werden Statementtext und planbeeinflussende Cacheattribute verglichen. Abweichende SET-Optionen können für denselben Batch einen zusätzlichen Cacheeintrag und Plan Handle erzeugen; dies ist nicht mit der Invalidierung eines bestehenden Plans gleichzusetzen.</ns0:t>
            </ns0:r>
            <ns0:endParaRPr lang="de-DE"/>
          </ns0:p>
          <ns1:p xmlns:ns1="http://schemas.openxmlformats.org/drawingml/2006/main">
            <ns1:r>
              <ns1:rPr lang="de-DE"/>
              <ns1:t>Schema- und Indexänderungen sowie Aktualisierungen von Statistiken, die für einen Plan verwendet wurden, können einen Plan ungültig machen oder eine statementbezogene Neukompilierung auslösen. `OPTION (RECOMPILE)` kompiliert das Statement mit den aktuellen Werten, verursacht jedoch erneut Compile-Arbeit.</ns1:t>
            </ns1:r>
            <ns1:endParaRPr lang="de-DE"/>
          </ns1:p>
          <ns2:p xmlns:ns2="http://schemas.openxmlformats.org/drawingml/2006/main">
            <ns2:r>
              <ns2:rPr lang="de-DE"/>
              <ns2:t>Query Store erfasst bei aktivierter Konfiguration eine persistente Historie von Queries, Plänen und Laufzeitstatistiken. Diese Historie ist nicht davon abhängig, dass der jeweilige Plan noch im Plan Cache liegt.</ns2:t>
            </ns2:r>
            <ns2:endParaRPr lang="de-DE"/>
          </ns2:p>
          <ns3:p xmlns:ns3="http://schemas.openxmlformats.org/drawingml/2006/main">
            <ns3:r>
              <ns3:rPr lang="de-DE"/>
              <ns3:t>Diagnosehinweis: Cache-Key-Mismatch, Eviction, Invalidierung und Recompile getrennt untersuchen. Mehrere Plan Handles bei unterschiedlichen SET-Optionen sind allein kein Recompile-Nachweis.</ns3:t>
            </ns3:r>
            <ns3:endParaRPr lang="de-DE"/>
          </ns3:p>
          <ns4:p xmlns:ns4="http://schemas.openxmlformats.org/drawingml/2006/main">
            <ns4:r>
              <ns4:rPr lang="de-DE"/>
              <ns4:t>Quellen: https://learn.microsoft.com/en-us/sql/relational-databases/query-processing-architecture-guide?view=sql-server-ver17 | https://learn.microsoft.com/en-us/sql/relational-databases/performance/monitoring-performance-by-using-the-query-store?view=sql-server-ver17</ns4:t>
            </ns4:r>
            <ns4:endParaRPr lang="de-DE"/>
          </ns4:p>
          <ns5:p xmlns:ns5="http://schemas.openxmlformats.org/drawingml/2006/main">
            <ns5:r>
              <ns5:rPr lang="de-DE"/>
              <ns5:t>Traceability: CLM-032; W2-007.</ns5:t>
            </ns5:r>
            <ns5:endParaRPr lang="de-DE"/>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Parameter Sniffing beschreibt das Verwenden eines Compile-time-Parameterwerts. Das Verhalten ist nützlich, solange eine Planstrategie für die Wertbereiche tragfähig bleibt.</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de-DE"/>
              <ns0:t>Dokumentiert: Intelligent Query Processing ist eine Featurefamilie und kein einzelner Schalter. Engine-Version und Compatibility Level bestimmen nur einen Teil der Voraussetzungen; Database Scoped Configurations, Query Store und die Eligibility der konkreten Query bleiben zusätzlich zu prüfen.</ns0:t>
            </ns0:r>
            <ns0:endParaRPr lang="de-DE"/>
          </ns0:p>
          <ns1:p xmlns:ns1="http://schemas.openxmlformats.org/drawingml/2006/main">
            <ns1:r>
              <ns1:rPr lang="de-DE"/>
              <ns1:t>SQL Server 2019 / CL 150: Batch Mode on Rowstore, Scalar UDF Inlining, Table Variable Deferred Compilation und Row-Mode Memory Grant Feedback. Die Funktionen greifen nur in geeigneten Queries und können teilweise datenbank- oder statementbezogen deaktiviert werden.</ns1:t>
            </ns1:r>
            <ns1:endParaRPr lang="de-DE"/>
          </ns1:p>
          <ns2:p xmlns:ns2="http://schemas.openxmlformats.org/drawingml/2006/main">
            <ns2:r>
              <ns2:rPr lang="de-DE"/>
              <ns2:t>SQL Server 2022: Memory-Grant-Feedback im Persistenz- und Perzentilmodus wurde mit Version 16.x eingeführt, ist jedoch bereits ab CL 140 verfügbar. Es wirkt nur bei aktiviertem Query Store im Modus READ_WRITE. PSP, CE Feedback und DOP Feedback setzen CL 160 voraus; Feedbackfunktionen benötigen Query Store.</ns2:t>
            </ns2:r>
            <ns2:endParaRPr lang="de-DE"/>
          </ns2:p>
          <ns3:p xmlns:ns3="http://schemas.openxmlformats.org/drawingml/2006/main">
            <ns3:r>
              <ns3:rPr lang="de-DE"/>
              <ns3:t>SQL Server 2025: CE Feedback für Ausdrücke erweitert die Feedbackfamilie. OPPO setzt CL 170 und `OPTIONAL_PARAMETER_OPTIMIZATION = ON` voraus; die Konfiguration ist bei CL 170 standardmäßig aktiviert. Eligibility ist weiterhin querybezogen.</ns3:t>
            </ns3:r>
            <ns3:endParaRPr lang="de-DE"/>
          </ns3:p>
          <ns4:p xmlns:ns4="http://schemas.openxmlformats.org/drawingml/2006/main">
            <ns4:r>
              <ns4:rPr lang="de-DE"/>
              <ns4:t>Diagnosehinweis: Nicht aus Produktversion oder Compatibility Level allein auf die tatsächliche Nutzung schließen. Datenbankkonfiguration, Query-Store-Zustand und Planattribute gemeinsam prüfen.</ns4:t>
            </ns4:r>
            <ns4:endParaRPr lang="de-DE"/>
          </ns4:p>
          <ns5:p xmlns:ns5="http://schemas.openxmlformats.org/drawingml/2006/main">
            <ns5:r>
              <ns5:rPr lang="de-DE"/>
              <ns5:t>Quellen: https://learn.microsoft.com/en-us/sql/relational-databases/performance/intelligent-query-processing?view=sql-server-ver17 | https://learn.microsoft.com/en-us/sql/relational-databases/performance/intelligent-query-processing-memory-grant-feedback?view=sql-server-ver17 | https://learn.microsoft.com/en-us/sql/relational-databases/performance/optional-parameter-optimization?view=sql-server-ver17</ns5:t>
            </ns5:r>
            <ns5:endParaRPr lang="de-DE"/>
          </ns5:p>
          <ns6:p xmlns:ns6="http://schemas.openxmlformats.org/drawingml/2006/main">
            <ns6:r>
              <ns6:rPr lang="de-DE"/>
              <ns6:t>Traceability: CLM-034; W2-007.</ns6:t>
            </ns6:r>
            <ns6:endParaRPr lang="de-DE"/>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Keine vorschnelle Maßnahme wie MAXDOP, Server-RAM oder Index Rebuild. Zuerst die Evidenzkette der betroffenen Ausführung aufbauen.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Sprecherhinweis: Kernaussage anhand der sichtbaren Folie herleiten.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SARGable bedeutet, dass ein Prädikat als Suchargument für einen Zugriffspfad verwendbar ist. Es garantiert weder einen Seek noch einen guten Gesamtplan.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Richtung und Datentyp-Priorität bestimmen die Wirkung. Der Actual Plan kann PlanAffectingConvert-Warnings zeigen.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obere Grenze ist exklusiv. Zeitzone und UTC-Konvertierung sind ein getrenntes Modellierungsthema.</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OPPO nutzt die Multiplan-Infrastruktur und ist ab SQL Server 2025 mit Compatibility Level 170 verfügbar. Quelle: https://learn.microsoft.com/en-us/sql/relational-databases/performance/intelligent-query-processing?view=sql-server-ver17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Korrektur des Altbestands: Weder 'immer hineinkopiert' noch 'ab 2022 materialisiert' ist ein belastbarer Vertrag.</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de-DE"/>
              <ns0:t>Dokumentiert: Table Variable Deferred Compilation verschiebt bei CL 150 und höher die Kompilierung des referenzierenden Statements, sodass die bei dieser ersten Kompilierung vorhandene Zeilenzahl verwendet werden kann. Dadurch entstehen jedoch keine klassischen Spaltenstatistiken oder Histogramme.</ns0:t>
            </ns0:r>
            <ns0:endParaRPr lang="de-DE"/>
          </ns0:p>
          <ns1:p xmlns:ns1="http://schemas.openxmlformats.org/drawingml/2006/main">
            <ns1:r>
              <ns1:rPr lang="de-DE"/>
              <ns1:t>Ein gecachter Plan kann weiterhin auf der Zeilenzahl der ersten Kompilierung beruhen. Wechselnde Zeilenmengen und Datenverteilungen bleiben deshalb relevant. Deferred Compilation beseitigt weder Verteilungsblindheit noch jede Form von Parameter- oder Planempfindlichkeit.</ns1:t>
            </ns1:r>
            <ns1:endParaRPr lang="de-DE"/>
          </ns1:p>
          <ns2:p xmlns:ns2="http://schemas.openxmlformats.org/drawingml/2006/main">
            <ns2:r>
              <ns2:rPr lang="de-DE"/>
              <ns2:t>Temporäre Tabellen können Spaltenstatistiken besitzen und durch Phasengrenzen oder Statistikänderungen Neukompilierungen auslösen. Daraus folgt keine pauschale Überlegenheit; zusätzliche Statistik- und Compile-Kosten sind im konkreten Ablauf mitzubeurteilen.</ns2:t>
            </ns2:r>
            <ns2:endParaRPr lang="de-DE"/>
          </ns2:p>
          <ns3:p xmlns:ns3="http://schemas.openxmlformats.org/drawingml/2006/main">
            <ns3:r>
              <ns3:rPr lang="de-DE"/>
              <ns3:t>Empirische Entscheidung: Keine feste Zeilengrenze verwenden. Kardinalitätsvariation, Verteilungsabhängigkeit, Indexbedarf, Recompile-Kosten und der tatsächliche Plan bestimmen die geeignete Form.</ns3:t>
            </ns3:r>
            <ns3:endParaRPr lang="de-DE"/>
          </ns3:p>
          <ns4:p xmlns:ns4="http://schemas.openxmlformats.org/drawingml/2006/main">
            <ns4:r>
              <ns4:rPr lang="de-DE"/>
              <ns4:t>Validierte Runtime-Evidenz: OPT-013 zeigte auf SQL Server 2019, 2022 und 2025 bei 300.000 synthetischen Zeilen, dass querylokal deaktivierte Table Variable Deferred Compilation zu einem kleineren Grant und Sort-Spill führen kann; eine statistisch sichtbare Staging-Tabelle beseitigte den Spill. Dies belegt den Mechanismus im Laborszenario, nicht eine generelle Ablehnung von Table Variables.</ns4:t>
            </ns4:r>
            <ns4:endParaRPr lang="de-DE"/>
          </ns4:p>
          <ns5:p xmlns:ns5="http://schemas.openxmlformats.org/drawingml/2006/main">
            <ns5:r>
              <ns5:rPr lang="de-DE"/>
              <ns5:t>Quellen: https://learn.microsoft.com/en-us/sql/relational-databases/performance/intelligent-query-processing?view=sql-server-ver17 | https://learn.microsoft.com/en-us/sql/t-sql/data-types/table-transact-sql?view=sql-server-ver17</ns5:t>
            </ns5:r>
            <ns5:endParaRPr lang="de-DE"/>
          </ns5:p>
          <ns6:p xmlns:ns6="http://schemas.openxmlformats.org/drawingml/2006/main">
            <ns6:r>
              <ns6:rPr lang="de-DE"/>
              <ns6:t>Traceability: CLM-042; QRY-008; Runtime-Evidenz OPT-013; W2-007.</ns6:t>
            </ns6:r>
            <ns6:endParaRPr lang="de-DE"/>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de-DE"/>
              <ns0:t>Dokumentiert: Inline Table-Valued Functions bestehen aus einem relationalen SELECT-Ausdruck, der in die aufrufende Query integriert und gemeinsam optimiert werden kann.</ns0:t>
            </ns0:r>
            <ns0:endParaRPr lang="de-DE"/>
          </ns0:p>
          <ns1:p xmlns:ns1="http://schemas.openxmlformats.org/drawingml/2006/main">
            <ns1:r>
              <ns1:rPr lang="de-DE"/>
              <ns1:t>Multi-Statement Table-Valued Functions materialisieren eine Rückgabetabelle und besitzen keine klassischen Spaltenstatistiken. Ohne Interleaved Execution gilt seit SQL Server 2014 die feste Kardinalitätsannahme 100. Ab CL 140 kann Interleaved Execution bei geeigneten, lesenden Statements die MSTVF während der Optimierung materialisieren und die tatsächliche Kardinalität der ersten Ausführung für den nachgelagerten Plan verwenden. Die Funktion wird dadurch nicht zu einer Inline TVF; Eligibility und Planwiederverwendung bleiben zu prüfen.</ns1:t>
            </ns1:r>
            <ns1:endParaRPr lang="de-DE"/>
          </ns1:p>
          <ns2:p xmlns:ns2="http://schemas.openxmlformats.org/drawingml/2006/main">
            <ns2:r>
              <ns2:rPr lang="de-DE"/>
              <ns2:t>Scalar UDF Inlining ist ab SQL Server 2019 / CL 150 verfügbar. Sowohl die Funktionsdefinition als auch die Aufrufstelle müssen die Eligibility-Regeln erfüllen. `sys.sql_modules.is_inlineable = 1` beschreibt nur, dass die Definition grundsätzlich inlinebar ist; die tatsächliche Entscheidung erfolgt pro Query und UDF bei der Kompilierung.</ns2:t>
            </ns2:r>
            <ns2:endParaRPr lang="de-DE"/>
          </ns2:p>
          <ns3:p xmlns:ns3="http://schemas.openxmlformats.org/drawingml/2006/main">
            <ns3:r>
              <ns3:rPr lang="de-DE"/>
              <ns3:t>Planprüfung: Bei erfolgreichem Scalar UDF Inlining enthält die Plan-XML keinen `UserDefinedFunction`-Knoten für den Aufruf. Nicht inlinebare Scalar UDFs können iterativ ausgeführt werden, Kosten verbergen und Parallelität verhindern.</ns3:t>
            </ns3:r>
            <ns3:endParaRPr lang="de-DE"/>
          </ns3:p>
          <ns4:p xmlns:ns4="http://schemas.openxmlformats.org/drawingml/2006/main">
            <ns4:r>
              <ns4:rPr lang="de-DE"/>
              <ns4:t>Quellen: https://learn.microsoft.com/en-us/sql/relational-databases/user-defined-functions/create-user-defined-functions-database-engine?view=sql-server-ver17 | https://learn.microsoft.com/en-us/sql/relational-databases/performance/intelligent-query-processing-details?view=sql-server-ver17 | https://learn.microsoft.com/en-us/sql/relational-databases/user-defined-functions/scalar-udf-inlining?view=sql-server-ver17</ns4:t>
            </ns4:r>
            <ns4:endParaRPr lang="de-DE"/>
          </ns4:p>
          <ns5:p xmlns:ns5="http://schemas.openxmlformats.org/drawingml/2006/main">
            <ns5:r>
              <ns5:rPr lang="de-DE"/>
              <ns5:t>Traceability: CLM-043; QRY-009; W2-007.</ns5:t>
            </ns5:r>
            <ns5:endParaRPr lang="de-DE"/>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Korrektur des Altbestands: Partitionen werden nicht fest einzelnen Threads zugeordnet. Ein paralleler Plan kann Tasks anders verteilen.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Linked Server und externe Quellen sind provider- und versionsabhängig. SQL Server 2025 enthält zusätzlich Breaking Changes bei Linked Servers; Upgradehinweise prüfen.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Klein bedeutet fachlich korrekt, nicht blind minimal. Wertebereich, Präzision, Unicode und zukünftige Entwicklung bleiben Teil der Entscheidung.</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SARGability erweitert den Suchraum. Die Kostenentscheidung kann weiterhin einen Scan bevorzugen.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Sprecherhinweis: Kernaussage anhand der sichtbaren Folie herleiten.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Heap und Clustered Index sind alternative Base-Table-Strukturen. Quelle: https://learn.microsoft.com/en-us/sql/relational-databases/sql-server-index-design-guide?view=sql-server-ver17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Jede Partition besitzt eine eigene B+Tree-Struktur. Leaf Pages sind doppelt verkettet. Quelle: https://learn.microsoft.com/en-us/sql/relational-databases/sql-server-index-design-guide?view=sql-server-ver17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Auf Heaps ist der Locator ein RID; auf Clustered Tables der Clustering Key einschließlich Uniqueifier, wenn erforderlich. Quelle: https://learn.microsoft.com/en-us/sql/relational-databases/sql-server-index-design-guide?view=sql-server-ver17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verbreitete Regel 'selektivste Spalte zuerst' ist unvollständig. Prädikatform und benötigte Ordnung sind mindestens ebenso wichtig.</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https://learn.microsoft.com/en-us/sql/relational-databases/sql-server-index-design-guide?view=sql-server-ver17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Tipping Point ist keine feste Zeilenzahl. Er hängt von Page-Anzahl, Row Width, Cache, Kostenmodell, Lookup-Art und benötigten Spalten ab.</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Der Uniqueifier wird intern bei nicht eindeutigen Clustered Keys hinzugefügt, wenn erforderlich. Quelle: https://learn.microsoft.com/en-us/sql/relational-databases/sql-server-index-design-guide?view=sql-server-ver17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Missing-Index-DMVs berücksichtigen unter anderem keine vollständige Überschneidung, DML-Kosten oder dauerhafte Workloadpriorität.</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Microsoft empfiehlt, Maintenance an messbaren Workloadfolgen auszurichten; feste Fragmentationsschwellen sind keine universelle Regel. Quelle: https://learn.microsoft.com/en-us/sql/relational-databases/indexes/reorganize-and-rebuild-indexes?view=sql-server-ver17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REORGANIZE ist weniger ressourcenintensiv und online; REBUILD und REORGANIZE haben unterschiedliche Wirkung. Quelle: https://learn.microsoft.com/en-us/sql/relational-databases/indexes/reorganize-and-rebuild-indexes?view=sql-server-ver17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Ein Rowgroup enthält pro Spalte ein Column Segment; Segmentmetadaten erlauben Elimination. Quelle: https://learn.microsoft.com/en-us/sql/relational-databases/indexes/columnstore-indexes-overview?view=sql-server-ver17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Segment Elimination nutzt Segmentmetadaten; Batch Mode verarbeitet Rows gruppiert. Quelle: https://learn.microsoft.com/en-us/sql/relational-databases/indexes/columnstore-indexes-query-performance?view=sql-server-ver17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Pauschale regelmäßige Rebuilds werden vermieden. Zuerst Rowgroup State, Größe, Deleted Rows, Overlap und konkrete Querywirkung prüfen.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Antwort ist eine Workloadrechnung, keine isolierte Missing-Index-Zeile.</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Sprecherhinweis: Kernaussage anhand der sichtbaren Folie herleiten.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Locking und Row Versioning sind alternative Mechanismen zur Isolation. Quelle: https://learn.microsoft.com/en-us/sql/relational-databases/sql-server-transaction-locking-and-row-versioning-guide?view=sql-server-ver17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https://learn.microsoft.com/en-us/sql/relational-databases/sql-server-transaction-locking-and-row-versioning-guide?view=sql-server-ver17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Nicht nur die längste wartende Session betrachten. Head Blocker, offene Transaktion, Wait Resource, Statement, Isolation und Clientstatus gemeinsam erfassen.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https://learn.microsoft.com/en-us/sql/relational-databases/sql-server-transaction-locking-and-row-versioning-guide?view=sql-server-ver17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TempDB-Diagnose trennt Kapazität, Dateilatenz, Allocation-Latches, Version Store und Query-Spills.</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Optimized Locking besteht aus TID Locking und LAQ; SQL Server 2025 aktiviert es nicht standardmäßig. Quelle: https://learn.microsoft.com/en-us/sql/relational-databases/performance/optimized-locking?view=sql-server-ver17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NOLOCK ist keine Standardantwort. Die korrekte Lösung hängt von Konsistenzanforderung und tatsächlicher Blocking-Ursache ab.</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Sprecherhinweis: Kernaussage anhand der sichtbaren Folie herleiten.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 parallelen Queries kann CPU Time größer als Elapsed Time sein. Wait-Zeiten verschiedener Tasks können parallel auftreten.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Instanzweite kumulative Wait Stats werden als Delta eines definierten Fensters interpretiert. Startzeit, Reset und Hintergrundwaits sind zu dokumentieren.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 Grant DMVs und Planattribute müssen zeitgleich erfasst werden, da wartende und laufende Grants schnell wechseln.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Wait-Namen sind Ausgangspunkt, nicht Diagnoseabschluss. Bedeutung entsteht aus Scope, Dauer, Resource Description und Workloadkontext.</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Query Store speichert Query-, Plan-, Runtime- und Wait-Stores. Ab SQL Server 2022 ist Query Store für neue Datenbanken standardmäßig READ_WRITE. Quelle: https://learn.microsoft.com/en-us/sql/relational-databases/performance/monitoring-performance-by-using-the-query-store?view=sql-server-ver17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Dokumentiert: Extended Events ist das bevorzugte leichtgewichtige Ereignissystem; DMVs liefern ausführungs- und systembezogene Zustände. Quelle: https://learn.microsoft.com/en-us/sql/relational-databases/performance/performance-monitoring-and-tuning-tools?view=sql-server-ver17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Ablauf verhindert lokales Tuning an einer Query, wenn der Engpass außerhalb der Query oder in Concurrency liegt.</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Empirische Werte werden nicht als universelle Schwellenwerte veröffentlicht. Ergebnisbereiche und Abbruchbedingungen gehören zur Demo.</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Diagnose folgt der fehlenden Zeit. Erst danach wird der Plan auf den passenden Ursachenpfad untersucht.</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Prinzipien sind die verdichtete Arbeitsmethode des Decks.</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Aufgabe kann auf eine reale, aber nicht in den Foliensatz übernommene Umgebung angewendet werden. Resultate bleiben lokal und werden nicht versioniert.</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Quellenregister: https://learn.microsoft.com/en-us/sql/relational-databases/pages-and-extents-architecture-guide?view=sql-server-ver17 | https://learn.microsoft.com/en-us/sql/relational-databases/query-processing-architecture-guide?view=sql-server-ver17 | https://learn.microsoft.com/en-us/sql/relational-databases/statistics/statistics?view=sql-server-ver17 | https://learn.microsoft.com/en-us/sql/relational-databases/performance/cardinality-estimation-sql-server?view=sql-server-ver17 | https://learn.microsoft.com/en-us/sql/relational-databases/performance/intelligent-query-processing?view=sql-server-ver17 | https://learn.microsoft.com/en-us/sql/relational-databases/sql-server-index-design-guide?view=sql-server-ver17 | https://learn.microsoft.com/en-us/sql/relational-databases/indexes/columnstore-indexes-overview?view=sql-server-ver17 | https://learn.microsoft.com/en-us/sql/relational-databases/sql-server-transaction-locking-and-row-versioning-guide?view=sql-server-ver17 | https://learn.microsoft.com/en-us/sql/relational-databases/performance/monitoring-performance-by-using-the-query-store?view=sql-server-ver17 | https://learn.microsoft.com/en-us/sql/relational-databases/performance/performance-monitoring-and-tuning-tools?view=sql-server-ver17</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Abschluss ohne Kontakt-, Firmen- oder Organisationsangaben.</a:t>
            </a:r>
          </a:p>
          <a:p xmlns:a="http://schemas.openxmlformats.org/drawingml/2006/main">
            <a:r>
              <a:t>Kennzeichnung: Dokumentierte Aussagen beruhen auf Microsoft-Learn-Primärdokumentation. Empirische Werte sind als solche zu messen und nicht als universelle Schwelle zu verwenden.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c86be3c70448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e6fcb4bbf1474d" /><Relationship Type="http://schemas.openxmlformats.org/officeDocument/2006/relationships/slideLayout" Target="/ppt/slideLayouts/slideLayout1.xml" Id="R1c938ab4f07642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938ab4f07642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4b8f47e20743ba" /><Relationship Type="http://schemas.openxmlformats.org/officeDocument/2006/relationships/notesSlide" Target="/ppt/notesSlides/notesSlide1.xml" Id="Rb721ac84b08247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afd4009ab14399" /><Relationship Type="http://schemas.openxmlformats.org/officeDocument/2006/relationships/notesSlide" Target="/ppt/notesSlides/notesSlide2.xml" Id="R68371d6d39cd43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40a1f6ef3a4c3b" /><Relationship Type="http://schemas.openxmlformats.org/officeDocument/2006/relationships/notesSlide" Target="/ppt/notesSlides/notesSlide3.xml" Id="Rbb80c2cfbdda44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61d167c3fc4ff3" /><Relationship Type="http://schemas.openxmlformats.org/officeDocument/2006/relationships/notesSlide" Target="/ppt/notesSlides/notesSlide4.xml" Id="R431f3680efea41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0defb5b06594786" /><Relationship Type="http://schemas.openxmlformats.org/officeDocument/2006/relationships/notesSlide" Target="/ppt/notesSlides/notesSlide5.xml" Id="Rdb3547d452ef44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703ed290f848e6" /><Relationship Type="http://schemas.openxmlformats.org/officeDocument/2006/relationships/notesSlide" Target="/ppt/notesSlides/notesSlide6.xml" Id="Rfc110994188e4e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7391f7c5ea49b9" /><Relationship Type="http://schemas.openxmlformats.org/officeDocument/2006/relationships/notesSlide" Target="/ppt/notesSlides/notesSlide7.xml" Id="R8386aed5a98f43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f22ff5b4ae4eaf" /><Relationship Type="http://schemas.openxmlformats.org/officeDocument/2006/relationships/notesSlide" Target="/ppt/notesSlides/notesSlide8.xml" Id="R8f3c106d99ba4a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68b0f40c9d4f60" /><Relationship Type="http://schemas.openxmlformats.org/officeDocument/2006/relationships/notesSlide" Target="/ppt/notesSlides/notesSlide9.xml" Id="Rc01de7b45f6a4d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e2b3b25730498d" /><Relationship Type="http://schemas.openxmlformats.org/officeDocument/2006/relationships/notesSlide" Target="/ppt/notesSlides/notesSlide10.xml" Id="Rfc97a55235d446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e2af2e0db54786" /><Relationship Type="http://schemas.openxmlformats.org/officeDocument/2006/relationships/notesSlide" Target="/ppt/notesSlides/notesSlide11.xml" Id="R17325d73ea5c40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f0935add964293" /><Relationship Type="http://schemas.openxmlformats.org/officeDocument/2006/relationships/notesSlide" Target="/ppt/notesSlides/notesSlide12.xml" Id="R1d50d3aff11c40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a37b86ebf144279" /><Relationship Type="http://schemas.openxmlformats.org/officeDocument/2006/relationships/notesSlide" Target="/ppt/notesSlides/notesSlide13.xml" Id="R2b9f598d29284f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3439346a2e4f17" /><Relationship Type="http://schemas.openxmlformats.org/officeDocument/2006/relationships/notesSlide" Target="/ppt/notesSlides/notesSlide14.xml" Id="R302e3ddb719749f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210d7b477084d9f" /><Relationship Type="http://schemas.openxmlformats.org/officeDocument/2006/relationships/notesSlide" Target="/ppt/notesSlides/notesSlide15.xml" Id="Rd3d0e3a09c234e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a89b76c065c4dcc" /><Relationship Type="http://schemas.openxmlformats.org/officeDocument/2006/relationships/notesSlide" Target="/ppt/notesSlides/notesSlide16.xml" Id="R44db9a4eab11443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8baaa4ba8604a93" /><Relationship Type="http://schemas.openxmlformats.org/officeDocument/2006/relationships/notesSlide" Target="/ppt/notesSlides/notesSlide17.xml" Id="R51a34d22730542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cf5ca754301461e" /><Relationship Type="http://schemas.openxmlformats.org/officeDocument/2006/relationships/notesSlide" Target="/ppt/notesSlides/notesSlide18.xml" Id="R184772fd87704fc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752f4b458074e73" /><Relationship Type="http://schemas.openxmlformats.org/officeDocument/2006/relationships/notesSlide" Target="/ppt/notesSlides/notesSlide19.xml" Id="Re4f1b9014074479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c137889c07342be" /><Relationship Type="http://schemas.openxmlformats.org/officeDocument/2006/relationships/notesSlide" Target="/ppt/notesSlides/notesSlide20.xml" Id="Rfefdb11e0bf947e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dac8d3772dc4c12" /><Relationship Type="http://schemas.openxmlformats.org/officeDocument/2006/relationships/notesSlide" Target="/ppt/notesSlides/notesSlide21.xml" Id="Ra34858c9924042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5a1ab09b3c64446" /><Relationship Type="http://schemas.openxmlformats.org/officeDocument/2006/relationships/notesSlide" Target="/ppt/notesSlides/notesSlide22.xml" Id="Rde819b372ec3420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8c051822c984a90" /><Relationship Type="http://schemas.openxmlformats.org/officeDocument/2006/relationships/notesSlide" Target="/ppt/notesSlides/notesSlide23.xml" Id="Re0f7e04213124a0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154cd5dec7d4022" /><Relationship Type="http://schemas.openxmlformats.org/officeDocument/2006/relationships/notesSlide" Target="/ppt/notesSlides/notesSlide24.xml" Id="R14960b66d589495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f87c10710fb4685" /><Relationship Type="http://schemas.openxmlformats.org/officeDocument/2006/relationships/notesSlide" Target="/ppt/notesSlides/notesSlide25.xml" Id="R147fdec9f0e64d1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d1e1256e0d64cef" /><Relationship Type="http://schemas.openxmlformats.org/officeDocument/2006/relationships/notesSlide" Target="/ppt/notesSlides/notesSlide26.xml" Id="R83d94249d12b462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bae3ec6f28a4bc0" /><Relationship Type="http://schemas.openxmlformats.org/officeDocument/2006/relationships/notesSlide" Target="/ppt/notesSlides/notesSlide27.xml" Id="R8a96205eff7f4d6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08b7bda8ff24a7f" /><Relationship Type="http://schemas.openxmlformats.org/officeDocument/2006/relationships/notesSlide" Target="/ppt/notesSlides/notesSlide28.xml" Id="R3cd4572a16d94dc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6b9a2a2d10145da" /><Relationship Type="http://schemas.openxmlformats.org/officeDocument/2006/relationships/notesSlide" Target="/ppt/notesSlides/notesSlide29.xml" Id="R9d40c7d22bcb4ea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d2886e5cb404c44" /><Relationship Type="http://schemas.openxmlformats.org/officeDocument/2006/relationships/notesSlide" Target="/ppt/notesSlides/notesSlide30.xml" Id="Rc68122d82181463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f184489db7441a7" /><Relationship Type="http://schemas.openxmlformats.org/officeDocument/2006/relationships/notesSlide" Target="/ppt/notesSlides/notesSlide31.xml" Id="R00c1d700d55d43c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54e2e8f23004694" /><Relationship Type="http://schemas.openxmlformats.org/officeDocument/2006/relationships/notesSlide" Target="/ppt/notesSlides/notesSlide32.xml" Id="R634be083d61e484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ee06591d4dd4c94" /><Relationship Type="http://schemas.openxmlformats.org/officeDocument/2006/relationships/notesSlide" Target="/ppt/notesSlides/notesSlide33.xml" Id="R0d411b15207f494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8c20f85b4024632" /><Relationship Type="http://schemas.openxmlformats.org/officeDocument/2006/relationships/notesSlide" Target="/ppt/notesSlides/notesSlide34.xml" Id="R89638f28e0a5494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6d74cd3b1ec4866" /><Relationship Type="http://schemas.openxmlformats.org/officeDocument/2006/relationships/notesSlide" Target="/ppt/notesSlides/notesSlide35.xml" Id="Rec825c5eacfa47b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34271452d9d44c1" /><Relationship Type="http://schemas.openxmlformats.org/officeDocument/2006/relationships/notesSlide" Target="/ppt/notesSlides/notesSlide36.xml" Id="R0a801863605844f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416efe3a0bb4594" /><Relationship Type="http://schemas.openxmlformats.org/officeDocument/2006/relationships/notesSlide" Target="/ppt/notesSlides/notesSlide37.xml" Id="R20b5e37858c14fe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9578b05e0fe4cfc" /><Relationship Type="http://schemas.openxmlformats.org/officeDocument/2006/relationships/notesSlide" Target="/ppt/notesSlides/notesSlide38.xml" Id="Rfa941f6a1ac540b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8419c479fe7450c" /><Relationship Type="http://schemas.openxmlformats.org/officeDocument/2006/relationships/notesSlide" Target="/ppt/notesSlides/notesSlide39.xml" Id="Rf893107be8db410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2fc8c7e82114ea8" /><Relationship Type="http://schemas.openxmlformats.org/officeDocument/2006/relationships/notesSlide" Target="/ppt/notesSlides/notesSlide40.xml" Id="Rd1e9fb9a2b334b1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0300869889c4cb9" /><Relationship Type="http://schemas.openxmlformats.org/officeDocument/2006/relationships/notesSlide" Target="/ppt/notesSlides/notesSlide41.xml" Id="R2323f208b419402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871fed995dc42b6" /><Relationship Type="http://schemas.openxmlformats.org/officeDocument/2006/relationships/notesSlide" Target="/ppt/notesSlides/notesSlide42.xml" Id="Rb421d3eb122b40e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d6047040e6547d9" /><Relationship Type="http://schemas.openxmlformats.org/officeDocument/2006/relationships/notesSlide" Target="/ppt/notesSlides/notesSlide43.xml" Id="R99739853be6941f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8b18ee1606142ba" /><Relationship Type="http://schemas.openxmlformats.org/officeDocument/2006/relationships/notesSlide" Target="/ppt/notesSlides/notesSlide44.xml" Id="R2697bc0db9094c7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9a2122d362c4ad7" /><Relationship Type="http://schemas.openxmlformats.org/officeDocument/2006/relationships/notesSlide" Target="/ppt/notesSlides/notesSlide45.xml" Id="R03b14e09ef8e4d2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e0c37c8f0224ec7" /><Relationship Type="http://schemas.openxmlformats.org/officeDocument/2006/relationships/notesSlide" Target="/ppt/notesSlides/notesSlide46.xml" Id="Rc47ea82123664cb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a8cc61d8f5d46a5" /><Relationship Type="http://schemas.openxmlformats.org/officeDocument/2006/relationships/notesSlide" Target="/ppt/notesSlides/notesSlide47.xml" Id="R913cf92d454544d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7d2c09a3c884df0" /><Relationship Type="http://schemas.openxmlformats.org/officeDocument/2006/relationships/notesSlide" Target="/ppt/notesSlides/notesSlide48.xml" Id="Rc584d8b1880b4ed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cc0e77bb569544dc" /><Relationship Type="http://schemas.openxmlformats.org/officeDocument/2006/relationships/notesSlide" Target="/ppt/notesSlides/notesSlide49.xml" Id="R67e487e39ffa40e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ab297a8b645f4b87" /><Relationship Type="http://schemas.openxmlformats.org/officeDocument/2006/relationships/notesSlide" Target="/ppt/notesSlides/notesSlide50.xml" Id="Rb77c04d1105140e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912f11863372458e" /><Relationship Type="http://schemas.openxmlformats.org/officeDocument/2006/relationships/notesSlide" Target="/ppt/notesSlides/notesSlide51.xml" Id="R05e62b39d6b84c1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c2930bb120884d6c" /><Relationship Type="http://schemas.openxmlformats.org/officeDocument/2006/relationships/notesSlide" Target="/ppt/notesSlides/notesSlide52.xml" Id="R660ff5ff71df40e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db905ff80dd0484a" /><Relationship Type="http://schemas.openxmlformats.org/officeDocument/2006/relationships/notesSlide" Target="/ppt/notesSlides/notesSlide53.xml" Id="R23f392f5054d409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746140c75fc4236" /><Relationship Type="http://schemas.openxmlformats.org/officeDocument/2006/relationships/notesSlide" Target="/ppt/notesSlides/notesSlide54.xml" Id="R98e3ee98f06c4e8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51e089b1234040d6" /><Relationship Type="http://schemas.openxmlformats.org/officeDocument/2006/relationships/notesSlide" Target="/ppt/notesSlides/notesSlide55.xml" Id="R441f6ea83bbb44d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18e5e79587a2402a" /><Relationship Type="http://schemas.openxmlformats.org/officeDocument/2006/relationships/notesSlide" Target="/ppt/notesSlides/notesSlide56.xml" Id="R7802d764bc144ab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85077a7d5bc4652" /><Relationship Type="http://schemas.openxmlformats.org/officeDocument/2006/relationships/notesSlide" Target="/ppt/notesSlides/notesSlide57.xml" Id="R5385687abdd94ef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a282985d121f4da8" /><Relationship Type="http://schemas.openxmlformats.org/officeDocument/2006/relationships/notesSlide" Target="/ppt/notesSlides/notesSlide58.xml" Id="R21041dbd1db04c0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0a5ca8041d554a67" /><Relationship Type="http://schemas.openxmlformats.org/officeDocument/2006/relationships/notesSlide" Target="/ppt/notesSlides/notesSlide59.xml" Id="R9931edb4ada3472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e5c1f87f7e574576" /><Relationship Type="http://schemas.openxmlformats.org/officeDocument/2006/relationships/notesSlide" Target="/ppt/notesSlides/notesSlide60.xml" Id="Ra8878b48f5ff453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c8d5fe60f0a84a21" /><Relationship Type="http://schemas.openxmlformats.org/officeDocument/2006/relationships/notesSlide" Target="/ppt/notesSlides/notesSlide61.xml" Id="Re1f56a4e4c164f3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204474406c7f4ff7" /><Relationship Type="http://schemas.openxmlformats.org/officeDocument/2006/relationships/notesSlide" Target="/ppt/notesSlides/notesSlide62.xml" Id="R3110bfa5169c4ba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3b3b0b32b5cb488b" /><Relationship Type="http://schemas.openxmlformats.org/officeDocument/2006/relationships/notesSlide" Target="/ppt/notesSlides/notesSlide63.xml" Id="R666862377c774f4c"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ef25c5d349d249f2" /><Relationship Type="http://schemas.openxmlformats.org/officeDocument/2006/relationships/notesSlide" Target="/ppt/notesSlides/notesSlide64.xml" Id="R5b20418bcd124ab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86b3d49d3a3e4bdf" /><Relationship Type="http://schemas.openxmlformats.org/officeDocument/2006/relationships/notesSlide" Target="/ppt/notesSlides/notesSlide65.xml" Id="R85c481abb669403b"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75d11bf93d3e4562" /><Relationship Type="http://schemas.openxmlformats.org/officeDocument/2006/relationships/notesSlide" Target="/ppt/notesSlides/notesSlide66.xml" Id="Rc68f443a67fe4c59"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389f7d258e77480b" /><Relationship Type="http://schemas.openxmlformats.org/officeDocument/2006/relationships/notesSlide" Target="/ppt/notesSlides/notesSlide67.xml" Id="R01f86af1594a4ec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9380d4204c244c9b" /><Relationship Type="http://schemas.openxmlformats.org/officeDocument/2006/relationships/notesSlide" Target="/ppt/notesSlides/notesSlide68.xml" Id="Re106287aa72546e6"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9ca27553ca484750" /><Relationship Type="http://schemas.openxmlformats.org/officeDocument/2006/relationships/notesSlide" Target="/ppt/notesSlides/notesSlide69.xml" Id="R689012fa22404a6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395bccf1f58f479b" /><Relationship Type="http://schemas.openxmlformats.org/officeDocument/2006/relationships/notesSlide" Target="/ppt/notesSlides/notesSlide70.xml" Id="Rc94557d933c24a5f"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fc1031ee15594dde" /><Relationship Type="http://schemas.openxmlformats.org/officeDocument/2006/relationships/notesSlide" Target="/ppt/notesSlides/notesSlide71.xml" Id="R405ce376f905451f"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ec0a1ef564234f84" /><Relationship Type="http://schemas.openxmlformats.org/officeDocument/2006/relationships/notesSlide" Target="/ppt/notesSlides/notesSlide72.xml" Id="R6b44fa175c2a4dd1"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b9eb86089b6c4deb" /><Relationship Type="http://schemas.openxmlformats.org/officeDocument/2006/relationships/notesSlide" Target="/ppt/notesSlides/notesSlide73.xml" Id="R92ad8c4021684e5a"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6e45565d4eed4ab5" /><Relationship Type="http://schemas.openxmlformats.org/officeDocument/2006/relationships/notesSlide" Target="/ppt/notesSlides/notesSlide74.xml" Id="R1c14cb7eeddc4c1c"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f616d9311de84ae6" /><Relationship Type="http://schemas.openxmlformats.org/officeDocument/2006/relationships/notesSlide" Target="/ppt/notesSlides/notesSlide75.xml" Id="Rfdef35b0551e4bde"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ba5c5af1dcfd4ef7" /><Relationship Type="http://schemas.openxmlformats.org/officeDocument/2006/relationships/notesSlide" Target="/ppt/notesSlides/notesSlide76.xml" Id="R7153dfc507ad4376"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311ac2941993484b" /><Relationship Type="http://schemas.openxmlformats.org/officeDocument/2006/relationships/notesSlide" Target="/ppt/notesSlides/notesSlide77.xml" Id="R729546fb076b4da6"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b451e7a712f8412f" /><Relationship Type="http://schemas.openxmlformats.org/officeDocument/2006/relationships/notesSlide" Target="/ppt/notesSlides/notesSlide78.xml" Id="Re4de8bde83024d59"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1e2779c197274b87" /><Relationship Type="http://schemas.openxmlformats.org/officeDocument/2006/relationships/notesSlide" Target="/ppt/notesSlides/notesSlide79.xml" Id="R3e67c417e17a43e6"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da9ed5a23e5c4657" /><Relationship Type="http://schemas.openxmlformats.org/officeDocument/2006/relationships/notesSlide" Target="/ppt/notesSlides/notesSlide80.xml" Id="R324ad5bc6d55482d"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c2f309e87ad046bd" /><Relationship Type="http://schemas.openxmlformats.org/officeDocument/2006/relationships/notesSlide" Target="/ppt/notesSlides/notesSlide81.xml" Id="R31927b527ae64b32"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dee8f04aef21468c" /><Relationship Type="http://schemas.openxmlformats.org/officeDocument/2006/relationships/notesSlide" Target="/ppt/notesSlides/notesSlide82.xml" Id="R64e75a26ef594b4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60583f86d3e34d6c" /><Relationship Type="http://schemas.openxmlformats.org/officeDocument/2006/relationships/notesSlide" Target="/ppt/notesSlides/notesSlide83.xml" Id="R77f440055a2d4a3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87238fb7a9e347d1" /><Relationship Type="http://schemas.openxmlformats.org/officeDocument/2006/relationships/notesSlide" Target="/ppt/notesSlides/notesSlide84.xml" Id="Rbe324462911a48f6"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accent-line">
            <a:extLst xmlns:a="http://schemas.openxmlformats.org/drawingml/2006/main">
              <a:ext uri="{FF2B5EF4-FFF2-40B4-BE49-F238E27FC236}">
                <a16:creationId xmlns:a16="http://schemas.microsoft.com/office/drawing/2014/main" id="{482CB6D6-7EE7-49FD-96C2-29A8E7E97CEF}"/>
              </a:ext>
            </a:extLst>
          </p:cNvPr>
          <p:cNvSpPr>
            <a:spLocks xmlns:a="http://schemas.openxmlformats.org/drawingml/2006/main" noGrp="1"/>
          </p:cNvSpPr>
          <p:nvPr/>
        </p:nvSpPr>
        <p:spPr>
          <a:xfrm xmlns:a="http://schemas.openxmlformats.org/drawingml/2006/main">
            <a:off x="609600" y="723900"/>
            <a:ext cx="76200" cy="4667250"/>
          </a:xfrm>
          <a:prstGeom xmlns:a="http://schemas.openxmlformats.org/drawingml/2006/main" prst="rect">
            <a:avLst/>
          </a:prstGeom>
          <a:solidFill xmlns:a="http://schemas.openxmlformats.org/drawingml/2006/main">
            <a:srgbClr val="21B5C2"/>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348AE86A-F8E2-4F15-A65F-714FB9D75FE9}"/>
              </a:ext>
            </a:extLst>
          </p:cNvPr>
          <p:cNvSpPr>
            <a:spLocks xmlns:a="http://schemas.openxmlformats.org/drawingml/2006/main" noGrp="1"/>
          </p:cNvSpPr>
          <p:nvPr/>
        </p:nvSpPr>
        <p:spPr>
          <a:xfrm xmlns:a="http://schemas.openxmlformats.org/drawingml/2006/main">
            <a:off x="990600" y="7239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1B5C2"/>
                </a:solidFill>
                <a:latin typeface="Aptos"/>
                <a:ea typeface="Aptos"/>
                <a:cs typeface="Aptos"/>
              </a:defRPr>
            </a:pPr>
            <a:r>
              <a:rPr sz="1350" b="1" i="0">
                <a:solidFill>
                  <a:srgbClr val="21B5C2"/>
                </a:solidFill>
                <a:latin typeface="Aptos"/>
                <a:ea typeface="Aptos"/>
                <a:cs typeface="Aptos"/>
              </a:rPr>
              <a:t>SQL SERVER PERFORMANCE</a:t>
            </a:r>
          </a:p>
        </p:txBody>
      </p:sp>
      <p:sp>
        <p:nvSpPr>
          <p:cNvPr id="3" name="title">
            <a:extLst xmlns:a="http://schemas.openxmlformats.org/drawingml/2006/main">
              <a:ext uri="{FF2B5EF4-FFF2-40B4-BE49-F238E27FC236}">
                <a16:creationId xmlns:a16="http://schemas.microsoft.com/office/drawing/2014/main" id="{A0B10994-0D51-4443-8276-E351A9059EDD}"/>
              </a:ext>
            </a:extLst>
          </p:cNvPr>
          <p:cNvSpPr>
            <a:spLocks xmlns:a="http://schemas.openxmlformats.org/drawingml/2006/main" noGrp="1"/>
          </p:cNvSpPr>
          <p:nvPr/>
        </p:nvSpPr>
        <p:spPr>
          <a:xfrm xmlns:a="http://schemas.openxmlformats.org/drawingml/2006/main">
            <a:off x="990600" y="156210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5400" b="1" i="0">
                <a:solidFill>
                  <a:srgbClr val="FFFFFF"/>
                </a:solidFill>
                <a:latin typeface="Aptos"/>
                <a:ea typeface="Aptos"/>
                <a:cs typeface="Aptos"/>
              </a:defRPr>
            </a:pPr>
            <a:r>
              <a:rPr sz="5400" b="1" i="0">
                <a:solidFill>
                  <a:srgbClr val="FFFFFF"/>
                </a:solidFill>
                <a:latin typeface="Aptos"/>
                <a:ea typeface="Aptos"/>
                <a:cs typeface="Aptos"/>
              </a:rPr>
              <a:t>Performance verstehen,</a:t>
            </a:r>
          </a:p>
          <a:p xmlns:a="http://schemas.openxmlformats.org/drawingml/2006/main">
            <a:pPr algn="l">
              <a:lnSpc>
                <a:spcPct val="90000"/>
              </a:lnSpc>
              <a:buNone/>
              <a:defRPr sz="5400" b="1" i="0">
                <a:solidFill>
                  <a:srgbClr val="FFFFFF"/>
                </a:solidFill>
                <a:latin typeface="Aptos"/>
                <a:ea typeface="Aptos"/>
                <a:cs typeface="Aptos"/>
              </a:defRPr>
            </a:pPr>
            <a:r>
              <a:rPr sz="5400" b="1" i="0">
                <a:solidFill>
                  <a:srgbClr val="FFFFFF"/>
                </a:solidFill>
                <a:latin typeface="Aptos"/>
                <a:ea typeface="Aptos"/>
                <a:cs typeface="Aptos"/>
              </a:rPr>
              <a:t>bevor optimiert wird</a:t>
            </a:r>
          </a:p>
        </p:txBody>
      </p:sp>
      <p:sp>
        <p:nvSpPr>
          <p:cNvPr id="4" name="subtitle">
            <a:extLst xmlns:a="http://schemas.openxmlformats.org/drawingml/2006/main">
              <a:ext uri="{FF2B5EF4-FFF2-40B4-BE49-F238E27FC236}">
                <a16:creationId xmlns:a16="http://schemas.microsoft.com/office/drawing/2014/main" id="{17D1F8A0-686E-4645-BB2D-C88A8C14B3A7}"/>
              </a:ext>
            </a:extLst>
          </p:cNvPr>
          <p:cNvSpPr>
            <a:spLocks xmlns:a="http://schemas.openxmlformats.org/drawingml/2006/main" noGrp="1"/>
          </p:cNvSpPr>
          <p:nvPr/>
        </p:nvSpPr>
        <p:spPr>
          <a:xfrm xmlns:a="http://schemas.openxmlformats.org/drawingml/2006/main">
            <a:off x="990600" y="4114800"/>
            <a:ext cx="923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0" i="0">
                <a:solidFill>
                  <a:srgbClr val="C9D7E3"/>
                </a:solidFill>
                <a:latin typeface="Aptos"/>
                <a:ea typeface="Aptos"/>
                <a:cs typeface="Aptos"/>
              </a:defRPr>
            </a:pPr>
            <a:r>
              <a:rPr sz="2100" b="0" i="0">
                <a:solidFill>
                  <a:srgbClr val="C9D7E3"/>
                </a:solidFill>
                <a:latin typeface="Aptos"/>
                <a:ea typeface="Aptos"/>
                <a:cs typeface="Aptos"/>
              </a:rPr>
              <a:t>Storage · Optimizer · Query Patterns · Indizes · Concurrency · Diagnose</a:t>
            </a:r>
          </a:p>
        </p:txBody>
      </p:sp>
      <p:sp>
        <p:nvSpPr>
          <p:cNvPr id="5" name="author">
            <a:extLst xmlns:a="http://schemas.openxmlformats.org/drawingml/2006/main">
              <a:ext uri="{FF2B5EF4-FFF2-40B4-BE49-F238E27FC236}">
                <a16:creationId xmlns:a16="http://schemas.microsoft.com/office/drawing/2014/main" id="{6FA91269-A1E6-4B93-ADE5-31DA5E1D05DA}"/>
              </a:ext>
            </a:extLst>
          </p:cNvPr>
          <p:cNvSpPr>
            <a:spLocks xmlns:a="http://schemas.openxmlformats.org/drawingml/2006/main" noGrp="1"/>
          </p:cNvSpPr>
          <p:nvPr/>
        </p:nvSpPr>
        <p:spPr>
          <a:xfrm xmlns:a="http://schemas.openxmlformats.org/drawingml/2006/main">
            <a:off x="990600" y="59055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Aptos"/>
                <a:ea typeface="Aptos"/>
                <a:cs typeface="Aptos"/>
              </a:defRPr>
            </a:pPr>
            <a:r>
              <a:rPr sz="1350" b="1" i="0">
                <a:solidFill>
                  <a:srgbClr val="FFFFFF"/>
                </a:solidFill>
                <a:latin typeface="Aptos"/>
                <a:ea typeface="Aptos"/>
                <a:cs typeface="Aptos"/>
              </a:rPr>
              <a:t>Gerhard Pisch</a:t>
            </a:r>
          </a:p>
        </p:txBody>
      </p:sp>
      <p:sp>
        <p:nvSpPr>
          <p:cNvPr id="6" name="version">
            <a:extLst xmlns:a="http://schemas.openxmlformats.org/drawingml/2006/main">
              <a:ext uri="{FF2B5EF4-FFF2-40B4-BE49-F238E27FC236}">
                <a16:creationId xmlns:a16="http://schemas.microsoft.com/office/drawing/2014/main" id="{1816D198-33A7-473D-B53C-1C66A914A479}"/>
              </a:ext>
            </a:extLst>
          </p:cNvPr>
          <p:cNvSpPr>
            <a:spLocks xmlns:a="http://schemas.openxmlformats.org/drawingml/2006/main" noGrp="1"/>
          </p:cNvSpPr>
          <p:nvPr/>
        </p:nvSpPr>
        <p:spPr>
          <a:xfrm xmlns:a="http://schemas.openxmlformats.org/drawingml/2006/main">
            <a:off x="7239000" y="59055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350" b="0" i="0">
                <a:solidFill>
                  <a:srgbClr val="C9D7E3"/>
                </a:solidFill>
                <a:latin typeface="Aptos"/>
                <a:ea typeface="Aptos"/>
                <a:cs typeface="Aptos"/>
              </a:defRPr>
            </a:pPr>
            <a:r>
              <a:rPr sz="1350" b="0" i="0">
                <a:solidFill>
                  <a:srgbClr val="C9D7E3"/>
                </a:solidFill>
                <a:latin typeface="Aptos"/>
                <a:ea typeface="Aptos"/>
                <a:cs typeface="Aptos"/>
              </a:rPr>
              <a:t>SQL Server 2019 · 2022 · 2025</a:t>
            </a:r>
          </a:p>
        </p:txBody>
      </p:sp>
    </p:spTree>
    <p:extLst>
      <p:ext uri="{BB962C8B-B14F-4D97-AF65-F5344CB8AC3E}">
        <p14:creationId xmlns:p14="http://schemas.microsoft.com/office/powerpoint/2010/main" val="1929482988"/>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C342DD5A-9599-40C6-A57D-2227FBBD82E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0 · EINORDNUNG</a:t>
            </a:r>
          </a:p>
        </p:txBody>
      </p:sp>
      <p:sp>
        <p:nvSpPr>
          <p:cNvPr id="2" name="slide-title">
            <a:extLst xmlns:a="http://schemas.openxmlformats.org/drawingml/2006/main">
              <a:ext uri="{FF2B5EF4-FFF2-40B4-BE49-F238E27FC236}">
                <a16:creationId xmlns:a16="http://schemas.microsoft.com/office/drawing/2014/main" id="{EEC3C27E-3717-44DD-8C0C-F3F0039B68A6}"/>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Das Lernziel ist eine belastbare Diagnose – keine Sammlung von Tuningregeln</a:t>
            </a:r>
          </a:p>
        </p:txBody>
      </p:sp>
      <p:sp>
        <p:nvSpPr>
          <p:cNvPr id="3" name="title-rule">
            <a:extLst xmlns:a="http://schemas.openxmlformats.org/drawingml/2006/main">
              <a:ext uri="{FF2B5EF4-FFF2-40B4-BE49-F238E27FC236}">
                <a16:creationId xmlns:a16="http://schemas.microsoft.com/office/drawing/2014/main" id="{1E14C287-94A7-4FDC-802E-A7AB66EF2257}"/>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2B31E5CB-1566-4C84-90B4-5FDC27C2C063}"/>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96313C7E-8AA3-4A6B-9ABB-1B1E661E4804}"/>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 / 84</a:t>
            </a:r>
          </a:p>
        </p:txBody>
      </p:sp>
      <p:sp>
        <p:nvSpPr>
          <p:cNvPr id="6" name="lead">
            <a:extLst xmlns:a="http://schemas.openxmlformats.org/drawingml/2006/main">
              <a:ext uri="{FF2B5EF4-FFF2-40B4-BE49-F238E27FC236}">
                <a16:creationId xmlns:a16="http://schemas.microsoft.com/office/drawing/2014/main" id="{D1DEF135-48B2-40BC-A41A-69D3110AD155}"/>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Eine gute Analyse verbindet Symptom, Messwert, technische Ursache, Änderung und erneute Messung.</a:t>
            </a:r>
          </a:p>
        </p:txBody>
      </p:sp>
      <p:sp>
        <p:nvSpPr>
          <p:cNvPr id="7" name="lead-accent">
            <a:extLst xmlns:a="http://schemas.openxmlformats.org/drawingml/2006/main">
              <a:ext uri="{FF2B5EF4-FFF2-40B4-BE49-F238E27FC236}">
                <a16:creationId xmlns:a16="http://schemas.microsoft.com/office/drawing/2014/main" id="{4870772E-FF4D-4FFE-B010-74C3D1FAE37F}"/>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59BADB8A-FC5E-466A-9578-E6841506C889}"/>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Storage und Query Processing als zusammenhängendes System lesen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Execution Plans und Laufzeitmetriken gemeinsam interpretieren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Trade-offs für Reads, Writes, Memory und Concurrency erkennen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Version und Compatibility Level ausdrücklich berücksichtigen</a:t>
            </a:r>
          </a:p>
        </p:txBody>
      </p:sp>
    </p:spTree>
    <p:extLst>
      <p:ext uri="{BB962C8B-B14F-4D97-AF65-F5344CB8AC3E}">
        <p14:creationId xmlns:p14="http://schemas.microsoft.com/office/powerpoint/2010/main" val="1711875655"/>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FAA0D43A-4B75-413B-A489-B12A51E41AC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0 · EINORDNUNG</a:t>
            </a:r>
          </a:p>
        </p:txBody>
      </p:sp>
      <p:sp>
        <p:nvSpPr>
          <p:cNvPr id="2" name="slide-title">
            <a:extLst xmlns:a="http://schemas.openxmlformats.org/drawingml/2006/main">
              <a:ext uri="{FF2B5EF4-FFF2-40B4-BE49-F238E27FC236}">
                <a16:creationId xmlns:a16="http://schemas.microsoft.com/office/drawing/2014/main" id="{544DBACF-F4A8-4988-97A1-38AFF609C272}"/>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Performance hat drei gleichzeitig relevante Dimensionen</a:t>
            </a:r>
          </a:p>
        </p:txBody>
      </p:sp>
      <p:sp>
        <p:nvSpPr>
          <p:cNvPr id="3" name="title-rule">
            <a:extLst xmlns:a="http://schemas.openxmlformats.org/drawingml/2006/main">
              <a:ext uri="{FF2B5EF4-FFF2-40B4-BE49-F238E27FC236}">
                <a16:creationId xmlns:a16="http://schemas.microsoft.com/office/drawing/2014/main" id="{6BAD1B2F-782C-4627-B91A-3D1E9C8A7981}"/>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E8F9B217-5333-4AD5-B0C9-2CB39765F7A1}"/>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64479A1E-797F-4D2D-BB14-0EED6D5F9724}"/>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 / 84</a:t>
            </a:r>
          </a:p>
        </p:txBody>
      </p:sp>
      <p:sp>
        <p:nvSpPr>
          <p:cNvPr id="6" name="left-title">
            <a:extLst xmlns:a="http://schemas.openxmlformats.org/drawingml/2006/main">
              <a:ext uri="{FF2B5EF4-FFF2-40B4-BE49-F238E27FC236}">
                <a16:creationId xmlns:a16="http://schemas.microsoft.com/office/drawing/2014/main" id="{6E9BFAE1-7A2E-446B-81F2-5147CEF6EE25}"/>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Antwortzeit</a:t>
            </a:r>
          </a:p>
        </p:txBody>
      </p:sp>
      <p:sp>
        <p:nvSpPr>
          <p:cNvPr id="7" name="right-title">
            <a:extLst xmlns:a="http://schemas.openxmlformats.org/drawingml/2006/main">
              <a:ext uri="{FF2B5EF4-FFF2-40B4-BE49-F238E27FC236}">
                <a16:creationId xmlns:a16="http://schemas.microsoft.com/office/drawing/2014/main" id="{F70BC8C1-E08E-42DC-8644-46608EE07A8E}"/>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Ressourcen und Durchsatz</a:t>
            </a:r>
          </a:p>
        </p:txBody>
      </p:sp>
      <p:sp>
        <p:nvSpPr>
          <p:cNvPr id="8" name="middle-rule">
            <a:extLst xmlns:a="http://schemas.openxmlformats.org/drawingml/2006/main">
              <a:ext uri="{FF2B5EF4-FFF2-40B4-BE49-F238E27FC236}">
                <a16:creationId xmlns:a16="http://schemas.microsoft.com/office/drawing/2014/main" id="{174CBF3D-983B-45A3-97F3-9D72A96B43EB}"/>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8B4F4899-D0AF-4F2C-9C66-5DD25982FE80}"/>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Duration und Latenz</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Verteilung statt nur Mittelwert</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relevanter Zeitraum und Workload</a:t>
            </a:r>
          </a:p>
        </p:txBody>
      </p:sp>
      <p:sp>
        <p:nvSpPr>
          <p:cNvPr id="10" name="right-points">
            <a:extLst xmlns:a="http://schemas.openxmlformats.org/drawingml/2006/main">
              <a:ext uri="{FF2B5EF4-FFF2-40B4-BE49-F238E27FC236}">
                <a16:creationId xmlns:a16="http://schemas.microsoft.com/office/drawing/2014/main" id="{7334FFA7-6E92-4290-805B-F3EC6A561DAE}"/>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CPU, Reads, Writes und Memory</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Concurrency und Wartezeiten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Arbeit pro Ergebniszeile</a:t>
            </a:r>
          </a:p>
        </p:txBody>
      </p:sp>
      <p:sp>
        <p:nvSpPr>
          <p:cNvPr id="11" name="conclusion-bg">
            <a:extLst xmlns:a="http://schemas.openxmlformats.org/drawingml/2006/main">
              <a:ext uri="{FF2B5EF4-FFF2-40B4-BE49-F238E27FC236}">
                <a16:creationId xmlns:a16="http://schemas.microsoft.com/office/drawing/2014/main" id="{897637CB-47FE-4C0A-87C1-71A56611ADC1}"/>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7C79B17E-CA70-4406-AD37-EB2CBF3ECA08}"/>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Eine einzelne schnelle Abfrage kann dennoch unnötig viele Ressourcen verbrauchen.</a:t>
            </a:r>
          </a:p>
        </p:txBody>
      </p:sp>
    </p:spTree>
    <p:extLst>
      <p:ext uri="{BB962C8B-B14F-4D97-AF65-F5344CB8AC3E}">
        <p14:creationId xmlns:p14="http://schemas.microsoft.com/office/powerpoint/2010/main" val="1791417342"/>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A8DA4FEC-B4FD-4CF7-BCBC-4A1C4624089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0 · EINORDNUNG</a:t>
            </a:r>
          </a:p>
        </p:txBody>
      </p:sp>
      <p:sp>
        <p:nvSpPr>
          <p:cNvPr id="2" name="slide-title">
            <a:extLst xmlns:a="http://schemas.openxmlformats.org/drawingml/2006/main">
              <a:ext uri="{FF2B5EF4-FFF2-40B4-BE49-F238E27FC236}">
                <a16:creationId xmlns:a16="http://schemas.microsoft.com/office/drawing/2014/main" id="{71BE99A1-EF11-4A9B-B701-986F08F34371}"/>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Der Diagnosezyklus bleibt über alle Module gleich</a:t>
            </a:r>
          </a:p>
        </p:txBody>
      </p:sp>
      <p:sp>
        <p:nvSpPr>
          <p:cNvPr id="3" name="title-rule">
            <a:extLst xmlns:a="http://schemas.openxmlformats.org/drawingml/2006/main">
              <a:ext uri="{FF2B5EF4-FFF2-40B4-BE49-F238E27FC236}">
                <a16:creationId xmlns:a16="http://schemas.microsoft.com/office/drawing/2014/main" id="{CEF17C91-128A-4510-B938-223367401AB1}"/>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6E764B85-865A-4B23-BA1E-6EFC0ADE3CED}"/>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F1EAB33A-9F1C-42D4-8225-A88A88B97C1A}"/>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 / 84</a:t>
            </a:r>
          </a:p>
        </p:txBody>
      </p:sp>
      <p:sp>
        <p:nvSpPr>
          <p:cNvPr id="6" name="flow-1">
            <a:extLst xmlns:a="http://schemas.openxmlformats.org/drawingml/2006/main">
              <a:ext uri="{FF2B5EF4-FFF2-40B4-BE49-F238E27FC236}">
                <a16:creationId xmlns:a16="http://schemas.microsoft.com/office/drawing/2014/main" id="{778DE1E6-3BD4-4772-B982-9CDFF6CA892C}"/>
              </a:ext>
            </a:extLst>
          </p:cNvPr>
          <p:cNvSpPr>
            <a:spLocks xmlns:a="http://schemas.openxmlformats.org/drawingml/2006/main" noGrp="1"/>
          </p:cNvSpPr>
          <p:nvPr/>
        </p:nvSpPr>
        <p:spPr>
          <a:xfrm xmlns:a="http://schemas.openxmlformats.org/drawingml/2006/main">
            <a:off x="609600" y="2609850"/>
            <a:ext cx="1962150" cy="1428750"/>
          </a:xfrm>
          <a:prstGeom xmlns:a="http://schemas.openxmlformats.org/drawingml/2006/main" prst="roundRect">
            <a:avLst>
              <a:gd name="adj" fmla="val 5333"/>
            </a:avLst>
          </a:prstGeom>
          <a:solidFill xmlns:a="http://schemas.openxmlformats.org/drawingml/2006/main">
            <a:srgbClr val="EAF4F4"/>
          </a:solidFill>
          <a:ln xmlns:a="http://schemas.openxmlformats.org/drawingml/2006/main" w="9525">
            <a:solidFill>
              <a:srgbClr val="D9E2EC"/>
            </a:solidFill>
            <a:prstDash val="solid"/>
          </a:ln>
        </p:spPr>
      </p:sp>
      <p:sp>
        <p:nvSpPr>
          <p:cNvPr id="7" name="flow-1-text">
            <a:extLst xmlns:a="http://schemas.openxmlformats.org/drawingml/2006/main">
              <a:ext uri="{FF2B5EF4-FFF2-40B4-BE49-F238E27FC236}">
                <a16:creationId xmlns:a16="http://schemas.microsoft.com/office/drawing/2014/main" id="{4BCE2874-2906-4B43-A06C-F7B2F1C845C0}"/>
              </a:ext>
            </a:extLst>
          </p:cNvPr>
          <p:cNvSpPr>
            <a:spLocks xmlns:a="http://schemas.openxmlformats.org/drawingml/2006/main" noGrp="1"/>
          </p:cNvSpPr>
          <p:nvPr/>
        </p:nvSpPr>
        <p:spPr>
          <a:xfrm xmlns:a="http://schemas.openxmlformats.org/drawingml/2006/main">
            <a:off x="7429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Symptom</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eingrenzen</a:t>
            </a:r>
          </a:p>
        </p:txBody>
      </p:sp>
      <p:sp>
        <p:nvSpPr>
          <p:cNvPr id="8" name="flow-2">
            <a:extLst xmlns:a="http://schemas.openxmlformats.org/drawingml/2006/main">
              <a:ext uri="{FF2B5EF4-FFF2-40B4-BE49-F238E27FC236}">
                <a16:creationId xmlns:a16="http://schemas.microsoft.com/office/drawing/2014/main" id="{96B56C3C-F08A-4D4E-9086-750C0819440D}"/>
              </a:ext>
            </a:extLst>
          </p:cNvPr>
          <p:cNvSpPr>
            <a:spLocks xmlns:a="http://schemas.openxmlformats.org/drawingml/2006/main" noGrp="1"/>
          </p:cNvSpPr>
          <p:nvPr/>
        </p:nvSpPr>
        <p:spPr>
          <a:xfrm xmlns:a="http://schemas.openxmlformats.org/drawingml/2006/main">
            <a:off x="27813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9" name="flow-2-text">
            <a:extLst xmlns:a="http://schemas.openxmlformats.org/drawingml/2006/main">
              <a:ext uri="{FF2B5EF4-FFF2-40B4-BE49-F238E27FC236}">
                <a16:creationId xmlns:a16="http://schemas.microsoft.com/office/drawing/2014/main" id="{01BD865A-9EE8-421D-9782-B146BDB76EF9}"/>
              </a:ext>
            </a:extLst>
          </p:cNvPr>
          <p:cNvSpPr>
            <a:spLocks xmlns:a="http://schemas.openxmlformats.org/drawingml/2006/main" noGrp="1"/>
          </p:cNvSpPr>
          <p:nvPr/>
        </p:nvSpPr>
        <p:spPr>
          <a:xfrm xmlns:a="http://schemas.openxmlformats.org/drawingml/2006/main">
            <a:off x="29146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Messung</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erfassen</a:t>
            </a:r>
          </a:p>
        </p:txBody>
      </p:sp>
      <p:sp>
        <p:nvSpPr>
          <p:cNvPr id="10" name="flow-3">
            <a:extLst xmlns:a="http://schemas.openxmlformats.org/drawingml/2006/main">
              <a:ext uri="{FF2B5EF4-FFF2-40B4-BE49-F238E27FC236}">
                <a16:creationId xmlns:a16="http://schemas.microsoft.com/office/drawing/2014/main" id="{A0EE63FF-82AE-45A0-86F3-B117CC96C572}"/>
              </a:ext>
            </a:extLst>
          </p:cNvPr>
          <p:cNvSpPr>
            <a:spLocks xmlns:a="http://schemas.openxmlformats.org/drawingml/2006/main" noGrp="1"/>
          </p:cNvSpPr>
          <p:nvPr/>
        </p:nvSpPr>
        <p:spPr>
          <a:xfrm xmlns:a="http://schemas.openxmlformats.org/drawingml/2006/main">
            <a:off x="49530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1" name="flow-3-text">
            <a:extLst xmlns:a="http://schemas.openxmlformats.org/drawingml/2006/main">
              <a:ext uri="{FF2B5EF4-FFF2-40B4-BE49-F238E27FC236}">
                <a16:creationId xmlns:a16="http://schemas.microsoft.com/office/drawing/2014/main" id="{F2B803AF-2361-446E-A544-8046B3E58DFC}"/>
              </a:ext>
            </a:extLst>
          </p:cNvPr>
          <p:cNvSpPr>
            <a:spLocks xmlns:a="http://schemas.openxmlformats.org/drawingml/2006/main" noGrp="1"/>
          </p:cNvSpPr>
          <p:nvPr/>
        </p:nvSpPr>
        <p:spPr>
          <a:xfrm xmlns:a="http://schemas.openxmlformats.org/drawingml/2006/main">
            <a:off x="50863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Hypothese</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formulieren</a:t>
            </a:r>
          </a:p>
        </p:txBody>
      </p:sp>
      <p:sp>
        <p:nvSpPr>
          <p:cNvPr id="12" name="flow-4">
            <a:extLst xmlns:a="http://schemas.openxmlformats.org/drawingml/2006/main">
              <a:ext uri="{FF2B5EF4-FFF2-40B4-BE49-F238E27FC236}">
                <a16:creationId xmlns:a16="http://schemas.microsoft.com/office/drawing/2014/main" id="{FE4CB4F5-60C2-44DD-BD1F-9223EC0C1ACC}"/>
              </a:ext>
            </a:extLst>
          </p:cNvPr>
          <p:cNvSpPr>
            <a:spLocks xmlns:a="http://schemas.openxmlformats.org/drawingml/2006/main" noGrp="1"/>
          </p:cNvSpPr>
          <p:nvPr/>
        </p:nvSpPr>
        <p:spPr>
          <a:xfrm xmlns:a="http://schemas.openxmlformats.org/drawingml/2006/main">
            <a:off x="71247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3" name="flow-4-text">
            <a:extLst xmlns:a="http://schemas.openxmlformats.org/drawingml/2006/main">
              <a:ext uri="{FF2B5EF4-FFF2-40B4-BE49-F238E27FC236}">
                <a16:creationId xmlns:a16="http://schemas.microsoft.com/office/drawing/2014/main" id="{911744B5-9F44-4C89-A043-824C226065BF}"/>
              </a:ext>
            </a:extLst>
          </p:cNvPr>
          <p:cNvSpPr>
            <a:spLocks xmlns:a="http://schemas.openxmlformats.org/drawingml/2006/main" noGrp="1"/>
          </p:cNvSpPr>
          <p:nvPr/>
        </p:nvSpPr>
        <p:spPr>
          <a:xfrm xmlns:a="http://schemas.openxmlformats.org/drawingml/2006/main">
            <a:off x="72580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Eine Änderung</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durchführen</a:t>
            </a:r>
          </a:p>
        </p:txBody>
      </p:sp>
      <p:sp>
        <p:nvSpPr>
          <p:cNvPr id="14" name="flow-5">
            <a:extLst xmlns:a="http://schemas.openxmlformats.org/drawingml/2006/main">
              <a:ext uri="{FF2B5EF4-FFF2-40B4-BE49-F238E27FC236}">
                <a16:creationId xmlns:a16="http://schemas.microsoft.com/office/drawing/2014/main" id="{5C63B3C2-1345-4AFC-B0D7-21598246B3E5}"/>
              </a:ext>
            </a:extLst>
          </p:cNvPr>
          <p:cNvSpPr>
            <a:spLocks xmlns:a="http://schemas.openxmlformats.org/drawingml/2006/main" noGrp="1"/>
          </p:cNvSpPr>
          <p:nvPr/>
        </p:nvSpPr>
        <p:spPr>
          <a:xfrm xmlns:a="http://schemas.openxmlformats.org/drawingml/2006/main">
            <a:off x="92964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5" name="flow-5-text">
            <a:extLst xmlns:a="http://schemas.openxmlformats.org/drawingml/2006/main">
              <a:ext uri="{FF2B5EF4-FFF2-40B4-BE49-F238E27FC236}">
                <a16:creationId xmlns:a16="http://schemas.microsoft.com/office/drawing/2014/main" id="{72436C09-87B9-41F3-9F25-6A471B0C060C}"/>
              </a:ext>
            </a:extLst>
          </p:cNvPr>
          <p:cNvSpPr>
            <a:spLocks xmlns:a="http://schemas.openxmlformats.org/drawingml/2006/main" noGrp="1"/>
          </p:cNvSpPr>
          <p:nvPr/>
        </p:nvSpPr>
        <p:spPr>
          <a:xfrm xmlns:a="http://schemas.openxmlformats.org/drawingml/2006/main">
            <a:off x="94297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Vergleich</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bewerten</a:t>
            </a:r>
          </a:p>
        </p:txBody>
      </p:sp>
      <p:cxnSp>
        <p:nvCxnSpPr>
          <p:cNvPr id="37" name=""/>
          <p:cNvCxnSpPr>
            <a:stCxn xmlns:a="http://schemas.openxmlformats.org/drawingml/2006/main" id="6" idx="3"/>
            <a:endCxn xmlns:a="http://schemas.openxmlformats.org/drawingml/2006/main" id="8" idx="1"/>
          </p:cNvCxnSpPr>
          <p:nvPr/>
        </p:nvCxnSpPr>
        <p:spPr>
          <a:xfrm xmlns:a="http://schemas.openxmlformats.org/drawingml/2006/main">
            <a:off x="25717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8" name=""/>
          <p:cNvCxnSpPr>
            <a:stCxn xmlns:a="http://schemas.openxmlformats.org/drawingml/2006/main" id="8" idx="3"/>
            <a:endCxn xmlns:a="http://schemas.openxmlformats.org/drawingml/2006/main" id="10" idx="1"/>
          </p:cNvCxnSpPr>
          <p:nvPr/>
        </p:nvCxnSpPr>
        <p:spPr>
          <a:xfrm xmlns:a="http://schemas.openxmlformats.org/drawingml/2006/main">
            <a:off x="47434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9" name=""/>
          <p:cNvCxnSpPr>
            <a:stCxn xmlns:a="http://schemas.openxmlformats.org/drawingml/2006/main" id="10" idx="3"/>
            <a:endCxn xmlns:a="http://schemas.openxmlformats.org/drawingml/2006/main" id="12" idx="1"/>
          </p:cNvCxnSpPr>
          <p:nvPr/>
        </p:nvCxnSpPr>
        <p:spPr>
          <a:xfrm xmlns:a="http://schemas.openxmlformats.org/drawingml/2006/main">
            <a:off x="69151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40" name=""/>
          <p:cNvCxnSpPr>
            <a:stCxn xmlns:a="http://schemas.openxmlformats.org/drawingml/2006/main" id="12" idx="3"/>
            <a:endCxn xmlns:a="http://schemas.openxmlformats.org/drawingml/2006/main" id="14" idx="1"/>
          </p:cNvCxnSpPr>
          <p:nvPr/>
        </p:nvCxnSpPr>
        <p:spPr>
          <a:xfrm xmlns:a="http://schemas.openxmlformats.org/drawingml/2006/main">
            <a:off x="90868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20" name="conclusion-bg">
            <a:extLst xmlns:a="http://schemas.openxmlformats.org/drawingml/2006/main">
              <a:ext uri="{FF2B5EF4-FFF2-40B4-BE49-F238E27FC236}">
                <a16:creationId xmlns:a16="http://schemas.microsoft.com/office/drawing/2014/main" id="{05F41477-6AE9-4E38-98DE-85C33F4816AF}"/>
              </a:ext>
            </a:extLst>
          </p:cNvPr>
          <p:cNvSpPr>
            <a:spLocks xmlns:a="http://schemas.openxmlformats.org/drawingml/2006/main" noGrp="1"/>
          </p:cNvSpPr>
          <p:nvPr/>
        </p:nvSpPr>
        <p:spPr>
          <a:xfrm xmlns:a="http://schemas.openxmlformats.org/drawingml/2006/main">
            <a:off x="1752600" y="4762500"/>
            <a:ext cx="8382000" cy="819150"/>
          </a:xfrm>
          <a:prstGeom xmlns:a="http://schemas.openxmlformats.org/drawingml/2006/main" prst="roundRect">
            <a:avLst>
              <a:gd name="adj" fmla="val 9302"/>
            </a:avLst>
          </a:prstGeom>
          <a:solidFill xmlns:a="http://schemas.openxmlformats.org/drawingml/2006/main">
            <a:srgbClr val="0B1F33"/>
          </a:solidFill>
          <a:ln xmlns:a="http://schemas.openxmlformats.org/drawingml/2006/main" w="9525">
            <a:solidFill>
              <a:srgbClr val="0B1F33"/>
            </a:solidFill>
            <a:prstDash val="solid"/>
          </a:ln>
        </p:spPr>
      </p:sp>
      <p:sp>
        <p:nvSpPr>
          <p:cNvPr id="21" name="conclusion">
            <a:extLst xmlns:a="http://schemas.openxmlformats.org/drawingml/2006/main">
              <a:ext uri="{FF2B5EF4-FFF2-40B4-BE49-F238E27FC236}">
                <a16:creationId xmlns:a16="http://schemas.microsoft.com/office/drawing/2014/main" id="{4D936723-A687-46CB-B23A-4E2D5C4118F1}"/>
              </a:ext>
            </a:extLst>
          </p:cNvPr>
          <p:cNvSpPr>
            <a:spLocks xmlns:a="http://schemas.openxmlformats.org/drawingml/2006/main" noGrp="1"/>
          </p:cNvSpPr>
          <p:nvPr/>
        </p:nvSpPr>
        <p:spPr>
          <a:xfrm xmlns:a="http://schemas.openxmlformats.org/drawingml/2006/main">
            <a:off x="2000250" y="4933950"/>
            <a:ext cx="788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725" b="1" i="0">
                <a:solidFill>
                  <a:srgbClr val="FFFFFF"/>
                </a:solidFill>
                <a:latin typeface="Aptos"/>
                <a:ea typeface="Aptos"/>
                <a:cs typeface="Aptos"/>
              </a:defRPr>
            </a:pPr>
            <a:r>
              <a:rPr sz="1725" b="1" i="0">
                <a:solidFill>
                  <a:srgbClr val="FFFFFF"/>
                </a:solidFill>
                <a:latin typeface="Aptos"/>
                <a:ea typeface="Aptos"/>
                <a:cs typeface="Aptos"/>
              </a:rPr>
              <a:t>Nebenwirkungen und Versionsgrenzen gehören zum Ergebnis.</a:t>
            </a:r>
          </a:p>
        </p:txBody>
      </p:sp>
    </p:spTree>
    <p:extLst>
      <p:ext uri="{BB962C8B-B14F-4D97-AF65-F5344CB8AC3E}">
        <p14:creationId xmlns:p14="http://schemas.microsoft.com/office/powerpoint/2010/main" val="55416350"/>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BF49B8C1-2B87-4BD2-A5D5-335E8EE248B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0 · EINORDNUNG</a:t>
            </a:r>
          </a:p>
        </p:txBody>
      </p:sp>
      <p:sp>
        <p:nvSpPr>
          <p:cNvPr id="2" name="slide-title">
            <a:extLst xmlns:a="http://schemas.openxmlformats.org/drawingml/2006/main">
              <a:ext uri="{FF2B5EF4-FFF2-40B4-BE49-F238E27FC236}">
                <a16:creationId xmlns:a16="http://schemas.microsoft.com/office/drawing/2014/main" id="{50443562-3B93-445D-A622-EFFB6EA0EF14}"/>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Jede Evidenzquelle beantwortet eine andere Frage</a:t>
            </a:r>
          </a:p>
        </p:txBody>
      </p:sp>
      <p:sp>
        <p:nvSpPr>
          <p:cNvPr id="3" name="title-rule">
            <a:extLst xmlns:a="http://schemas.openxmlformats.org/drawingml/2006/main">
              <a:ext uri="{FF2B5EF4-FFF2-40B4-BE49-F238E27FC236}">
                <a16:creationId xmlns:a16="http://schemas.microsoft.com/office/drawing/2014/main" id="{BC7BAA0B-7442-44CF-8601-383A6F566182}"/>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BB6C5068-2909-40AB-A13F-79C78BF5D3A3}"/>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1D2C3909-838D-4B3C-8C18-7A44D5EF9F5C}"/>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 / 84</a:t>
            </a:r>
          </a:p>
        </p:txBody>
      </p:sp>
      <p:graphicFrame>
        <p:nvGraphicFramePr>
          <p:cNvPr id="12" name=""/>
          <p:cNvGraphicFramePr/>
          <p:nvPr/>
        </p:nvGraphicFramePr>
        <p:xfrm>
          <a:off xmlns:a="http://schemas.openxmlformats.org/drawingml/2006/main" x="609600" y="2171700"/>
          <a:ext xmlns:a="http://schemas.openxmlformats.org/drawingml/2006/main" cx="10668000" cy="4000500"/>
        </p:xfrm>
        <a:graphic xmlns:a="http://schemas.openxmlformats.org/drawingml/2006/main">
          <a:graphicData uri="http://schemas.openxmlformats.org/drawingml/2006/table">
            <a:tbl>
              <a:tblPr firstRow="1" bandRow="1"/>
              <a:tblGrid>
                <a:gridCol w="2800350"/>
                <a:gridCol w="3867150"/>
                <a:gridCol w="4000500"/>
              </a:tblGrid>
              <a:tr h="666750">
                <a:tc>
                  <a:txBody>
                    <a:bodyPr/>
                    <a:lstStyle/>
                    <a:p>
                      <a:r>
                        <a:rPr sz="1500" b="1">
                          <a:solidFill>
                            <a:srgbClr val="FFFFFF"/>
                          </a:solidFill>
                          <a:latin typeface="Aptos"/>
                          <a:ea typeface="Aptos"/>
                          <a:cs typeface="Aptos"/>
                        </a:rPr>
                        <a:t>Quelle</a:t>
                      </a:r>
                    </a:p>
                  </a:txBody>
                  <a:tcPr marL="91440" marR="91440" marT="45720" marB="45720">
                    <a:solidFill>
                      <a:srgbClr val="0B1F33"/>
                    </a:solidFill>
                  </a:tcPr>
                </a:tc>
                <a:tc>
                  <a:txBody>
                    <a:bodyPr/>
                    <a:lstStyle/>
                    <a:p>
                      <a:r>
                        <a:rPr sz="1500" b="1">
                          <a:solidFill>
                            <a:srgbClr val="FFFFFF"/>
                          </a:solidFill>
                          <a:latin typeface="Aptos"/>
                          <a:ea typeface="Aptos"/>
                          <a:cs typeface="Aptos"/>
                        </a:rPr>
                        <a:t>Stärke</a:t>
                      </a:r>
                    </a:p>
                  </a:txBody>
                  <a:tcPr marL="91440" marR="91440" marT="45720" marB="45720">
                    <a:solidFill>
                      <a:srgbClr val="0B1F33"/>
                    </a:solidFill>
                  </a:tcPr>
                </a:tc>
                <a:tc>
                  <a:txBody>
                    <a:bodyPr/>
                    <a:lstStyle/>
                    <a:p>
                      <a:r>
                        <a:rPr sz="1500" b="1">
                          <a:solidFill>
                            <a:srgbClr val="FFFFFF"/>
                          </a:solidFill>
                          <a:latin typeface="Aptos"/>
                          <a:ea typeface="Aptos"/>
                          <a:cs typeface="Aptos"/>
                        </a:rPr>
                        <a:t>Grenze</a:t>
                      </a:r>
                    </a:p>
                  </a:txBody>
                  <a:tcPr marL="91440" marR="91440" marT="45720" marB="45720">
                    <a:solidFill>
                      <a:srgbClr val="0B1F33"/>
                    </a:solidFill>
                  </a:tcPr>
                </a:tc>
              </a:tr>
              <a:tr h="666750">
                <a:tc>
                  <a:txBody>
                    <a:bodyPr>
                      <a:normAutofit/>
                    </a:bodyPr>
                    <a:lstStyle/>
                    <a:p>
                      <a:r>
                        <a:rPr sz="1350">
                          <a:solidFill>
                            <a:srgbClr val="243B53"/>
                          </a:solidFill>
                          <a:latin typeface="Aptos"/>
                          <a:ea typeface="Aptos"/>
                          <a:cs typeface="Aptos"/>
                        </a:rPr>
                        <a:t>Execution Plan</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Operatoren, Schätzungen, Laufzeitdaten</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Momentaufnahme; Capture kann kosten</a:t>
                      </a:r>
                    </a:p>
                  </a:txBody>
                  <a:tcPr marL="91440" marR="91440" marT="45720" marB="45720">
                    <a:solidFill>
                      <a:srgbClr val="FFFFFF"/>
                    </a:solidFill>
                  </a:tcPr>
                </a:tc>
              </a:tr>
              <a:tr h="666750">
                <a:tc>
                  <a:txBody>
                    <a:bodyPr>
                      <a:normAutofit/>
                    </a:bodyPr>
                    <a:lstStyle/>
                    <a:p>
                      <a:r>
                        <a:rPr sz="1350">
                          <a:solidFill>
                            <a:srgbClr val="243B53"/>
                          </a:solidFill>
                          <a:latin typeface="Aptos"/>
                          <a:ea typeface="Aptos"/>
                          <a:cs typeface="Aptos"/>
                        </a:rPr>
                        <a:t>DMVs</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aktueller oder kumulierter Zustand</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Scope und Delta müssen stimmen</a:t>
                      </a:r>
                    </a:p>
                  </a:txBody>
                  <a:tcPr marL="91440" marR="91440" marT="45720" marB="45720">
                    <a:solidFill>
                      <a:srgbClr val="EDF2F7"/>
                    </a:solidFill>
                  </a:tcPr>
                </a:tc>
              </a:tr>
              <a:tr h="666750">
                <a:tc>
                  <a:txBody>
                    <a:bodyPr>
                      <a:normAutofit/>
                    </a:bodyPr>
                    <a:lstStyle/>
                    <a:p>
                      <a:r>
                        <a:rPr sz="1350">
                          <a:solidFill>
                            <a:srgbClr val="243B53"/>
                          </a:solidFill>
                          <a:latin typeface="Aptos"/>
                          <a:ea typeface="Aptos"/>
                          <a:cs typeface="Aptos"/>
                        </a:rPr>
                        <a:t>Query Store</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Historie von Query, Plan, Runtime und Waits</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Aggregation und Retention beachten</a:t>
                      </a:r>
                    </a:p>
                  </a:txBody>
                  <a:tcPr marL="91440" marR="91440" marT="45720" marB="45720">
                    <a:solidFill>
                      <a:srgbClr val="FFFFFF"/>
                    </a:solidFill>
                  </a:tcPr>
                </a:tc>
              </a:tr>
              <a:tr h="666750">
                <a:tc>
                  <a:txBody>
                    <a:bodyPr>
                      <a:normAutofit/>
                    </a:bodyPr>
                    <a:lstStyle/>
                    <a:p>
                      <a:r>
                        <a:rPr sz="1350">
                          <a:solidFill>
                            <a:srgbClr val="243B53"/>
                          </a:solidFill>
                          <a:latin typeface="Aptos"/>
                          <a:ea typeface="Aptos"/>
                          <a:cs typeface="Aptos"/>
                        </a:rPr>
                        <a:t>Extended Events</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gezielte Ereignisse und Korrelation</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Sessiondesign bestimmt Overhead</a:t>
                      </a:r>
                    </a:p>
                  </a:txBody>
                  <a:tcPr marL="91440" marR="91440" marT="45720" marB="45720">
                    <a:solidFill>
                      <a:srgbClr val="EDF2F7"/>
                    </a:solidFill>
                  </a:tcPr>
                </a:tc>
              </a:tr>
              <a:tr h="666750">
                <a:tc>
                  <a:txBody>
                    <a:bodyPr>
                      <a:normAutofit/>
                    </a:bodyPr>
                    <a:lstStyle/>
                    <a:p>
                      <a:r>
                        <a:rPr sz="1350">
                          <a:solidFill>
                            <a:srgbClr val="243B53"/>
                          </a:solidFill>
                          <a:latin typeface="Aptos"/>
                          <a:ea typeface="Aptos"/>
                          <a:cs typeface="Aptos"/>
                        </a:rPr>
                        <a:t>OS-/Storage-Metriken</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Host- und Geräteengpässe</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Datenbankbezug muss hergestellt werden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61358985"/>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39845A6C-5B8C-42F0-893D-E4737BD21BB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0 · EINORDNUNG</a:t>
            </a:r>
          </a:p>
        </p:txBody>
      </p:sp>
      <p:sp>
        <p:nvSpPr>
          <p:cNvPr id="2" name="slide-title">
            <a:extLst xmlns:a="http://schemas.openxmlformats.org/drawingml/2006/main">
              <a:ext uri="{FF2B5EF4-FFF2-40B4-BE49-F238E27FC236}">
                <a16:creationId xmlns:a16="http://schemas.microsoft.com/office/drawing/2014/main" id="{1BD11F76-780E-408E-B408-933ED63EDB83}"/>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Version und Compatibility Level steuern unterschiedliche Ebenen</a:t>
            </a:r>
          </a:p>
        </p:txBody>
      </p:sp>
      <p:sp>
        <p:nvSpPr>
          <p:cNvPr id="3" name="title-rule">
            <a:extLst xmlns:a="http://schemas.openxmlformats.org/drawingml/2006/main">
              <a:ext uri="{FF2B5EF4-FFF2-40B4-BE49-F238E27FC236}">
                <a16:creationId xmlns:a16="http://schemas.microsoft.com/office/drawing/2014/main" id="{1EFA9199-AE9E-4738-AB4F-A2F9B6D0B409}"/>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92435C4A-7EDE-4767-9FF9-0B1E7C6026E3}"/>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26744F7B-0675-449F-8A8E-0AA69786F1FA}"/>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 / 84</a:t>
            </a:r>
          </a:p>
        </p:txBody>
      </p:sp>
      <p:graphicFrame>
        <p:nvGraphicFramePr>
          <p:cNvPr id="12" name=""/>
          <p:cNvGraphicFramePr/>
          <p:nvPr/>
        </p:nvGraphicFramePr>
        <p:xfrm>
          <a:off xmlns:a="http://schemas.openxmlformats.org/drawingml/2006/main" x="609600" y="2171700"/>
          <a:ext xmlns:a="http://schemas.openxmlformats.org/drawingml/2006/main" cx="10668000" cy="2819400"/>
        </p:xfrm>
        <a:graphic xmlns:a="http://schemas.openxmlformats.org/drawingml/2006/main">
          <a:graphicData uri="http://schemas.openxmlformats.org/drawingml/2006/table">
            <a:tbl>
              <a:tblPr firstRow="1" bandRow="1"/>
              <a:tblGrid>
                <a:gridCol w="2800350"/>
                <a:gridCol w="3867150"/>
                <a:gridCol w="4000500"/>
              </a:tblGrid>
              <a:tr h="704850">
                <a:tc>
                  <a:txBody>
                    <a:bodyPr/>
                    <a:lstStyle/>
                    <a:p>
                      <a:r>
                        <a:rPr sz="1500" b="1">
                          <a:solidFill>
                            <a:srgbClr val="FFFFFF"/>
                          </a:solidFill>
                          <a:latin typeface="Aptos"/>
                          <a:ea typeface="Aptos"/>
                          <a:cs typeface="Aptos"/>
                        </a:rPr>
                        <a:t>Engine</a:t>
                      </a:r>
                    </a:p>
                  </a:txBody>
                  <a:tcPr marL="91440" marR="91440" marT="45720" marB="45720">
                    <a:solidFill>
                      <a:srgbClr val="0B1F33"/>
                    </a:solidFill>
                  </a:tcPr>
                </a:tc>
                <a:tc>
                  <a:txBody>
                    <a:bodyPr/>
                    <a:lstStyle/>
                    <a:p>
                      <a:r>
                        <a:rPr sz="1500" b="1">
                          <a:solidFill>
                            <a:srgbClr val="FFFFFF"/>
                          </a:solidFill>
                          <a:latin typeface="Aptos"/>
                          <a:ea typeface="Aptos"/>
                          <a:cs typeface="Aptos"/>
                        </a:rPr>
                        <a:t>typischer Compatibility Level</a:t>
                      </a:r>
                    </a:p>
                  </a:txBody>
                  <a:tcPr marL="91440" marR="91440" marT="45720" marB="45720">
                    <a:solidFill>
                      <a:srgbClr val="0B1F33"/>
                    </a:solidFill>
                  </a:tcPr>
                </a:tc>
                <a:tc>
                  <a:txBody>
                    <a:bodyPr/>
                    <a:lstStyle/>
                    <a:p>
                      <a:r>
                        <a:rPr sz="1500" b="1">
                          <a:solidFill>
                            <a:srgbClr val="FFFFFF"/>
                          </a:solidFill>
                          <a:latin typeface="Aptos"/>
                          <a:ea typeface="Aptos"/>
                          <a:cs typeface="Aptos"/>
                        </a:rPr>
                        <a:t>Beispiele</a:t>
                      </a:r>
                    </a:p>
                  </a:txBody>
                  <a:tcPr marL="91440" marR="91440" marT="45720" marB="45720">
                    <a:solidFill>
                      <a:srgbClr val="0B1F33"/>
                    </a:solidFill>
                  </a:tcPr>
                </a:tc>
              </a:tr>
              <a:tr h="704850">
                <a:tc>
                  <a:txBody>
                    <a:bodyPr>
                      <a:normAutofit/>
                    </a:bodyPr>
                    <a:lstStyle/>
                    <a:p>
                      <a:r>
                        <a:rPr sz="1350">
                          <a:solidFill>
                            <a:srgbClr val="243B53"/>
                          </a:solidFill>
                          <a:latin typeface="Aptos"/>
                          <a:ea typeface="Aptos"/>
                          <a:cs typeface="Aptos"/>
                        </a:rPr>
                        <a:t>SQL Server 2019</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150</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Table Variable Deferred Compilation, Scalar UDF Inlining, Batch Mode on Rowstore</a:t>
                      </a:r>
                    </a:p>
                  </a:txBody>
                  <a:tcPr marL="91440" marR="91440" marT="45720" marB="45720">
                    <a:solidFill>
                      <a:srgbClr val="FFFFFF"/>
                    </a:solidFill>
                  </a:tcPr>
                </a:tc>
              </a:tr>
              <a:tr h="704850">
                <a:tc>
                  <a:txBody>
                    <a:bodyPr>
                      <a:normAutofit/>
                    </a:bodyPr>
                    <a:lstStyle/>
                    <a:p>
                      <a:r>
                        <a:rPr sz="1350">
                          <a:solidFill>
                            <a:srgbClr val="243B53"/>
                          </a:solidFill>
                          <a:latin typeface="Aptos"/>
                          <a:ea typeface="Aptos"/>
                          <a:cs typeface="Aptos"/>
                        </a:rPr>
                        <a:t>SQL Server 2022</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160</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PSP Optimization, CE Feedback, DOP Feedback</a:t>
                      </a:r>
                    </a:p>
                  </a:txBody>
                  <a:tcPr marL="91440" marR="91440" marT="45720" marB="45720">
                    <a:solidFill>
                      <a:srgbClr val="EDF2F7"/>
                    </a:solidFill>
                  </a:tcPr>
                </a:tc>
              </a:tr>
              <a:tr h="704850">
                <a:tc>
                  <a:txBody>
                    <a:bodyPr>
                      <a:normAutofit/>
                    </a:bodyPr>
                    <a:lstStyle/>
                    <a:p>
                      <a:r>
                        <a:rPr sz="1350">
                          <a:solidFill>
                            <a:srgbClr val="243B53"/>
                          </a:solidFill>
                          <a:latin typeface="Aptos"/>
                          <a:ea typeface="Aptos"/>
                          <a:cs typeface="Aptos"/>
                        </a:rPr>
                        <a:t>SQL Server 2025</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170</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OPPO, PSP-Erweiterungen; Optimized Locking separat pro DB</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125020"/>
      </p:ext>
    </p:extLst>
  </p:cSld>
</p:sld>
</file>

<file path=ppt/slides/slide7.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section-number">
            <a:extLst xmlns:a="http://schemas.openxmlformats.org/drawingml/2006/main">
              <a:ext uri="{FF2B5EF4-FFF2-40B4-BE49-F238E27FC236}">
                <a16:creationId xmlns:a16="http://schemas.microsoft.com/office/drawing/2014/main" id="{30F85AA3-31CE-4303-9158-F47800087897}"/>
              </a:ext>
            </a:extLst>
          </p:cNvPr>
          <p:cNvSpPr>
            <a:spLocks xmlns:a="http://schemas.openxmlformats.org/drawingml/2006/main" noGrp="1"/>
          </p:cNvSpPr>
          <p:nvPr/>
        </p:nvSpPr>
        <p:spPr>
          <a:xfrm xmlns:a="http://schemas.openxmlformats.org/drawingml/2006/main">
            <a:off x="628650" y="60960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01</a:t>
            </a:r>
          </a:p>
        </p:txBody>
      </p:sp>
      <p:sp>
        <p:nvSpPr>
          <p:cNvPr id="2" name="section-rule">
            <a:extLst xmlns:a="http://schemas.openxmlformats.org/drawingml/2006/main">
              <a:ext uri="{FF2B5EF4-FFF2-40B4-BE49-F238E27FC236}">
                <a16:creationId xmlns:a16="http://schemas.microsoft.com/office/drawing/2014/main" id="{632BC269-A382-4D55-A239-7D12AA335470}"/>
              </a:ext>
            </a:extLst>
          </p:cNvPr>
          <p:cNvSpPr>
            <a:spLocks xmlns:a="http://schemas.openxmlformats.org/drawingml/2006/main" noGrp="1"/>
          </p:cNvSpPr>
          <p:nvPr/>
        </p:nvSpPr>
        <p:spPr>
          <a:xfrm xmlns:a="http://schemas.openxmlformats.org/drawingml/2006/main">
            <a:off x="628650" y="2228850"/>
            <a:ext cx="109347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3" name="section-title">
            <a:extLst xmlns:a="http://schemas.openxmlformats.org/drawingml/2006/main">
              <a:ext uri="{FF2B5EF4-FFF2-40B4-BE49-F238E27FC236}">
                <a16:creationId xmlns:a16="http://schemas.microsoft.com/office/drawing/2014/main" id="{D0890C3E-F7A1-4AC2-91D1-204531AFD6B4}"/>
              </a:ext>
            </a:extLst>
          </p:cNvPr>
          <p:cNvSpPr>
            <a:spLocks xmlns:a="http://schemas.openxmlformats.org/drawingml/2006/main" noGrp="1"/>
          </p:cNvSpPr>
          <p:nvPr/>
        </p:nvSpPr>
        <p:spPr>
          <a:xfrm xmlns:a="http://schemas.openxmlformats.org/drawingml/2006/main">
            <a:off x="628650" y="27051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Storage und Datenlayout</a:t>
            </a:r>
          </a:p>
        </p:txBody>
      </p:sp>
      <p:sp>
        <p:nvSpPr>
          <p:cNvPr id="4" name="section-subtitle">
            <a:extLst xmlns:a="http://schemas.openxmlformats.org/drawingml/2006/main">
              <a:ext uri="{FF2B5EF4-FFF2-40B4-BE49-F238E27FC236}">
                <a16:creationId xmlns:a16="http://schemas.microsoft.com/office/drawing/2014/main" id="{D55C9F91-6276-4582-B0F5-4E2846494098}"/>
              </a:ext>
            </a:extLst>
          </p:cNvPr>
          <p:cNvSpPr>
            <a:spLocks xmlns:a="http://schemas.openxmlformats.org/drawingml/2006/main" noGrp="1"/>
          </p:cNvSpPr>
          <p:nvPr/>
        </p:nvSpPr>
        <p:spPr>
          <a:xfrm xmlns:a="http://schemas.openxmlformats.org/drawingml/2006/main">
            <a:off x="628650" y="400050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Welche Arbeit entsteht, bevor ein Operator überhaupt eine Zeile verarbeiten kann?</a:t>
            </a:r>
          </a:p>
        </p:txBody>
      </p:sp>
      <p:sp>
        <p:nvSpPr>
          <p:cNvPr id="5" name="section-footer">
            <a:extLst xmlns:a="http://schemas.openxmlformats.org/drawingml/2006/main">
              <a:ext uri="{FF2B5EF4-FFF2-40B4-BE49-F238E27FC236}">
                <a16:creationId xmlns:a16="http://schemas.microsoft.com/office/drawing/2014/main" id="{B3A4A92D-F2B6-4D0D-BD4D-91FCAF1D98AB}"/>
              </a:ext>
            </a:extLst>
          </p:cNvPr>
          <p:cNvSpPr>
            <a:spLocks xmlns:a="http://schemas.openxmlformats.org/drawingml/2006/main" noGrp="1"/>
          </p:cNvSpPr>
          <p:nvPr/>
        </p:nvSpPr>
        <p:spPr>
          <a:xfrm xmlns:a="http://schemas.openxmlformats.org/drawingml/2006/main">
            <a:off x="628650" y="64198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494996832"/>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ACEC39CB-9113-4191-8681-45480ACA2DE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xmlns:a="http://schemas.openxmlformats.org/drawingml/2006/main">
              <a:ext uri="{FF2B5EF4-FFF2-40B4-BE49-F238E27FC236}">
                <a16:creationId xmlns:a16="http://schemas.microsoft.com/office/drawing/2014/main" id="{C9D19695-0D87-4BA7-810A-2D224DE66FEE}"/>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Data Files und Transaction Log erfüllen grundverschiedene Aufgaben</a:t>
            </a:r>
          </a:p>
        </p:txBody>
      </p:sp>
      <p:sp>
        <p:nvSpPr>
          <p:cNvPr id="3" name="title-rule">
            <a:extLst xmlns:a="http://schemas.openxmlformats.org/drawingml/2006/main">
              <a:ext uri="{FF2B5EF4-FFF2-40B4-BE49-F238E27FC236}">
                <a16:creationId xmlns:a16="http://schemas.microsoft.com/office/drawing/2014/main" id="{C7352C9B-404C-446A-976F-49D80E39C059}"/>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BC5DD8AE-14CC-45E6-8858-60007EC79896}"/>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D745C3B1-EEFB-4589-B3FF-5DD43CA2EFDC}"/>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 / 84</a:t>
            </a:r>
          </a:p>
        </p:txBody>
      </p:sp>
      <p:sp>
        <p:nvSpPr>
          <p:cNvPr id="6" name="left-title">
            <a:extLst xmlns:a="http://schemas.openxmlformats.org/drawingml/2006/main">
              <a:ext uri="{FF2B5EF4-FFF2-40B4-BE49-F238E27FC236}">
                <a16:creationId xmlns:a16="http://schemas.microsoft.com/office/drawing/2014/main" id="{53CF84EC-A0DA-4BC5-8A43-4267392ABD15}"/>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Data Files</a:t>
            </a:r>
          </a:p>
        </p:txBody>
      </p:sp>
      <p:sp>
        <p:nvSpPr>
          <p:cNvPr id="7" name="right-title">
            <a:extLst xmlns:a="http://schemas.openxmlformats.org/drawingml/2006/main">
              <a:ext uri="{FF2B5EF4-FFF2-40B4-BE49-F238E27FC236}">
                <a16:creationId xmlns:a16="http://schemas.microsoft.com/office/drawing/2014/main" id="{C42397A9-65EC-4C01-B923-BD6275162EC7}"/>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Transaction Log</a:t>
            </a:r>
          </a:p>
        </p:txBody>
      </p:sp>
      <p:sp>
        <p:nvSpPr>
          <p:cNvPr id="8" name="middle-rule">
            <a:extLst xmlns:a="http://schemas.openxmlformats.org/drawingml/2006/main">
              <a:ext uri="{FF2B5EF4-FFF2-40B4-BE49-F238E27FC236}">
                <a16:creationId xmlns:a16="http://schemas.microsoft.com/office/drawing/2014/main" id="{DAD8E3FC-9015-4C0B-BBB4-D46B2201B269}"/>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4239C275-E575-4E7A-896D-B9459C314D1F}"/>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Pages für Tabellen und Indizes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Buffer Pool vermittelt zwischen Storage und Execution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Random und sequenzielle Zugriffsmuster möglich</a:t>
            </a:r>
          </a:p>
        </p:txBody>
      </p:sp>
      <p:sp>
        <p:nvSpPr>
          <p:cNvPr id="10" name="right-points">
            <a:extLst xmlns:a="http://schemas.openxmlformats.org/drawingml/2006/main">
              <a:ext uri="{FF2B5EF4-FFF2-40B4-BE49-F238E27FC236}">
                <a16:creationId xmlns:a16="http://schemas.microsoft.com/office/drawing/2014/main" id="{DE15672F-E89E-49A8-84A3-82D025282925}"/>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sequenzielle Log Records für Recovery</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Write-ahead logging vor Datenpage-Schreibzugriff</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mehrere Logfiles sind kein Performance-Striping</a:t>
            </a:r>
          </a:p>
        </p:txBody>
      </p:sp>
      <p:sp>
        <p:nvSpPr>
          <p:cNvPr id="11" name="conclusion-bg">
            <a:extLst xmlns:a="http://schemas.openxmlformats.org/drawingml/2006/main">
              <a:ext uri="{FF2B5EF4-FFF2-40B4-BE49-F238E27FC236}">
                <a16:creationId xmlns:a16="http://schemas.microsoft.com/office/drawing/2014/main" id="{32C0BB9C-6877-4996-B5BA-A32FD992BFE7}"/>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C7C92423-6D05-438B-A8FE-89F20FF8E536}"/>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Dateirollen getrennt dimensionieren und messen.</a:t>
            </a:r>
          </a:p>
        </p:txBody>
      </p:sp>
    </p:spTree>
    <p:extLst>
      <p:ext uri="{BB962C8B-B14F-4D97-AF65-F5344CB8AC3E}">
        <p14:creationId xmlns:p14="http://schemas.microsoft.com/office/powerpoint/2010/main" val="800600932"/>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64DA0543-541B-4833-B253-9CE1998E013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xmlns:a="http://schemas.openxmlformats.org/drawingml/2006/main">
              <a:ext uri="{FF2B5EF4-FFF2-40B4-BE49-F238E27FC236}">
                <a16:creationId xmlns:a16="http://schemas.microsoft.com/office/drawing/2014/main" id="{40F47799-062C-453F-A709-DF3417A9A2B5}"/>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Filegroups organisieren Allocation – sie erzeugen keine automatische I/O-Leistung</a:t>
            </a:r>
          </a:p>
        </p:txBody>
      </p:sp>
      <p:sp>
        <p:nvSpPr>
          <p:cNvPr id="3" name="title-rule">
            <a:extLst xmlns:a="http://schemas.openxmlformats.org/drawingml/2006/main">
              <a:ext uri="{FF2B5EF4-FFF2-40B4-BE49-F238E27FC236}">
                <a16:creationId xmlns:a16="http://schemas.microsoft.com/office/drawing/2014/main" id="{DA360922-D4B8-4597-A997-D86D5CB5AD2F}"/>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8DA8BBAA-185A-4F13-BB0C-8C872B1E6566}"/>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8C81D29C-75E8-41CF-8BBF-351E32C723BC}"/>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9 / 84</a:t>
            </a:r>
          </a:p>
        </p:txBody>
      </p:sp>
      <p:sp>
        <p:nvSpPr>
          <p:cNvPr id="6" name="lead">
            <a:extLst xmlns:a="http://schemas.openxmlformats.org/drawingml/2006/main">
              <a:ext uri="{FF2B5EF4-FFF2-40B4-BE49-F238E27FC236}">
                <a16:creationId xmlns:a16="http://schemas.microsoft.com/office/drawing/2014/main" id="{4425BCA6-2A82-484F-9AF6-27638C134CBA}"/>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Ein Objekt wird über seine Partitionen und Allocation Units einer Filegroup zugeordnet; die Filegroup verteilt Allocation auf ihre Data Files.</a:t>
            </a:r>
          </a:p>
        </p:txBody>
      </p:sp>
      <p:sp>
        <p:nvSpPr>
          <p:cNvPr id="7" name="lead-accent">
            <a:extLst xmlns:a="http://schemas.openxmlformats.org/drawingml/2006/main">
              <a:ext uri="{FF2B5EF4-FFF2-40B4-BE49-F238E27FC236}">
                <a16:creationId xmlns:a16="http://schemas.microsoft.com/office/drawing/2014/main" id="{6DAFFFFF-1934-4CE4-9FB8-E883119B27DE}"/>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81CB1456-CAFF-4B87-A9E5-28CC0B586CBF}"/>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Mehrere Files helfen nur bei tatsächlich geeigneten Storagepfaden und gleichmäßiger Konfiguration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Filegroups unterstützen Administration, Restore-Strategien und Placement</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Parallelität entsteht im Execution Plan, nicht durch den Namen einer Filegroup</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Die PRIMARY-Filegroup muss nicht pauschal frei von Userdaten sein</a:t>
            </a:r>
          </a:p>
        </p:txBody>
      </p:sp>
    </p:spTree>
    <p:extLst>
      <p:ext uri="{BB962C8B-B14F-4D97-AF65-F5344CB8AC3E}">
        <p14:creationId xmlns:p14="http://schemas.microsoft.com/office/powerpoint/2010/main" val="436094039"/>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8BA12383-24E3-4097-9E70-3D449D74491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xmlns:a="http://schemas.openxmlformats.org/drawingml/2006/main">
              <a:ext uri="{FF2B5EF4-FFF2-40B4-BE49-F238E27FC236}">
                <a16:creationId xmlns:a16="http://schemas.microsoft.com/office/drawing/2014/main" id="{A35B0F10-3670-4BCE-AA1D-A0B365A6B3F5}"/>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SQL Server adressiert Data Files in 8-KiB-Pages</a:t>
            </a:r>
          </a:p>
        </p:txBody>
      </p:sp>
      <p:sp>
        <p:nvSpPr>
          <p:cNvPr id="3" name="title-rule">
            <a:extLst xmlns:a="http://schemas.openxmlformats.org/drawingml/2006/main">
              <a:ext uri="{FF2B5EF4-FFF2-40B4-BE49-F238E27FC236}">
                <a16:creationId xmlns:a16="http://schemas.microsoft.com/office/drawing/2014/main" id="{387CFF48-DD04-4885-B47D-7FF403E3956F}"/>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1DD37BC1-8292-4B24-BA66-F103E2EBF4BC}"/>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E2DF058B-1B57-4AB3-9C17-0941169AAEA7}"/>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10 / 84</a:t>
            </a:r>
          </a:p>
        </p:txBody>
      </p:sp>
      <p:sp>
        <p:nvSpPr>
          <p:cNvPr id="6" name="hierarchy">
            <a:extLst xmlns:a="http://schemas.openxmlformats.org/drawingml/2006/main">
              <a:ext uri="{FF2B5EF4-FFF2-40B4-BE49-F238E27FC236}">
                <a16:creationId xmlns:a16="http://schemas.microsoft.com/office/drawing/2014/main" id="{B077CBE6-1E85-4431-9D2C-CA3201FAEE87}"/>
              </a:ext>
            </a:extLst>
          </p:cNvPr>
          <p:cNvSpPr>
            <a:spLocks xmlns:a="http://schemas.openxmlformats.org/drawingml/2006/main" noGrp="1"/>
          </p:cNvSpPr>
          <p:nvPr/>
        </p:nvSpPr>
        <p:spPr>
          <a:xfrm xmlns:a="http://schemas.openxmlformats.org/drawingml/2006/main">
            <a:off x="609600" y="20955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Data File  →  Extent  →  Page  →  Row</a:t>
            </a:r>
          </a:p>
        </p:txBody>
      </p:sp>
      <p:sp>
        <p:nvSpPr>
          <p:cNvPr id="7" name="page-0">
            <a:extLst xmlns:a="http://schemas.openxmlformats.org/drawingml/2006/main">
              <a:ext uri="{FF2B5EF4-FFF2-40B4-BE49-F238E27FC236}">
                <a16:creationId xmlns:a16="http://schemas.microsoft.com/office/drawing/2014/main" id="{92EF5F29-C5C3-43F2-AE35-B200F18238C5}"/>
              </a:ext>
            </a:extLst>
          </p:cNvPr>
          <p:cNvSpPr>
            <a:spLocks xmlns:a="http://schemas.openxmlformats.org/drawingml/2006/main" noGrp="1"/>
          </p:cNvSpPr>
          <p:nvPr/>
        </p:nvSpPr>
        <p:spPr>
          <a:xfrm xmlns:a="http://schemas.openxmlformats.org/drawingml/2006/main">
            <a:off x="1028700" y="3048000"/>
            <a:ext cx="1000125"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D9E2EC"/>
            </a:solidFill>
            <a:prstDash val="solid"/>
          </a:ln>
        </p:spPr>
      </p:sp>
      <p:sp>
        <p:nvSpPr>
          <p:cNvPr id="8" name="page-text-0">
            <a:extLst xmlns:a="http://schemas.openxmlformats.org/drawingml/2006/main">
              <a:ext uri="{FF2B5EF4-FFF2-40B4-BE49-F238E27FC236}">
                <a16:creationId xmlns:a16="http://schemas.microsoft.com/office/drawing/2014/main" id="{87FE6043-DFE5-4E5D-8021-56225EFD9A5A}"/>
              </a:ext>
            </a:extLst>
          </p:cNvPr>
          <p:cNvSpPr>
            <a:spLocks xmlns:a="http://schemas.openxmlformats.org/drawingml/2006/main" noGrp="1"/>
          </p:cNvSpPr>
          <p:nvPr/>
        </p:nvSpPr>
        <p:spPr>
          <a:xfrm xmlns:a="http://schemas.openxmlformats.org/drawingml/2006/main">
            <a:off x="1028700" y="3429000"/>
            <a:ext cx="1000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1</a:t>
            </a:r>
          </a:p>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9" name="page-1">
            <a:extLst xmlns:a="http://schemas.openxmlformats.org/drawingml/2006/main">
              <a:ext uri="{FF2B5EF4-FFF2-40B4-BE49-F238E27FC236}">
                <a16:creationId xmlns:a16="http://schemas.microsoft.com/office/drawing/2014/main" id="{6FA0058D-6CFA-41FB-9C39-FB4227AABF69}"/>
              </a:ext>
            </a:extLst>
          </p:cNvPr>
          <p:cNvSpPr>
            <a:spLocks xmlns:a="http://schemas.openxmlformats.org/drawingml/2006/main" noGrp="1"/>
          </p:cNvSpPr>
          <p:nvPr/>
        </p:nvSpPr>
        <p:spPr>
          <a:xfrm xmlns:a="http://schemas.openxmlformats.org/drawingml/2006/main">
            <a:off x="2200275" y="3048000"/>
            <a:ext cx="1000125"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D9E2EC"/>
            </a:solidFill>
            <a:prstDash val="solid"/>
          </a:ln>
        </p:spPr>
      </p:sp>
      <p:sp>
        <p:nvSpPr>
          <p:cNvPr id="10" name="page-text-1">
            <a:extLst xmlns:a="http://schemas.openxmlformats.org/drawingml/2006/main">
              <a:ext uri="{FF2B5EF4-FFF2-40B4-BE49-F238E27FC236}">
                <a16:creationId xmlns:a16="http://schemas.microsoft.com/office/drawing/2014/main" id="{E3B2827D-8EF4-4B40-B88B-65BD957CA56E}"/>
              </a:ext>
            </a:extLst>
          </p:cNvPr>
          <p:cNvSpPr>
            <a:spLocks xmlns:a="http://schemas.openxmlformats.org/drawingml/2006/main" noGrp="1"/>
          </p:cNvSpPr>
          <p:nvPr/>
        </p:nvSpPr>
        <p:spPr>
          <a:xfrm xmlns:a="http://schemas.openxmlformats.org/drawingml/2006/main">
            <a:off x="2200275" y="3429000"/>
            <a:ext cx="1000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2</a:t>
            </a:r>
          </a:p>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11" name="page-2">
            <a:extLst xmlns:a="http://schemas.openxmlformats.org/drawingml/2006/main">
              <a:ext uri="{FF2B5EF4-FFF2-40B4-BE49-F238E27FC236}">
                <a16:creationId xmlns:a16="http://schemas.microsoft.com/office/drawing/2014/main" id="{A94B5F55-FE53-45D7-9939-33E27D53E345}"/>
              </a:ext>
            </a:extLst>
          </p:cNvPr>
          <p:cNvSpPr>
            <a:spLocks xmlns:a="http://schemas.openxmlformats.org/drawingml/2006/main" noGrp="1"/>
          </p:cNvSpPr>
          <p:nvPr/>
        </p:nvSpPr>
        <p:spPr>
          <a:xfrm xmlns:a="http://schemas.openxmlformats.org/drawingml/2006/main">
            <a:off x="3371850" y="3048000"/>
            <a:ext cx="1000125"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D9E2EC"/>
            </a:solidFill>
            <a:prstDash val="solid"/>
          </a:ln>
        </p:spPr>
      </p:sp>
      <p:sp>
        <p:nvSpPr>
          <p:cNvPr id="12" name="page-text-2">
            <a:extLst xmlns:a="http://schemas.openxmlformats.org/drawingml/2006/main">
              <a:ext uri="{FF2B5EF4-FFF2-40B4-BE49-F238E27FC236}">
                <a16:creationId xmlns:a16="http://schemas.microsoft.com/office/drawing/2014/main" id="{6F574431-F676-429C-AD25-C4932F025D32}"/>
              </a:ext>
            </a:extLst>
          </p:cNvPr>
          <p:cNvSpPr>
            <a:spLocks xmlns:a="http://schemas.openxmlformats.org/drawingml/2006/main" noGrp="1"/>
          </p:cNvSpPr>
          <p:nvPr/>
        </p:nvSpPr>
        <p:spPr>
          <a:xfrm xmlns:a="http://schemas.openxmlformats.org/drawingml/2006/main">
            <a:off x="3371850" y="3429000"/>
            <a:ext cx="1000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3</a:t>
            </a:r>
          </a:p>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13" name="page-3">
            <a:extLst xmlns:a="http://schemas.openxmlformats.org/drawingml/2006/main">
              <a:ext uri="{FF2B5EF4-FFF2-40B4-BE49-F238E27FC236}">
                <a16:creationId xmlns:a16="http://schemas.microsoft.com/office/drawing/2014/main" id="{32EFEB45-05E9-451E-A982-AAFE6D55B2BB}"/>
              </a:ext>
            </a:extLst>
          </p:cNvPr>
          <p:cNvSpPr>
            <a:spLocks xmlns:a="http://schemas.openxmlformats.org/drawingml/2006/main" noGrp="1"/>
          </p:cNvSpPr>
          <p:nvPr/>
        </p:nvSpPr>
        <p:spPr>
          <a:xfrm xmlns:a="http://schemas.openxmlformats.org/drawingml/2006/main">
            <a:off x="4543425" y="3048000"/>
            <a:ext cx="1000125" cy="1428750"/>
          </a:xfrm>
          <a:prstGeom xmlns:a="http://schemas.openxmlformats.org/drawingml/2006/main" prst="rect">
            <a:avLst/>
          </a:prstGeom>
          <a:solidFill xmlns:a="http://schemas.openxmlformats.org/drawingml/2006/main">
            <a:srgbClr val="F4A261"/>
          </a:solidFill>
          <a:ln xmlns:a="http://schemas.openxmlformats.org/drawingml/2006/main" w="19050">
            <a:solidFill>
              <a:srgbClr val="D9E2EC"/>
            </a:solidFill>
            <a:prstDash val="solid"/>
          </a:ln>
        </p:spPr>
      </p:sp>
      <p:sp>
        <p:nvSpPr>
          <p:cNvPr id="14" name="page-text-3">
            <a:extLst xmlns:a="http://schemas.openxmlformats.org/drawingml/2006/main">
              <a:ext uri="{FF2B5EF4-FFF2-40B4-BE49-F238E27FC236}">
                <a16:creationId xmlns:a16="http://schemas.microsoft.com/office/drawing/2014/main" id="{3694C2A5-24F4-40B5-829F-D4C0B09A8CF5}"/>
              </a:ext>
            </a:extLst>
          </p:cNvPr>
          <p:cNvSpPr>
            <a:spLocks xmlns:a="http://schemas.openxmlformats.org/drawingml/2006/main" noGrp="1"/>
          </p:cNvSpPr>
          <p:nvPr/>
        </p:nvSpPr>
        <p:spPr>
          <a:xfrm xmlns:a="http://schemas.openxmlformats.org/drawingml/2006/main">
            <a:off x="4543425" y="3429000"/>
            <a:ext cx="1000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i="0">
                <a:solidFill>
                  <a:srgbClr val="0B1F33"/>
                </a:solidFill>
                <a:latin typeface="Aptos"/>
                <a:ea typeface="Aptos"/>
                <a:cs typeface="Aptos"/>
              </a:defRPr>
            </a:pPr>
            <a:r>
              <a:rPr sz="1500" b="1" i="0">
                <a:solidFill>
                  <a:srgbClr val="0B1F33"/>
                </a:solidFill>
                <a:latin typeface="Aptos"/>
                <a:ea typeface="Aptos"/>
                <a:cs typeface="Aptos"/>
              </a:rPr>
              <a:t>Page 4</a:t>
            </a:r>
          </a:p>
          <a:p xmlns:a="http://schemas.openxmlformats.org/drawingml/2006/main">
            <a:pPr algn="ctr">
              <a:lnSpc>
                <a:spcPct val="105000"/>
              </a:lnSpc>
              <a:buNone/>
              <a:defRPr sz="1500" b="1" i="0">
                <a:solidFill>
                  <a:srgbClr val="0B1F33"/>
                </a:solidFill>
                <a:latin typeface="Aptos"/>
                <a:ea typeface="Aptos"/>
                <a:cs typeface="Aptos"/>
              </a:defRPr>
            </a:pPr>
            <a:r>
              <a:rPr sz="1500" b="1" i="0">
                <a:solidFill>
                  <a:srgbClr val="0B1F33"/>
                </a:solidFill>
                <a:latin typeface="Aptos"/>
                <a:ea typeface="Aptos"/>
                <a:cs typeface="Aptos"/>
              </a:rPr>
              <a:t>8 KiB</a:t>
            </a:r>
          </a:p>
        </p:txBody>
      </p:sp>
      <p:sp>
        <p:nvSpPr>
          <p:cNvPr id="15" name="page-4">
            <a:extLst xmlns:a="http://schemas.openxmlformats.org/drawingml/2006/main">
              <a:ext uri="{FF2B5EF4-FFF2-40B4-BE49-F238E27FC236}">
                <a16:creationId xmlns:a16="http://schemas.microsoft.com/office/drawing/2014/main" id="{7D64CAC5-7BD7-417C-ACF8-EBCCFB6872AB}"/>
              </a:ext>
            </a:extLst>
          </p:cNvPr>
          <p:cNvSpPr>
            <a:spLocks xmlns:a="http://schemas.openxmlformats.org/drawingml/2006/main" noGrp="1"/>
          </p:cNvSpPr>
          <p:nvPr/>
        </p:nvSpPr>
        <p:spPr>
          <a:xfrm xmlns:a="http://schemas.openxmlformats.org/drawingml/2006/main">
            <a:off x="5715000" y="3048000"/>
            <a:ext cx="1000125"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D9E2EC"/>
            </a:solidFill>
            <a:prstDash val="solid"/>
          </a:ln>
        </p:spPr>
      </p:sp>
      <p:sp>
        <p:nvSpPr>
          <p:cNvPr id="16" name="page-text-4">
            <a:extLst xmlns:a="http://schemas.openxmlformats.org/drawingml/2006/main">
              <a:ext uri="{FF2B5EF4-FFF2-40B4-BE49-F238E27FC236}">
                <a16:creationId xmlns:a16="http://schemas.microsoft.com/office/drawing/2014/main" id="{5CD56B44-5E00-43FF-B663-51D602D57711}"/>
              </a:ext>
            </a:extLst>
          </p:cNvPr>
          <p:cNvSpPr>
            <a:spLocks xmlns:a="http://schemas.openxmlformats.org/drawingml/2006/main" noGrp="1"/>
          </p:cNvSpPr>
          <p:nvPr/>
        </p:nvSpPr>
        <p:spPr>
          <a:xfrm xmlns:a="http://schemas.openxmlformats.org/drawingml/2006/main">
            <a:off x="5715000" y="3429000"/>
            <a:ext cx="1000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5</a:t>
            </a:r>
          </a:p>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17" name="page-5">
            <a:extLst xmlns:a="http://schemas.openxmlformats.org/drawingml/2006/main">
              <a:ext uri="{FF2B5EF4-FFF2-40B4-BE49-F238E27FC236}">
                <a16:creationId xmlns:a16="http://schemas.microsoft.com/office/drawing/2014/main" id="{FAE20B43-99D6-40E7-B2D4-7B65CAE434B6}"/>
              </a:ext>
            </a:extLst>
          </p:cNvPr>
          <p:cNvSpPr>
            <a:spLocks xmlns:a="http://schemas.openxmlformats.org/drawingml/2006/main" noGrp="1"/>
          </p:cNvSpPr>
          <p:nvPr/>
        </p:nvSpPr>
        <p:spPr>
          <a:xfrm xmlns:a="http://schemas.openxmlformats.org/drawingml/2006/main">
            <a:off x="6886575" y="3048000"/>
            <a:ext cx="1000125"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D9E2EC"/>
            </a:solidFill>
            <a:prstDash val="solid"/>
          </a:ln>
        </p:spPr>
      </p:sp>
      <p:sp>
        <p:nvSpPr>
          <p:cNvPr id="18" name="page-text-5">
            <a:extLst xmlns:a="http://schemas.openxmlformats.org/drawingml/2006/main">
              <a:ext uri="{FF2B5EF4-FFF2-40B4-BE49-F238E27FC236}">
                <a16:creationId xmlns:a16="http://schemas.microsoft.com/office/drawing/2014/main" id="{7471C3DC-EA4A-4106-B9A5-F10D75888DEC}"/>
              </a:ext>
            </a:extLst>
          </p:cNvPr>
          <p:cNvSpPr>
            <a:spLocks xmlns:a="http://schemas.openxmlformats.org/drawingml/2006/main" noGrp="1"/>
          </p:cNvSpPr>
          <p:nvPr/>
        </p:nvSpPr>
        <p:spPr>
          <a:xfrm xmlns:a="http://schemas.openxmlformats.org/drawingml/2006/main">
            <a:off x="6886575" y="3429000"/>
            <a:ext cx="1000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6</a:t>
            </a:r>
          </a:p>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19" name="page-6">
            <a:extLst xmlns:a="http://schemas.openxmlformats.org/drawingml/2006/main">
              <a:ext uri="{FF2B5EF4-FFF2-40B4-BE49-F238E27FC236}">
                <a16:creationId xmlns:a16="http://schemas.microsoft.com/office/drawing/2014/main" id="{A2A049D4-9575-401E-9CB9-F6A39437CF45}"/>
              </a:ext>
            </a:extLst>
          </p:cNvPr>
          <p:cNvSpPr>
            <a:spLocks xmlns:a="http://schemas.openxmlformats.org/drawingml/2006/main" noGrp="1"/>
          </p:cNvSpPr>
          <p:nvPr/>
        </p:nvSpPr>
        <p:spPr>
          <a:xfrm xmlns:a="http://schemas.openxmlformats.org/drawingml/2006/main">
            <a:off x="8058150" y="3048000"/>
            <a:ext cx="1000125"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D9E2EC"/>
            </a:solidFill>
            <a:prstDash val="solid"/>
          </a:ln>
        </p:spPr>
      </p:sp>
      <p:sp>
        <p:nvSpPr>
          <p:cNvPr id="20" name="page-text-6">
            <a:extLst xmlns:a="http://schemas.openxmlformats.org/drawingml/2006/main">
              <a:ext uri="{FF2B5EF4-FFF2-40B4-BE49-F238E27FC236}">
                <a16:creationId xmlns:a16="http://schemas.microsoft.com/office/drawing/2014/main" id="{D881FB9B-8669-452C-BBB6-8578A35A457D}"/>
              </a:ext>
            </a:extLst>
          </p:cNvPr>
          <p:cNvSpPr>
            <a:spLocks xmlns:a="http://schemas.openxmlformats.org/drawingml/2006/main" noGrp="1"/>
          </p:cNvSpPr>
          <p:nvPr/>
        </p:nvSpPr>
        <p:spPr>
          <a:xfrm xmlns:a="http://schemas.openxmlformats.org/drawingml/2006/main">
            <a:off x="8058150" y="3429000"/>
            <a:ext cx="1000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7</a:t>
            </a:r>
          </a:p>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21" name="page-7">
            <a:extLst xmlns:a="http://schemas.openxmlformats.org/drawingml/2006/main">
              <a:ext uri="{FF2B5EF4-FFF2-40B4-BE49-F238E27FC236}">
                <a16:creationId xmlns:a16="http://schemas.microsoft.com/office/drawing/2014/main" id="{682D9E6B-1920-4033-90C6-54E47B62A69E}"/>
              </a:ext>
            </a:extLst>
          </p:cNvPr>
          <p:cNvSpPr>
            <a:spLocks xmlns:a="http://schemas.openxmlformats.org/drawingml/2006/main" noGrp="1"/>
          </p:cNvSpPr>
          <p:nvPr/>
        </p:nvSpPr>
        <p:spPr>
          <a:xfrm xmlns:a="http://schemas.openxmlformats.org/drawingml/2006/main">
            <a:off x="9229725" y="3048000"/>
            <a:ext cx="1000125"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D9E2EC"/>
            </a:solidFill>
            <a:prstDash val="solid"/>
          </a:ln>
        </p:spPr>
      </p:sp>
      <p:sp>
        <p:nvSpPr>
          <p:cNvPr id="22" name="page-text-7">
            <a:extLst xmlns:a="http://schemas.openxmlformats.org/drawingml/2006/main">
              <a:ext uri="{FF2B5EF4-FFF2-40B4-BE49-F238E27FC236}">
                <a16:creationId xmlns:a16="http://schemas.microsoft.com/office/drawing/2014/main" id="{051E9C27-B9D5-4BB7-8713-AB8A5A3C7D89}"/>
              </a:ext>
            </a:extLst>
          </p:cNvPr>
          <p:cNvSpPr>
            <a:spLocks xmlns:a="http://schemas.openxmlformats.org/drawingml/2006/main" noGrp="1"/>
          </p:cNvSpPr>
          <p:nvPr/>
        </p:nvSpPr>
        <p:spPr>
          <a:xfrm xmlns:a="http://schemas.openxmlformats.org/drawingml/2006/main">
            <a:off x="9229725" y="3429000"/>
            <a:ext cx="1000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Page 8</a:t>
            </a:r>
          </a:p>
          <a:p xmlns:a="http://schemas.openxmlformats.org/drawingml/2006/main">
            <a:pPr algn="ctr">
              <a:lnSpc>
                <a:spcPct val="105000"/>
              </a:lnSpc>
              <a:buNone/>
              <a:defRPr sz="1500" b="1" i="0">
                <a:solidFill>
                  <a:srgbClr val="102A43"/>
                </a:solidFill>
                <a:latin typeface="Aptos"/>
                <a:ea typeface="Aptos"/>
                <a:cs typeface="Aptos"/>
              </a:defRPr>
            </a:pPr>
            <a:r>
              <a:rPr sz="1500" b="1" i="0">
                <a:solidFill>
                  <a:srgbClr val="102A43"/>
                </a:solidFill>
                <a:latin typeface="Aptos"/>
                <a:ea typeface="Aptos"/>
                <a:cs typeface="Aptos"/>
              </a:rPr>
              <a:t>8 KiB</a:t>
            </a:r>
          </a:p>
        </p:txBody>
      </p:sp>
      <p:sp>
        <p:nvSpPr>
          <p:cNvPr id="23" name="extent-bracket">
            <a:extLst xmlns:a="http://schemas.openxmlformats.org/drawingml/2006/main">
              <a:ext uri="{FF2B5EF4-FFF2-40B4-BE49-F238E27FC236}">
                <a16:creationId xmlns:a16="http://schemas.microsoft.com/office/drawing/2014/main" id="{6FFB374E-2B6A-4222-9726-E0124FEC18C3}"/>
              </a:ext>
            </a:extLst>
          </p:cNvPr>
          <p:cNvSpPr>
            <a:spLocks xmlns:a="http://schemas.openxmlformats.org/drawingml/2006/main" noGrp="1"/>
          </p:cNvSpPr>
          <p:nvPr/>
        </p:nvSpPr>
        <p:spPr>
          <a:xfrm xmlns:a="http://schemas.openxmlformats.org/drawingml/2006/main">
            <a:off x="952500" y="4762500"/>
            <a:ext cx="9315450" cy="571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24" name="extent-label">
            <a:extLst xmlns:a="http://schemas.openxmlformats.org/drawingml/2006/main">
              <a:ext uri="{FF2B5EF4-FFF2-40B4-BE49-F238E27FC236}">
                <a16:creationId xmlns:a16="http://schemas.microsoft.com/office/drawing/2014/main" id="{0428897B-3721-4BEC-99A2-4910A4C9F153}"/>
              </a:ext>
            </a:extLst>
          </p:cNvPr>
          <p:cNvSpPr>
            <a:spLocks xmlns:a="http://schemas.openxmlformats.org/drawingml/2006/main" noGrp="1"/>
          </p:cNvSpPr>
          <p:nvPr/>
        </p:nvSpPr>
        <p:spPr>
          <a:xfrm xmlns:a="http://schemas.openxmlformats.org/drawingml/2006/main">
            <a:off x="2266950" y="50101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i="0">
                <a:solidFill>
                  <a:srgbClr val="102A43"/>
                </a:solidFill>
                <a:latin typeface="Aptos"/>
                <a:ea typeface="Aptos"/>
                <a:cs typeface="Aptos"/>
              </a:defRPr>
            </a:pPr>
            <a:r>
              <a:rPr sz="1800" b="1" i="0">
                <a:solidFill>
                  <a:srgbClr val="102A43"/>
                </a:solidFill>
                <a:latin typeface="Aptos"/>
                <a:ea typeface="Aptos"/>
                <a:cs typeface="Aptos"/>
              </a:rPr>
              <a:t>1 Extent = 8 physisch zusammenhängende Pages = 64 KiB</a:t>
            </a:r>
          </a:p>
        </p:txBody>
      </p:sp>
    </p:spTree>
    <p:extLst>
      <p:ext uri="{BB962C8B-B14F-4D97-AF65-F5344CB8AC3E}">
        <p14:creationId xmlns:p14="http://schemas.microsoft.com/office/powerpoint/2010/main" val="1130768617"/>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60676373-CF57-430D-BE08-FF4B32BCD7F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xmlns:a="http://schemas.openxmlformats.org/drawingml/2006/main">
              <a:ext uri="{FF2B5EF4-FFF2-40B4-BE49-F238E27FC236}">
                <a16:creationId xmlns:a16="http://schemas.microsoft.com/office/drawing/2014/main" id="{4E45BAB8-7C93-45BB-9207-818B34D8191A}"/>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Der Row-Aufbau erklärt, warum Datentypen direkt I/O-Kosten beeinflussen</a:t>
            </a:r>
          </a:p>
        </p:txBody>
      </p:sp>
      <p:sp>
        <p:nvSpPr>
          <p:cNvPr id="3" name="title-rule">
            <a:extLst xmlns:a="http://schemas.openxmlformats.org/drawingml/2006/main">
              <a:ext uri="{FF2B5EF4-FFF2-40B4-BE49-F238E27FC236}">
                <a16:creationId xmlns:a16="http://schemas.microsoft.com/office/drawing/2014/main" id="{5603E758-C97F-43E5-8795-6F609A605812}"/>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BDCCB183-864A-4DA7-97D5-F60D99FB25BD}"/>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DC02AD68-800A-4778-A404-08739D1ECD8B}"/>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11 / 84</a:t>
            </a:r>
          </a:p>
        </p:txBody>
      </p:sp>
      <p:sp>
        <p:nvSpPr>
          <p:cNvPr id="6" name="row-part-0">
            <a:extLst xmlns:a="http://schemas.openxmlformats.org/drawingml/2006/main">
              <a:ext uri="{FF2B5EF4-FFF2-40B4-BE49-F238E27FC236}">
                <a16:creationId xmlns:a16="http://schemas.microsoft.com/office/drawing/2014/main" id="{3DDB72EE-0A42-45BD-B580-9FE680F652D6}"/>
              </a:ext>
            </a:extLst>
          </p:cNvPr>
          <p:cNvSpPr>
            <a:spLocks xmlns:a="http://schemas.openxmlformats.org/drawingml/2006/main" noGrp="1"/>
          </p:cNvSpPr>
          <p:nvPr/>
        </p:nvSpPr>
        <p:spPr>
          <a:xfrm xmlns:a="http://schemas.openxmlformats.org/drawingml/2006/main">
            <a:off x="781050" y="3028950"/>
            <a:ext cx="1190625" cy="1466850"/>
          </a:xfrm>
          <a:prstGeom xmlns:a="http://schemas.openxmlformats.org/drawingml/2006/main" prst="rect">
            <a:avLst/>
          </a:prstGeom>
          <a:solidFill xmlns:a="http://schemas.openxmlformats.org/drawingml/2006/main">
            <a:srgbClr val="007C83"/>
          </a:solidFill>
          <a:ln xmlns:a="http://schemas.openxmlformats.org/drawingml/2006/main" w="9525">
            <a:solidFill>
              <a:srgbClr val="163A52"/>
            </a:solidFill>
            <a:prstDash val="solid"/>
          </a:ln>
        </p:spPr>
      </p:sp>
      <p:sp>
        <p:nvSpPr>
          <p:cNvPr id="7" name="row-part-text-0">
            <a:extLst xmlns:a="http://schemas.openxmlformats.org/drawingml/2006/main">
              <a:ext uri="{FF2B5EF4-FFF2-40B4-BE49-F238E27FC236}">
                <a16:creationId xmlns:a16="http://schemas.microsoft.com/office/drawing/2014/main" id="{686FA9B4-49BD-451E-B6BF-ED5F6877D408}"/>
              </a:ext>
            </a:extLst>
          </p:cNvPr>
          <p:cNvSpPr>
            <a:spLocks xmlns:a="http://schemas.openxmlformats.org/drawingml/2006/main" noGrp="1"/>
          </p:cNvSpPr>
          <p:nvPr/>
        </p:nvSpPr>
        <p:spPr>
          <a:xfrm xmlns:a="http://schemas.openxmlformats.org/drawingml/2006/main">
            <a:off x="857250" y="3352800"/>
            <a:ext cx="10382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1" i="0">
                <a:solidFill>
                  <a:srgbClr val="102A43"/>
                </a:solidFill>
                <a:latin typeface="Aptos"/>
                <a:ea typeface="Aptos"/>
                <a:cs typeface="Aptos"/>
              </a:defRPr>
            </a:pPr>
            <a:r>
              <a:rPr sz="1575" b="1" i="0">
                <a:solidFill>
                  <a:srgbClr val="102A43"/>
                </a:solidFill>
                <a:latin typeface="Aptos"/>
                <a:ea typeface="Aptos"/>
                <a:cs typeface="Aptos"/>
              </a:rPr>
              <a:t>Status Bits</a:t>
            </a:r>
          </a:p>
        </p:txBody>
      </p:sp>
      <p:sp>
        <p:nvSpPr>
          <p:cNvPr id="8" name="row-part-1">
            <a:extLst xmlns:a="http://schemas.openxmlformats.org/drawingml/2006/main">
              <a:ext uri="{FF2B5EF4-FFF2-40B4-BE49-F238E27FC236}">
                <a16:creationId xmlns:a16="http://schemas.microsoft.com/office/drawing/2014/main" id="{5D2FDBC4-82E4-46AD-B52D-4AC4D3DF06FF}"/>
              </a:ext>
            </a:extLst>
          </p:cNvPr>
          <p:cNvSpPr>
            <a:spLocks xmlns:a="http://schemas.openxmlformats.org/drawingml/2006/main" noGrp="1"/>
          </p:cNvSpPr>
          <p:nvPr/>
        </p:nvSpPr>
        <p:spPr>
          <a:xfrm xmlns:a="http://schemas.openxmlformats.org/drawingml/2006/main">
            <a:off x="1971675" y="3028950"/>
            <a:ext cx="2095500" cy="1466850"/>
          </a:xfrm>
          <a:prstGeom xmlns:a="http://schemas.openxmlformats.org/drawingml/2006/main" prst="rect">
            <a:avLst/>
          </a:prstGeom>
          <a:solidFill xmlns:a="http://schemas.openxmlformats.org/drawingml/2006/main">
            <a:srgbClr val="B9E3E5"/>
          </a:solidFill>
          <a:ln xmlns:a="http://schemas.openxmlformats.org/drawingml/2006/main" w="9525">
            <a:solidFill>
              <a:srgbClr val="163A52"/>
            </a:solidFill>
            <a:prstDash val="solid"/>
          </a:ln>
        </p:spPr>
      </p:sp>
      <p:sp>
        <p:nvSpPr>
          <p:cNvPr id="9" name="row-part-text-1">
            <a:extLst xmlns:a="http://schemas.openxmlformats.org/drawingml/2006/main">
              <a:ext uri="{FF2B5EF4-FFF2-40B4-BE49-F238E27FC236}">
                <a16:creationId xmlns:a16="http://schemas.microsoft.com/office/drawing/2014/main" id="{FC99DA9D-6820-4F77-BC04-CAAFDEAA5A38}"/>
              </a:ext>
            </a:extLst>
          </p:cNvPr>
          <p:cNvSpPr>
            <a:spLocks xmlns:a="http://schemas.openxmlformats.org/drawingml/2006/main" noGrp="1"/>
          </p:cNvSpPr>
          <p:nvPr/>
        </p:nvSpPr>
        <p:spPr>
          <a:xfrm xmlns:a="http://schemas.openxmlformats.org/drawingml/2006/main">
            <a:off x="2047875" y="3352800"/>
            <a:ext cx="1943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1" i="0">
                <a:solidFill>
                  <a:srgbClr val="102A43"/>
                </a:solidFill>
                <a:latin typeface="Aptos"/>
                <a:ea typeface="Aptos"/>
                <a:cs typeface="Aptos"/>
              </a:defRPr>
            </a:pPr>
            <a:r>
              <a:rPr sz="1575" b="1" i="0">
                <a:solidFill>
                  <a:srgbClr val="102A43"/>
                </a:solidFill>
                <a:latin typeface="Aptos"/>
                <a:ea typeface="Aptos"/>
                <a:cs typeface="Aptos"/>
              </a:rPr>
              <a:t>Fixed-Length</a:t>
            </a:r>
          </a:p>
        </p:txBody>
      </p:sp>
      <p:sp>
        <p:nvSpPr>
          <p:cNvPr id="10" name="row-part-2">
            <a:extLst xmlns:a="http://schemas.openxmlformats.org/drawingml/2006/main">
              <a:ext uri="{FF2B5EF4-FFF2-40B4-BE49-F238E27FC236}">
                <a16:creationId xmlns:a16="http://schemas.microsoft.com/office/drawing/2014/main" id="{873F220C-0EAA-49C9-A4D9-EB796EB764B2}"/>
              </a:ext>
            </a:extLst>
          </p:cNvPr>
          <p:cNvSpPr>
            <a:spLocks xmlns:a="http://schemas.openxmlformats.org/drawingml/2006/main" noGrp="1"/>
          </p:cNvSpPr>
          <p:nvPr/>
        </p:nvSpPr>
        <p:spPr>
          <a:xfrm xmlns:a="http://schemas.openxmlformats.org/drawingml/2006/main">
            <a:off x="4067175" y="3028950"/>
            <a:ext cx="1619250" cy="1466850"/>
          </a:xfrm>
          <a:prstGeom xmlns:a="http://schemas.openxmlformats.org/drawingml/2006/main" prst="rect">
            <a:avLst/>
          </a:prstGeom>
          <a:solidFill xmlns:a="http://schemas.openxmlformats.org/drawingml/2006/main">
            <a:srgbClr val="F4A261"/>
          </a:solidFill>
          <a:ln xmlns:a="http://schemas.openxmlformats.org/drawingml/2006/main" w="9525">
            <a:solidFill>
              <a:srgbClr val="163A52"/>
            </a:solidFill>
            <a:prstDash val="solid"/>
          </a:ln>
        </p:spPr>
      </p:sp>
      <p:sp>
        <p:nvSpPr>
          <p:cNvPr id="11" name="row-part-text-2">
            <a:extLst xmlns:a="http://schemas.openxmlformats.org/drawingml/2006/main">
              <a:ext uri="{FF2B5EF4-FFF2-40B4-BE49-F238E27FC236}">
                <a16:creationId xmlns:a16="http://schemas.microsoft.com/office/drawing/2014/main" id="{1CA6F851-A8CD-4B10-B787-7B1BC399D5C3}"/>
              </a:ext>
            </a:extLst>
          </p:cNvPr>
          <p:cNvSpPr>
            <a:spLocks xmlns:a="http://schemas.openxmlformats.org/drawingml/2006/main" noGrp="1"/>
          </p:cNvSpPr>
          <p:nvPr/>
        </p:nvSpPr>
        <p:spPr>
          <a:xfrm xmlns:a="http://schemas.openxmlformats.org/drawingml/2006/main">
            <a:off x="4143375" y="3352800"/>
            <a:ext cx="1466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1" i="0">
                <a:solidFill>
                  <a:srgbClr val="102A43"/>
                </a:solidFill>
                <a:latin typeface="Aptos"/>
                <a:ea typeface="Aptos"/>
                <a:cs typeface="Aptos"/>
              </a:defRPr>
            </a:pPr>
            <a:r>
              <a:rPr sz="1575" b="1" i="0">
                <a:solidFill>
                  <a:srgbClr val="102A43"/>
                </a:solidFill>
                <a:latin typeface="Aptos"/>
                <a:ea typeface="Aptos"/>
                <a:cs typeface="Aptos"/>
              </a:rPr>
              <a:t>NULL Bitmap</a:t>
            </a:r>
          </a:p>
        </p:txBody>
      </p:sp>
      <p:sp>
        <p:nvSpPr>
          <p:cNvPr id="12" name="row-part-3">
            <a:extLst xmlns:a="http://schemas.openxmlformats.org/drawingml/2006/main">
              <a:ext uri="{FF2B5EF4-FFF2-40B4-BE49-F238E27FC236}">
                <a16:creationId xmlns:a16="http://schemas.microsoft.com/office/drawing/2014/main" id="{FAC4E424-F8A1-40E7-ADB0-5C832ED39472}"/>
              </a:ext>
            </a:extLst>
          </p:cNvPr>
          <p:cNvSpPr>
            <a:spLocks xmlns:a="http://schemas.openxmlformats.org/drawingml/2006/main" noGrp="1"/>
          </p:cNvSpPr>
          <p:nvPr/>
        </p:nvSpPr>
        <p:spPr>
          <a:xfrm xmlns:a="http://schemas.openxmlformats.org/drawingml/2006/main">
            <a:off x="5686425" y="3028950"/>
            <a:ext cx="2095500" cy="1466850"/>
          </a:xfrm>
          <a:prstGeom xmlns:a="http://schemas.openxmlformats.org/drawingml/2006/main" prst="rect">
            <a:avLst/>
          </a:prstGeom>
          <a:solidFill xmlns:a="http://schemas.openxmlformats.org/drawingml/2006/main">
            <a:srgbClr val="FFE5C2"/>
          </a:solidFill>
          <a:ln xmlns:a="http://schemas.openxmlformats.org/drawingml/2006/main" w="9525">
            <a:solidFill>
              <a:srgbClr val="163A52"/>
            </a:solidFill>
            <a:prstDash val="solid"/>
          </a:ln>
        </p:spPr>
      </p:sp>
      <p:sp>
        <p:nvSpPr>
          <p:cNvPr id="13" name="row-part-text-3">
            <a:extLst xmlns:a="http://schemas.openxmlformats.org/drawingml/2006/main">
              <a:ext uri="{FF2B5EF4-FFF2-40B4-BE49-F238E27FC236}">
                <a16:creationId xmlns:a16="http://schemas.microsoft.com/office/drawing/2014/main" id="{F017D30C-7F63-42E3-9D1A-D8020904BD53}"/>
              </a:ext>
            </a:extLst>
          </p:cNvPr>
          <p:cNvSpPr>
            <a:spLocks xmlns:a="http://schemas.openxmlformats.org/drawingml/2006/main" noGrp="1"/>
          </p:cNvSpPr>
          <p:nvPr/>
        </p:nvSpPr>
        <p:spPr>
          <a:xfrm xmlns:a="http://schemas.openxmlformats.org/drawingml/2006/main">
            <a:off x="5762625" y="3352800"/>
            <a:ext cx="1943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1" i="0">
                <a:solidFill>
                  <a:srgbClr val="102A43"/>
                </a:solidFill>
                <a:latin typeface="Aptos"/>
                <a:ea typeface="Aptos"/>
                <a:cs typeface="Aptos"/>
              </a:defRPr>
            </a:pPr>
            <a:r>
              <a:rPr sz="1575" b="1" i="0">
                <a:solidFill>
                  <a:srgbClr val="102A43"/>
                </a:solidFill>
                <a:latin typeface="Aptos"/>
                <a:ea typeface="Aptos"/>
                <a:cs typeface="Aptos"/>
              </a:rPr>
              <a:t>Variable Metadata</a:t>
            </a:r>
          </a:p>
        </p:txBody>
      </p:sp>
      <p:sp>
        <p:nvSpPr>
          <p:cNvPr id="14" name="row-part-4">
            <a:extLst xmlns:a="http://schemas.openxmlformats.org/drawingml/2006/main">
              <a:ext uri="{FF2B5EF4-FFF2-40B4-BE49-F238E27FC236}">
                <a16:creationId xmlns:a16="http://schemas.microsoft.com/office/drawing/2014/main" id="{4D2D4504-7E69-492B-979F-05ACFD0DF9CD}"/>
              </a:ext>
            </a:extLst>
          </p:cNvPr>
          <p:cNvSpPr>
            <a:spLocks xmlns:a="http://schemas.openxmlformats.org/drawingml/2006/main" noGrp="1"/>
          </p:cNvSpPr>
          <p:nvPr/>
        </p:nvSpPr>
        <p:spPr>
          <a:xfrm xmlns:a="http://schemas.openxmlformats.org/drawingml/2006/main">
            <a:off x="7781925" y="3028950"/>
            <a:ext cx="2714625"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163A52"/>
            </a:solidFill>
            <a:prstDash val="solid"/>
          </a:ln>
        </p:spPr>
      </p:sp>
      <p:sp>
        <p:nvSpPr>
          <p:cNvPr id="15" name="row-part-text-4">
            <a:extLst xmlns:a="http://schemas.openxmlformats.org/drawingml/2006/main">
              <a:ext uri="{FF2B5EF4-FFF2-40B4-BE49-F238E27FC236}">
                <a16:creationId xmlns:a16="http://schemas.microsoft.com/office/drawing/2014/main" id="{5E6EFB53-9F3B-41FF-8AF2-BEFE1E6A10FF}"/>
              </a:ext>
            </a:extLst>
          </p:cNvPr>
          <p:cNvSpPr>
            <a:spLocks xmlns:a="http://schemas.openxmlformats.org/drawingml/2006/main" noGrp="1"/>
          </p:cNvSpPr>
          <p:nvPr/>
        </p:nvSpPr>
        <p:spPr>
          <a:xfrm xmlns:a="http://schemas.openxmlformats.org/drawingml/2006/main">
            <a:off x="7858125" y="3352800"/>
            <a:ext cx="25622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1" i="0">
                <a:solidFill>
                  <a:srgbClr val="102A43"/>
                </a:solidFill>
                <a:latin typeface="Aptos"/>
                <a:ea typeface="Aptos"/>
                <a:cs typeface="Aptos"/>
              </a:defRPr>
            </a:pPr>
            <a:r>
              <a:rPr sz="1575" b="1" i="0">
                <a:solidFill>
                  <a:srgbClr val="102A43"/>
                </a:solidFill>
                <a:latin typeface="Aptos"/>
                <a:ea typeface="Aptos"/>
                <a:cs typeface="Aptos"/>
              </a:rPr>
              <a:t>Variable Data</a:t>
            </a:r>
          </a:p>
        </p:txBody>
      </p:sp>
      <p:sp>
        <p:nvSpPr>
          <p:cNvPr id="16" name="row-caption">
            <a:extLst xmlns:a="http://schemas.openxmlformats.org/drawingml/2006/main">
              <a:ext uri="{FF2B5EF4-FFF2-40B4-BE49-F238E27FC236}">
                <a16:creationId xmlns:a16="http://schemas.microsoft.com/office/drawing/2014/main" id="{5A6E1248-D63C-4B58-9655-141148EC7E20}"/>
              </a:ext>
            </a:extLst>
          </p:cNvPr>
          <p:cNvSpPr>
            <a:spLocks xmlns:a="http://schemas.openxmlformats.org/drawingml/2006/main" noGrp="1"/>
          </p:cNvSpPr>
          <p:nvPr/>
        </p:nvSpPr>
        <p:spPr>
          <a:xfrm xmlns:a="http://schemas.openxmlformats.org/drawingml/2006/main">
            <a:off x="990600" y="4972050"/>
            <a:ext cx="10210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99"/>
          </a:bodyPr>
          <a:lstStyle xmlns:a="http://schemas.openxmlformats.org/drawingml/2006/main"/>
          <a:p xmlns:a="http://schemas.openxmlformats.org/drawingml/2006/main">
            <a:pPr algn="ctr">
              <a:lnSpc>
                <a:spcPct val="105000"/>
              </a:lnSpc>
              <a:buNone/>
              <a:defRPr sz="1800" b="0" i="0">
                <a:solidFill>
                  <a:srgbClr val="52606D"/>
                </a:solidFill>
                <a:latin typeface="Aptos"/>
                <a:ea typeface="Aptos"/>
                <a:cs typeface="Aptos"/>
              </a:defRPr>
            </a:pPr>
            <a:r>
              <a:rPr sz="1800" b="0" i="0">
                <a:solidFill>
                  <a:srgbClr val="52606D"/>
                </a:solidFill>
                <a:latin typeface="Aptos"/>
                <a:ea typeface="Aptos"/>
                <a:cs typeface="Aptos"/>
              </a:rPr>
              <a:t>Die interne Row-Struktur erzeugt Metadaten- und Breitenkosten – auch bei NULL-Werten und variablen Spalten.</a:t>
            </a:r>
          </a:p>
        </p:txBody>
      </p:sp>
    </p:spTree>
    <p:extLst>
      <p:ext uri="{BB962C8B-B14F-4D97-AF65-F5344CB8AC3E}">
        <p14:creationId xmlns:p14="http://schemas.microsoft.com/office/powerpoint/2010/main" val="1591786248"/>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11B6F922-8197-4698-8E29-B1891F3DEE7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xmlns:a="http://schemas.openxmlformats.org/drawingml/2006/main">
              <a:ext uri="{FF2B5EF4-FFF2-40B4-BE49-F238E27FC236}">
                <a16:creationId xmlns:a16="http://schemas.microsoft.com/office/drawing/2014/main" id="{6E3AD14E-DCED-44F6-AF2E-8B74F642411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Breite Zeilen erhöhen Reads, Memory und Cache-Druck gleichzeitig</a:t>
            </a:r>
          </a:p>
        </p:txBody>
      </p:sp>
      <p:sp>
        <p:nvSpPr>
          <p:cNvPr id="3" name="title-rule">
            <a:extLst xmlns:a="http://schemas.openxmlformats.org/drawingml/2006/main">
              <a:ext uri="{FF2B5EF4-FFF2-40B4-BE49-F238E27FC236}">
                <a16:creationId xmlns:a16="http://schemas.microsoft.com/office/drawing/2014/main" id="{B3075A7A-863E-4B7C-ADD4-23BD70F16F29}"/>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CEB0E0E4-2958-4872-A229-A268081AACF4}"/>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C648C903-04A6-4556-9E2D-2E538BC48CF4}"/>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12 / 84</a:t>
            </a:r>
          </a:p>
        </p:txBody>
      </p:sp>
      <p:sp>
        <p:nvSpPr>
          <p:cNvPr id="6" name="lead">
            <a:extLst xmlns:a="http://schemas.openxmlformats.org/drawingml/2006/main">
              <a:ext uri="{FF2B5EF4-FFF2-40B4-BE49-F238E27FC236}">
                <a16:creationId xmlns:a16="http://schemas.microsoft.com/office/drawing/2014/main" id="{C24576DB-764A-45D3-98B5-EB5657595932}"/>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Vereinfachtes Modell: Zehnmal breitere Zeilen bedeuten grob eine Größenordnung weniger Zeilen pro Page.</a:t>
            </a:r>
          </a:p>
        </p:txBody>
      </p:sp>
      <p:sp>
        <p:nvSpPr>
          <p:cNvPr id="7" name="lead-accent">
            <a:extLst xmlns:a="http://schemas.openxmlformats.org/drawingml/2006/main">
              <a:ext uri="{FF2B5EF4-FFF2-40B4-BE49-F238E27FC236}">
                <a16:creationId xmlns:a16="http://schemas.microsoft.com/office/drawing/2014/main" id="{145AC1DB-2A6F-4E80-B993-2D77845A5043}"/>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0B2F5194-3EED-43BA-A697-100CA3729EF8}"/>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Mehr Pages müssen gelesen, gecacht und verarbeitet werden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Sorts, Hashes und Exchanges transportieren mehr Bytes</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Wide SELECT * verstärkt die Wirkung auch ohne zusätzliche Zeilen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Tatsächliche Dichte hängt von Headern, NULLs, Variablen und Kompression ab</a:t>
            </a:r>
          </a:p>
        </p:txBody>
      </p:sp>
    </p:spTree>
    <p:extLst>
      <p:ext uri="{BB962C8B-B14F-4D97-AF65-F5344CB8AC3E}">
        <p14:creationId xmlns:p14="http://schemas.microsoft.com/office/powerpoint/2010/main" val="1949374930"/>
      </p:ext>
    </p:extLst>
  </p:cSld>
</p:sld>
</file>

<file path=ppt/slides/slide1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4636B34C-E8DB-4F4C-A5FA-BD4698DDFDD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xmlns:a="http://schemas.openxmlformats.org/drawingml/2006/main">
              <a:ext uri="{FF2B5EF4-FFF2-40B4-BE49-F238E27FC236}">
                <a16:creationId xmlns:a16="http://schemas.microsoft.com/office/drawing/2014/main" id="{32256C41-9CDE-42AD-BC96-C87FAE4D04E2}"/>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Allocation Units trennen drei physische Speicherbereiche</a:t>
            </a:r>
          </a:p>
        </p:txBody>
      </p:sp>
      <p:sp>
        <p:nvSpPr>
          <p:cNvPr id="3" name="title-rule">
            <a:extLst xmlns:a="http://schemas.openxmlformats.org/drawingml/2006/main">
              <a:ext uri="{FF2B5EF4-FFF2-40B4-BE49-F238E27FC236}">
                <a16:creationId xmlns:a16="http://schemas.microsoft.com/office/drawing/2014/main" id="{360B364B-569D-4AD5-A320-59C81436A402}"/>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AE84F98F-291C-491A-BC82-EB3BF761D97C}"/>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1A509C67-8D3F-48A2-B55E-10F1D95B9B59}"/>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13 / 84</a:t>
            </a:r>
          </a:p>
        </p:txBody>
      </p:sp>
      <p:sp>
        <p:nvSpPr>
          <p:cNvPr id="6" name="left-title">
            <a:extLst xmlns:a="http://schemas.openxmlformats.org/drawingml/2006/main">
              <a:ext uri="{FF2B5EF4-FFF2-40B4-BE49-F238E27FC236}">
                <a16:creationId xmlns:a16="http://schemas.microsoft.com/office/drawing/2014/main" id="{D6167328-64FC-48EA-BC5B-A7CA792D8D54}"/>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IN_ROW_DATA</a:t>
            </a:r>
          </a:p>
        </p:txBody>
      </p:sp>
      <p:sp>
        <p:nvSpPr>
          <p:cNvPr id="7" name="right-title">
            <a:extLst xmlns:a="http://schemas.openxmlformats.org/drawingml/2006/main">
              <a:ext uri="{FF2B5EF4-FFF2-40B4-BE49-F238E27FC236}">
                <a16:creationId xmlns:a16="http://schemas.microsoft.com/office/drawing/2014/main" id="{17468C38-A29B-43E6-9A07-CAE85B0AEEEA}"/>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ROW_OVERFLOW / LOB</a:t>
            </a:r>
          </a:p>
        </p:txBody>
      </p:sp>
      <p:sp>
        <p:nvSpPr>
          <p:cNvPr id="8" name="middle-rule">
            <a:extLst xmlns:a="http://schemas.openxmlformats.org/drawingml/2006/main">
              <a:ext uri="{FF2B5EF4-FFF2-40B4-BE49-F238E27FC236}">
                <a16:creationId xmlns:a16="http://schemas.microsoft.com/office/drawing/2014/main" id="{9F017514-324B-48A1-B67B-A85A11FF9059}"/>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CC3F90D7-FE71-43F0-AF92-0C0EF827927E}"/>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Rowstore-Daten und B+Tree-Pages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pro Partition mindestens eine Allocation Unit</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Row-Grundstruktur bleibt in-row</a:t>
            </a:r>
          </a:p>
        </p:txBody>
      </p:sp>
      <p:sp>
        <p:nvSpPr>
          <p:cNvPr id="10" name="right-points">
            <a:extLst xmlns:a="http://schemas.openxmlformats.org/drawingml/2006/main">
              <a:ext uri="{FF2B5EF4-FFF2-40B4-BE49-F238E27FC236}">
                <a16:creationId xmlns:a16="http://schemas.microsoft.com/office/drawing/2014/main" id="{FCAEF062-FCE9-4A66-BC8A-655B199F88FB}"/>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variable Spalten können ausgelagert werden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LOB_DATA für große Objekte</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zusätzliche Zugriffe und Pointer möglich</a:t>
            </a:r>
          </a:p>
        </p:txBody>
      </p:sp>
      <p:sp>
        <p:nvSpPr>
          <p:cNvPr id="11" name="conclusion-bg">
            <a:extLst xmlns:a="http://schemas.openxmlformats.org/drawingml/2006/main">
              <a:ext uri="{FF2B5EF4-FFF2-40B4-BE49-F238E27FC236}">
                <a16:creationId xmlns:a16="http://schemas.microsoft.com/office/drawing/2014/main" id="{9865FB78-C83F-40FF-89CC-86BF886F908D}"/>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6BAB9DD5-9EA9-4222-8580-8FB0C35A04ED}"/>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Eine logische Zeile kann physisch mehrere Pages berühren.</a:t>
            </a:r>
          </a:p>
        </p:txBody>
      </p:sp>
    </p:spTree>
    <p:extLst>
      <p:ext uri="{BB962C8B-B14F-4D97-AF65-F5344CB8AC3E}">
        <p14:creationId xmlns:p14="http://schemas.microsoft.com/office/powerpoint/2010/main" val="798572810"/>
      </p:ext>
    </p:extLst>
  </p:cSld>
</p:sld>
</file>

<file path=ppt/slides/slide1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181A5F9C-1D59-4D0D-ACF9-8E0ABB4F5E2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xmlns:a="http://schemas.openxmlformats.org/drawingml/2006/main">
              <a:ext uri="{FF2B5EF4-FFF2-40B4-BE49-F238E27FC236}">
                <a16:creationId xmlns:a16="http://schemas.microsoft.com/office/drawing/2014/main" id="{2AFF2341-4823-4A9E-80AF-C356C9421FF1}"/>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Der Buffer Pool macht Logical Reads zum zentralen Query-Messwert</a:t>
            </a:r>
          </a:p>
        </p:txBody>
      </p:sp>
      <p:sp>
        <p:nvSpPr>
          <p:cNvPr id="3" name="title-rule">
            <a:extLst xmlns:a="http://schemas.openxmlformats.org/drawingml/2006/main">
              <a:ext uri="{FF2B5EF4-FFF2-40B4-BE49-F238E27FC236}">
                <a16:creationId xmlns:a16="http://schemas.microsoft.com/office/drawing/2014/main" id="{27686F5A-7ACB-4C90-B313-CC69CEB5980F}"/>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AC9EE137-2F25-426A-A5C3-4A790E035D55}"/>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BC3095F1-259E-4A8C-8772-5C608A429F9B}"/>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14 / 84</a:t>
            </a:r>
          </a:p>
        </p:txBody>
      </p:sp>
      <p:sp>
        <p:nvSpPr>
          <p:cNvPr id="6" name="storage">
            <a:extLst xmlns:a="http://schemas.openxmlformats.org/drawingml/2006/main">
              <a:ext uri="{FF2B5EF4-FFF2-40B4-BE49-F238E27FC236}">
                <a16:creationId xmlns:a16="http://schemas.microsoft.com/office/drawing/2014/main" id="{8D3D3D40-7369-4A4E-9436-F25FFDAF68D6}"/>
              </a:ext>
            </a:extLst>
          </p:cNvPr>
          <p:cNvSpPr>
            <a:spLocks xmlns:a="http://schemas.openxmlformats.org/drawingml/2006/main" noGrp="1"/>
          </p:cNvSpPr>
          <p:nvPr/>
        </p:nvSpPr>
        <p:spPr>
          <a:xfrm xmlns:a="http://schemas.openxmlformats.org/drawingml/2006/main">
            <a:off x="723900" y="3105150"/>
            <a:ext cx="2095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2EC"/>
            </a:solidFill>
            <a:prstDash val="solid"/>
          </a:ln>
        </p:spPr>
      </p:sp>
      <p:sp>
        <p:nvSpPr>
          <p:cNvPr id="7" name="storage-text">
            <a:extLst xmlns:a="http://schemas.openxmlformats.org/drawingml/2006/main">
              <a:ext uri="{FF2B5EF4-FFF2-40B4-BE49-F238E27FC236}">
                <a16:creationId xmlns:a16="http://schemas.microsoft.com/office/drawing/2014/main" id="{7BAC920B-9FAA-4FEA-AEB9-1DB5895AEC76}"/>
              </a:ext>
            </a:extLst>
          </p:cNvPr>
          <p:cNvSpPr>
            <a:spLocks xmlns:a="http://schemas.openxmlformats.org/drawingml/2006/main" noGrp="1"/>
          </p:cNvSpPr>
          <p:nvPr/>
        </p:nvSpPr>
        <p:spPr>
          <a:xfrm xmlns:a="http://schemas.openxmlformats.org/drawingml/2006/main">
            <a:off x="857250" y="3219450"/>
            <a:ext cx="18288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Data Files</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Storage</a:t>
            </a:r>
          </a:p>
        </p:txBody>
      </p:sp>
      <p:sp>
        <p:nvSpPr>
          <p:cNvPr id="8" name="buffer">
            <a:extLst xmlns:a="http://schemas.openxmlformats.org/drawingml/2006/main">
              <a:ext uri="{FF2B5EF4-FFF2-40B4-BE49-F238E27FC236}">
                <a16:creationId xmlns:a16="http://schemas.microsoft.com/office/drawing/2014/main" id="{31166FB3-3D7B-4CB5-8612-81ABA160A957}"/>
              </a:ext>
            </a:extLst>
          </p:cNvPr>
          <p:cNvSpPr>
            <a:spLocks xmlns:a="http://schemas.openxmlformats.org/drawingml/2006/main" noGrp="1"/>
          </p:cNvSpPr>
          <p:nvPr/>
        </p:nvSpPr>
        <p:spPr>
          <a:xfrm xmlns:a="http://schemas.openxmlformats.org/drawingml/2006/main">
            <a:off x="4876800" y="2724150"/>
            <a:ext cx="2476500" cy="2000250"/>
          </a:xfrm>
          <a:prstGeom xmlns:a="http://schemas.openxmlformats.org/drawingml/2006/main" prst="roundRect">
            <a:avLst>
              <a:gd name="adj" fmla="val 3810"/>
            </a:avLst>
          </a:prstGeom>
          <a:solidFill xmlns:a="http://schemas.openxmlformats.org/drawingml/2006/main">
            <a:srgbClr val="EAF4F4"/>
          </a:solidFill>
          <a:ln xmlns:a="http://schemas.openxmlformats.org/drawingml/2006/main" w="9525">
            <a:solidFill>
              <a:srgbClr val="D9E2EC"/>
            </a:solidFill>
            <a:prstDash val="solid"/>
          </a:ln>
        </p:spPr>
      </p:sp>
      <p:sp>
        <p:nvSpPr>
          <p:cNvPr id="9" name="buffer-text">
            <a:extLst xmlns:a="http://schemas.openxmlformats.org/drawingml/2006/main">
              <a:ext uri="{FF2B5EF4-FFF2-40B4-BE49-F238E27FC236}">
                <a16:creationId xmlns:a16="http://schemas.microsoft.com/office/drawing/2014/main" id="{45F47389-5D78-4FCD-8314-2081CE705E2A}"/>
              </a:ext>
            </a:extLst>
          </p:cNvPr>
          <p:cNvSpPr>
            <a:spLocks xmlns:a="http://schemas.openxmlformats.org/drawingml/2006/main" noGrp="1"/>
          </p:cNvSpPr>
          <p:nvPr/>
        </p:nvSpPr>
        <p:spPr>
          <a:xfrm xmlns:a="http://schemas.openxmlformats.org/drawingml/2006/main">
            <a:off x="5010150" y="2838450"/>
            <a:ext cx="22098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Buffer Pool</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8-KiB-Pages</a:t>
            </a:r>
          </a:p>
        </p:txBody>
      </p:sp>
      <p:sp>
        <p:nvSpPr>
          <p:cNvPr id="10" name="query">
            <a:extLst xmlns:a="http://schemas.openxmlformats.org/drawingml/2006/main">
              <a:ext uri="{FF2B5EF4-FFF2-40B4-BE49-F238E27FC236}">
                <a16:creationId xmlns:a16="http://schemas.microsoft.com/office/drawing/2014/main" id="{6A87A621-9CEE-43F4-9540-15E8159947C2}"/>
              </a:ext>
            </a:extLst>
          </p:cNvPr>
          <p:cNvSpPr>
            <a:spLocks xmlns:a="http://schemas.openxmlformats.org/drawingml/2006/main" noGrp="1"/>
          </p:cNvSpPr>
          <p:nvPr/>
        </p:nvSpPr>
        <p:spPr>
          <a:xfrm xmlns:a="http://schemas.openxmlformats.org/drawingml/2006/main">
            <a:off x="9220200" y="3105150"/>
            <a:ext cx="2095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2EC"/>
            </a:solidFill>
            <a:prstDash val="solid"/>
          </a:ln>
        </p:spPr>
      </p:sp>
      <p:sp>
        <p:nvSpPr>
          <p:cNvPr id="11" name="query-text">
            <a:extLst xmlns:a="http://schemas.openxmlformats.org/drawingml/2006/main">
              <a:ext uri="{FF2B5EF4-FFF2-40B4-BE49-F238E27FC236}">
                <a16:creationId xmlns:a16="http://schemas.microsoft.com/office/drawing/2014/main" id="{D31A4CB2-38ED-46B6-B1EE-E2CB57947442}"/>
              </a:ext>
            </a:extLst>
          </p:cNvPr>
          <p:cNvSpPr>
            <a:spLocks xmlns:a="http://schemas.openxmlformats.org/drawingml/2006/main" noGrp="1"/>
          </p:cNvSpPr>
          <p:nvPr/>
        </p:nvSpPr>
        <p:spPr>
          <a:xfrm xmlns:a="http://schemas.openxmlformats.org/drawingml/2006/main">
            <a:off x="9353550" y="3219450"/>
            <a:ext cx="18288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Query</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Operatoren</a:t>
            </a:r>
          </a:p>
        </p:txBody>
      </p:sp>
      <p:cxnSp>
        <p:nvCxnSpPr>
          <p:cNvPr id="28" name=""/>
          <p:cNvCxnSpPr>
            <a:stCxn xmlns:a="http://schemas.openxmlformats.org/drawingml/2006/main" id="6" idx="3"/>
            <a:endCxn xmlns:a="http://schemas.openxmlformats.org/drawingml/2006/main" id="8" idx="1"/>
          </p:cNvCxnSpPr>
          <p:nvPr/>
        </p:nvCxnSpPr>
        <p:spPr>
          <a:xfrm xmlns:a="http://schemas.openxmlformats.org/drawingml/2006/main">
            <a:off x="2819400" y="3724275"/>
            <a:ext cx="2057400" cy="0"/>
          </a:xfrm>
          <a:prstGeom xmlns:a="http://schemas.openxmlformats.org/drawingml/2006/main" prst="straightConnector1">
            <a:avLst/>
          </a:prstGeom>
          <a:ln xmlns:a="http://schemas.openxmlformats.org/drawingml/2006/main" w="28575">
            <a:solidFill>
              <a:srgbClr val="F4A261"/>
            </a:solidFill>
            <a:prstDash val="solid"/>
            <a:headEnd type="arrow" w="med" len="med"/>
          </a:ln>
        </p:spPr>
      </p:cxnSp>
      <p:cxnSp>
        <p:nvCxnSpPr>
          <p:cNvPr id="29" name=""/>
          <p:cNvCxnSpPr>
            <a:stCxn xmlns:a="http://schemas.openxmlformats.org/drawingml/2006/main" id="8" idx="3"/>
            <a:endCxn xmlns:a="http://schemas.openxmlformats.org/drawingml/2006/main" id="10" idx="1"/>
          </p:cNvCxnSpPr>
          <p:nvPr/>
        </p:nvCxnSpPr>
        <p:spPr>
          <a:xfrm xmlns:a="http://schemas.openxmlformats.org/drawingml/2006/main">
            <a:off x="7353300" y="3724275"/>
            <a:ext cx="186690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14" name="physical-label">
            <a:extLst xmlns:a="http://schemas.openxmlformats.org/drawingml/2006/main">
              <a:ext uri="{FF2B5EF4-FFF2-40B4-BE49-F238E27FC236}">
                <a16:creationId xmlns:a16="http://schemas.microsoft.com/office/drawing/2014/main" id="{7FE335FF-7E5F-45D7-9E10-6793BB714519}"/>
              </a:ext>
            </a:extLst>
          </p:cNvPr>
          <p:cNvSpPr>
            <a:spLocks xmlns:a="http://schemas.openxmlformats.org/drawingml/2006/main" noGrp="1"/>
          </p:cNvSpPr>
          <p:nvPr/>
        </p:nvSpPr>
        <p:spPr>
          <a:xfrm xmlns:a="http://schemas.openxmlformats.org/drawingml/2006/main">
            <a:off x="2933700" y="2647950"/>
            <a:ext cx="171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i="0">
                <a:solidFill>
                  <a:srgbClr val="F4A261"/>
                </a:solidFill>
                <a:latin typeface="Aptos"/>
                <a:ea typeface="Aptos"/>
                <a:cs typeface="Aptos"/>
              </a:defRPr>
            </a:pPr>
            <a:r>
              <a:rPr sz="1500" b="1" i="0">
                <a:solidFill>
                  <a:srgbClr val="F4A261"/>
                </a:solidFill>
                <a:latin typeface="Aptos"/>
                <a:ea typeface="Aptos"/>
                <a:cs typeface="Aptos"/>
              </a:rPr>
              <a:t>Physical Read</a:t>
            </a:r>
          </a:p>
          <a:p xmlns:a="http://schemas.openxmlformats.org/drawingml/2006/main">
            <a:pPr algn="ctr">
              <a:lnSpc>
                <a:spcPct val="105000"/>
              </a:lnSpc>
              <a:buNone/>
              <a:defRPr sz="1500" b="1" i="0">
                <a:solidFill>
                  <a:srgbClr val="F4A261"/>
                </a:solidFill>
                <a:latin typeface="Aptos"/>
                <a:ea typeface="Aptos"/>
                <a:cs typeface="Aptos"/>
              </a:defRPr>
            </a:pPr>
            <a:r>
              <a:rPr sz="1500" b="1" i="0">
                <a:solidFill>
                  <a:srgbClr val="F4A261"/>
                </a:solidFill>
                <a:latin typeface="Aptos"/>
                <a:ea typeface="Aptos"/>
                <a:cs typeface="Aptos"/>
              </a:rPr>
              <a:t>bei Cachemiss</a:t>
            </a:r>
          </a:p>
        </p:txBody>
      </p:sp>
      <p:sp>
        <p:nvSpPr>
          <p:cNvPr id="15" name="logical-label">
            <a:extLst xmlns:a="http://schemas.openxmlformats.org/drawingml/2006/main">
              <a:ext uri="{FF2B5EF4-FFF2-40B4-BE49-F238E27FC236}">
                <a16:creationId xmlns:a16="http://schemas.microsoft.com/office/drawing/2014/main" id="{E21B723F-E1DF-4480-BDF1-42EDFACD4712}"/>
              </a:ext>
            </a:extLst>
          </p:cNvPr>
          <p:cNvSpPr>
            <a:spLocks xmlns:a="http://schemas.openxmlformats.org/drawingml/2006/main" noGrp="1"/>
          </p:cNvSpPr>
          <p:nvPr/>
        </p:nvSpPr>
        <p:spPr>
          <a:xfrm xmlns:a="http://schemas.openxmlformats.org/drawingml/2006/main">
            <a:off x="7486650" y="2647950"/>
            <a:ext cx="1619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i="0">
                <a:solidFill>
                  <a:srgbClr val="007C83"/>
                </a:solidFill>
                <a:latin typeface="Aptos"/>
                <a:ea typeface="Aptos"/>
                <a:cs typeface="Aptos"/>
              </a:defRPr>
            </a:pPr>
            <a:r>
              <a:rPr sz="1500" b="1" i="0">
                <a:solidFill>
                  <a:srgbClr val="007C83"/>
                </a:solidFill>
                <a:latin typeface="Aptos"/>
                <a:ea typeface="Aptos"/>
                <a:cs typeface="Aptos"/>
              </a:rPr>
              <a:t>Logical Read</a:t>
            </a:r>
          </a:p>
          <a:p xmlns:a="http://schemas.openxmlformats.org/drawingml/2006/main">
            <a:pPr algn="ctr">
              <a:lnSpc>
                <a:spcPct val="105000"/>
              </a:lnSpc>
              <a:buNone/>
              <a:defRPr sz="1500" b="1" i="0">
                <a:solidFill>
                  <a:srgbClr val="007C83"/>
                </a:solidFill>
                <a:latin typeface="Aptos"/>
                <a:ea typeface="Aptos"/>
                <a:cs typeface="Aptos"/>
              </a:defRPr>
            </a:pPr>
            <a:r>
              <a:rPr sz="1500" b="1" i="0">
                <a:solidFill>
                  <a:srgbClr val="007C83"/>
                </a:solidFill>
                <a:latin typeface="Aptos"/>
                <a:ea typeface="Aptos"/>
                <a:cs typeface="Aptos"/>
              </a:rPr>
              <a:t>bei Page-Zugriff</a:t>
            </a:r>
          </a:p>
        </p:txBody>
      </p:sp>
      <p:sp>
        <p:nvSpPr>
          <p:cNvPr id="16" name="buffer-caption">
            <a:extLst xmlns:a="http://schemas.openxmlformats.org/drawingml/2006/main">
              <a:ext uri="{FF2B5EF4-FFF2-40B4-BE49-F238E27FC236}">
                <a16:creationId xmlns:a16="http://schemas.microsoft.com/office/drawing/2014/main" id="{B9B16092-81B6-4711-8203-8C74F286F496}"/>
              </a:ext>
            </a:extLst>
          </p:cNvPr>
          <p:cNvSpPr>
            <a:spLocks xmlns:a="http://schemas.openxmlformats.org/drawingml/2006/main" noGrp="1"/>
          </p:cNvSpPr>
          <p:nvPr/>
        </p:nvSpPr>
        <p:spPr>
          <a:xfrm xmlns:a="http://schemas.openxmlformats.org/drawingml/2006/main">
            <a:off x="1676400" y="5219700"/>
            <a:ext cx="8839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924"/>
          </a:bodyPr>
          <a:lstStyle xmlns:a="http://schemas.openxmlformats.org/drawingml/2006/main"/>
          <a:p xmlns:a="http://schemas.openxmlformats.org/drawingml/2006/main">
            <a:pPr algn="ctr">
              <a:lnSpc>
                <a:spcPct val="105000"/>
              </a:lnSpc>
              <a:buNone/>
              <a:defRPr sz="1725" b="0" i="0">
                <a:solidFill>
                  <a:srgbClr val="52606D"/>
                </a:solidFill>
                <a:latin typeface="Aptos"/>
                <a:ea typeface="Aptos"/>
                <a:cs typeface="Aptos"/>
              </a:defRPr>
            </a:pPr>
            <a:r>
              <a:rPr sz="1725" b="0" i="0">
                <a:solidFill>
                  <a:srgbClr val="52606D"/>
                </a:solidFill>
                <a:latin typeface="Aptos"/>
                <a:ea typeface="Aptos"/>
                <a:cs typeface="Aptos"/>
              </a:rPr>
              <a:t>Dirty Pages werden später geschrieben; Read-ahead kann Pages vor dem Operator anfordern.</a:t>
            </a:r>
          </a:p>
        </p:txBody>
      </p:sp>
    </p:spTree>
    <p:extLst>
      <p:ext uri="{BB962C8B-B14F-4D97-AF65-F5344CB8AC3E}">
        <p14:creationId xmlns:p14="http://schemas.microsoft.com/office/powerpoint/2010/main" val="749645549"/>
      </p:ext>
    </p:extLst>
  </p:cSld>
</p:sld>
</file>

<file path=ppt/slides/slide1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E5D7A7F1-6DA3-41F8-A7DD-0A2E5989A4E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xmlns:a="http://schemas.openxmlformats.org/drawingml/2006/main">
              <a:ext uri="{FF2B5EF4-FFF2-40B4-BE49-F238E27FC236}">
                <a16:creationId xmlns:a16="http://schemas.microsoft.com/office/drawing/2014/main" id="{0B0BD848-889D-4ACD-B375-492782A1209B}"/>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Logical und Physical Reads beantworten verschiedene Fragen</a:t>
            </a:r>
          </a:p>
        </p:txBody>
      </p:sp>
      <p:sp>
        <p:nvSpPr>
          <p:cNvPr id="3" name="title-rule">
            <a:extLst xmlns:a="http://schemas.openxmlformats.org/drawingml/2006/main">
              <a:ext uri="{FF2B5EF4-FFF2-40B4-BE49-F238E27FC236}">
                <a16:creationId xmlns:a16="http://schemas.microsoft.com/office/drawing/2014/main" id="{EB441F1B-C578-421A-B316-0DC0F6ECFC8C}"/>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EE3D26A5-C8CF-4D63-BE8B-E2B4F319198E}"/>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36769F63-3EBD-468A-B179-631ED45C31F6}"/>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15 / 84</a:t>
            </a:r>
          </a:p>
        </p:txBody>
      </p:sp>
      <p:sp>
        <p:nvSpPr>
          <p:cNvPr id="6" name="left-title">
            <a:extLst xmlns:a="http://schemas.openxmlformats.org/drawingml/2006/main">
              <a:ext uri="{FF2B5EF4-FFF2-40B4-BE49-F238E27FC236}">
                <a16:creationId xmlns:a16="http://schemas.microsoft.com/office/drawing/2014/main" id="{F7F34F8C-2A39-4F95-9E90-3F963324EC07}"/>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Logical Reads</a:t>
            </a:r>
          </a:p>
        </p:txBody>
      </p:sp>
      <p:sp>
        <p:nvSpPr>
          <p:cNvPr id="7" name="right-title">
            <a:extLst xmlns:a="http://schemas.openxmlformats.org/drawingml/2006/main">
              <a:ext uri="{FF2B5EF4-FFF2-40B4-BE49-F238E27FC236}">
                <a16:creationId xmlns:a16="http://schemas.microsoft.com/office/drawing/2014/main" id="{020222CE-4033-4A05-8A56-25FED116E4EA}"/>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Physical Reads</a:t>
            </a:r>
          </a:p>
        </p:txBody>
      </p:sp>
      <p:sp>
        <p:nvSpPr>
          <p:cNvPr id="8" name="middle-rule">
            <a:extLst xmlns:a="http://schemas.openxmlformats.org/drawingml/2006/main">
              <a:ext uri="{FF2B5EF4-FFF2-40B4-BE49-F238E27FC236}">
                <a16:creationId xmlns:a16="http://schemas.microsoft.com/office/drawing/2014/main" id="{E124A4C4-70E3-4681-9065-CEF31B155F9E}"/>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B2F9B8D5-302C-4879-BEF6-693FC81727DD}"/>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Arbeit des Operators auf Page-Ebene</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auch bei warmem Cache sichtbar</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gut für Query-Vergleiche bei gleichem Datenstand</a:t>
            </a:r>
          </a:p>
        </p:txBody>
      </p:sp>
      <p:sp>
        <p:nvSpPr>
          <p:cNvPr id="10" name="right-points">
            <a:extLst xmlns:a="http://schemas.openxmlformats.org/drawingml/2006/main">
              <a:ext uri="{FF2B5EF4-FFF2-40B4-BE49-F238E27FC236}">
                <a16:creationId xmlns:a16="http://schemas.microsoft.com/office/drawing/2014/main" id="{6ACFD08B-D4A3-4CCC-A80F-2C512177514D}"/>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tatsächlicher Storagezugriff</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stark vom Cachezustand abhängig</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Latenz und Read-ahead zusätzlich prüfen</a:t>
            </a:r>
          </a:p>
        </p:txBody>
      </p:sp>
      <p:sp>
        <p:nvSpPr>
          <p:cNvPr id="11" name="conclusion-bg">
            <a:extLst xmlns:a="http://schemas.openxmlformats.org/drawingml/2006/main">
              <a:ext uri="{FF2B5EF4-FFF2-40B4-BE49-F238E27FC236}">
                <a16:creationId xmlns:a16="http://schemas.microsoft.com/office/drawing/2014/main" id="{1CE39866-B0CD-471E-9DF5-E1325D2A3176}"/>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3A09EAD3-9514-4E85-B6B1-8A27BCADC4E5}"/>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Ein Cold-Cache-Einzellauf ist kein allgemeingültiger Benchmark.</a:t>
            </a:r>
          </a:p>
        </p:txBody>
      </p:sp>
    </p:spTree>
    <p:extLst>
      <p:ext uri="{BB962C8B-B14F-4D97-AF65-F5344CB8AC3E}">
        <p14:creationId xmlns:p14="http://schemas.microsoft.com/office/powerpoint/2010/main" val="2039852020"/>
      </p:ext>
    </p:extLst>
  </p:cSld>
</p:sld>
</file>

<file path=ppt/slides/slide1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AFF9EF2F-7C34-46D3-A175-115FD899B8F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xmlns:a="http://schemas.openxmlformats.org/drawingml/2006/main">
              <a:ext uri="{FF2B5EF4-FFF2-40B4-BE49-F238E27FC236}">
                <a16:creationId xmlns:a16="http://schemas.microsoft.com/office/drawing/2014/main" id="{EA4D09D2-9DF3-4159-87A7-47296A7E7F0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Commit, Log Flush und Checkpoint sind getrennte Vorgänge</a:t>
            </a:r>
          </a:p>
        </p:txBody>
      </p:sp>
      <p:sp>
        <p:nvSpPr>
          <p:cNvPr id="3" name="title-rule">
            <a:extLst xmlns:a="http://schemas.openxmlformats.org/drawingml/2006/main">
              <a:ext uri="{FF2B5EF4-FFF2-40B4-BE49-F238E27FC236}">
                <a16:creationId xmlns:a16="http://schemas.microsoft.com/office/drawing/2014/main" id="{A2B29517-D2F8-42D3-A1D4-F6C83941F6D1}"/>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B1FD1AF6-CC62-43FA-8699-1251313C7DA4}"/>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61740EA7-FBD3-4940-9B60-433E1A07FF78}"/>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16 / 84</a:t>
            </a:r>
          </a:p>
        </p:txBody>
      </p:sp>
      <p:sp>
        <p:nvSpPr>
          <p:cNvPr id="6" name="flow-1">
            <a:extLst xmlns:a="http://schemas.openxmlformats.org/drawingml/2006/main">
              <a:ext uri="{FF2B5EF4-FFF2-40B4-BE49-F238E27FC236}">
                <a16:creationId xmlns:a16="http://schemas.microsoft.com/office/drawing/2014/main" id="{96E676F5-F153-43D9-A7C7-5E2C454B1E52}"/>
              </a:ext>
            </a:extLst>
          </p:cNvPr>
          <p:cNvSpPr>
            <a:spLocks xmlns:a="http://schemas.openxmlformats.org/drawingml/2006/main" noGrp="1"/>
          </p:cNvSpPr>
          <p:nvPr/>
        </p:nvSpPr>
        <p:spPr>
          <a:xfrm xmlns:a="http://schemas.openxmlformats.org/drawingml/2006/main">
            <a:off x="609600" y="2609850"/>
            <a:ext cx="1962150" cy="1428750"/>
          </a:xfrm>
          <a:prstGeom xmlns:a="http://schemas.openxmlformats.org/drawingml/2006/main" prst="roundRect">
            <a:avLst>
              <a:gd name="adj" fmla="val 5333"/>
            </a:avLst>
          </a:prstGeom>
          <a:solidFill xmlns:a="http://schemas.openxmlformats.org/drawingml/2006/main">
            <a:srgbClr val="EAF4F4"/>
          </a:solidFill>
          <a:ln xmlns:a="http://schemas.openxmlformats.org/drawingml/2006/main" w="9525">
            <a:solidFill>
              <a:srgbClr val="D9E2EC"/>
            </a:solidFill>
            <a:prstDash val="solid"/>
          </a:ln>
        </p:spPr>
      </p:sp>
      <p:sp>
        <p:nvSpPr>
          <p:cNvPr id="7" name="flow-1-text">
            <a:extLst xmlns:a="http://schemas.openxmlformats.org/drawingml/2006/main">
              <a:ext uri="{FF2B5EF4-FFF2-40B4-BE49-F238E27FC236}">
                <a16:creationId xmlns:a16="http://schemas.microsoft.com/office/drawing/2014/main" id="{64BEA717-9DAC-47C6-9B23-BD94657FCEBA}"/>
              </a:ext>
            </a:extLst>
          </p:cNvPr>
          <p:cNvSpPr>
            <a:spLocks xmlns:a="http://schemas.openxmlformats.org/drawingml/2006/main" noGrp="1"/>
          </p:cNvSpPr>
          <p:nvPr/>
        </p:nvSpPr>
        <p:spPr>
          <a:xfrm xmlns:a="http://schemas.openxmlformats.org/drawingml/2006/main">
            <a:off x="7429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Änderung erzeugt</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Log Record</a:t>
            </a:r>
          </a:p>
        </p:txBody>
      </p:sp>
      <p:sp>
        <p:nvSpPr>
          <p:cNvPr id="8" name="flow-2">
            <a:extLst xmlns:a="http://schemas.openxmlformats.org/drawingml/2006/main">
              <a:ext uri="{FF2B5EF4-FFF2-40B4-BE49-F238E27FC236}">
                <a16:creationId xmlns:a16="http://schemas.microsoft.com/office/drawing/2014/main" id="{58B57872-8294-435B-A3E4-9F498A65C673}"/>
              </a:ext>
            </a:extLst>
          </p:cNvPr>
          <p:cNvSpPr>
            <a:spLocks xmlns:a="http://schemas.openxmlformats.org/drawingml/2006/main" noGrp="1"/>
          </p:cNvSpPr>
          <p:nvPr/>
        </p:nvSpPr>
        <p:spPr>
          <a:xfrm xmlns:a="http://schemas.openxmlformats.org/drawingml/2006/main">
            <a:off x="27813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9" name="flow-2-text">
            <a:extLst xmlns:a="http://schemas.openxmlformats.org/drawingml/2006/main">
              <a:ext uri="{FF2B5EF4-FFF2-40B4-BE49-F238E27FC236}">
                <a16:creationId xmlns:a16="http://schemas.microsoft.com/office/drawing/2014/main" id="{F960F42E-5B38-46DF-8BC5-E28B3BDF5B65}"/>
              </a:ext>
            </a:extLst>
          </p:cNvPr>
          <p:cNvSpPr>
            <a:spLocks xmlns:a="http://schemas.openxmlformats.org/drawingml/2006/main" noGrp="1"/>
          </p:cNvSpPr>
          <p:nvPr/>
        </p:nvSpPr>
        <p:spPr>
          <a:xfrm xmlns:a="http://schemas.openxmlformats.org/drawingml/2006/main">
            <a:off x="29146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Log Buffer</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füllt sich</a:t>
            </a:r>
          </a:p>
        </p:txBody>
      </p:sp>
      <p:sp>
        <p:nvSpPr>
          <p:cNvPr id="10" name="flow-3">
            <a:extLst xmlns:a="http://schemas.openxmlformats.org/drawingml/2006/main">
              <a:ext uri="{FF2B5EF4-FFF2-40B4-BE49-F238E27FC236}">
                <a16:creationId xmlns:a16="http://schemas.microsoft.com/office/drawing/2014/main" id="{B9F6A020-06E9-43F0-8B48-D3DD440E93C0}"/>
              </a:ext>
            </a:extLst>
          </p:cNvPr>
          <p:cNvSpPr>
            <a:spLocks xmlns:a="http://schemas.openxmlformats.org/drawingml/2006/main" noGrp="1"/>
          </p:cNvSpPr>
          <p:nvPr/>
        </p:nvSpPr>
        <p:spPr>
          <a:xfrm xmlns:a="http://schemas.openxmlformats.org/drawingml/2006/main">
            <a:off x="49530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1" name="flow-3-text">
            <a:extLst xmlns:a="http://schemas.openxmlformats.org/drawingml/2006/main">
              <a:ext uri="{FF2B5EF4-FFF2-40B4-BE49-F238E27FC236}">
                <a16:creationId xmlns:a16="http://schemas.microsoft.com/office/drawing/2014/main" id="{C13EA7CB-FCFF-4E66-9147-6320662CC93B}"/>
              </a:ext>
            </a:extLst>
          </p:cNvPr>
          <p:cNvSpPr>
            <a:spLocks xmlns:a="http://schemas.openxmlformats.org/drawingml/2006/main" noGrp="1"/>
          </p:cNvSpPr>
          <p:nvPr/>
        </p:nvSpPr>
        <p:spPr>
          <a:xfrm xmlns:a="http://schemas.openxmlformats.org/drawingml/2006/main">
            <a:off x="50863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Log wird</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gehärtet</a:t>
            </a:r>
          </a:p>
        </p:txBody>
      </p:sp>
      <p:sp>
        <p:nvSpPr>
          <p:cNvPr id="12" name="flow-4">
            <a:extLst xmlns:a="http://schemas.openxmlformats.org/drawingml/2006/main">
              <a:ext uri="{FF2B5EF4-FFF2-40B4-BE49-F238E27FC236}">
                <a16:creationId xmlns:a16="http://schemas.microsoft.com/office/drawing/2014/main" id="{90A69A97-231D-4E99-BF5C-5D29B8B25BD6}"/>
              </a:ext>
            </a:extLst>
          </p:cNvPr>
          <p:cNvSpPr>
            <a:spLocks xmlns:a="http://schemas.openxmlformats.org/drawingml/2006/main" noGrp="1"/>
          </p:cNvSpPr>
          <p:nvPr/>
        </p:nvSpPr>
        <p:spPr>
          <a:xfrm xmlns:a="http://schemas.openxmlformats.org/drawingml/2006/main">
            <a:off x="71247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3" name="flow-4-text">
            <a:extLst xmlns:a="http://schemas.openxmlformats.org/drawingml/2006/main">
              <a:ext uri="{FF2B5EF4-FFF2-40B4-BE49-F238E27FC236}">
                <a16:creationId xmlns:a16="http://schemas.microsoft.com/office/drawing/2014/main" id="{7637D768-295B-4D54-8B29-613811C5C9E1}"/>
              </a:ext>
            </a:extLst>
          </p:cNvPr>
          <p:cNvSpPr>
            <a:spLocks xmlns:a="http://schemas.openxmlformats.org/drawingml/2006/main" noGrp="1"/>
          </p:cNvSpPr>
          <p:nvPr/>
        </p:nvSpPr>
        <p:spPr>
          <a:xfrm xmlns:a="http://schemas.openxmlformats.org/drawingml/2006/main">
            <a:off x="72580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Commit wird</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bestätigt</a:t>
            </a:r>
          </a:p>
        </p:txBody>
      </p:sp>
      <p:sp>
        <p:nvSpPr>
          <p:cNvPr id="14" name="flow-5">
            <a:extLst xmlns:a="http://schemas.openxmlformats.org/drawingml/2006/main">
              <a:ext uri="{FF2B5EF4-FFF2-40B4-BE49-F238E27FC236}">
                <a16:creationId xmlns:a16="http://schemas.microsoft.com/office/drawing/2014/main" id="{912AAB0A-48B9-4C33-9FFB-C19513E79C1D}"/>
              </a:ext>
            </a:extLst>
          </p:cNvPr>
          <p:cNvSpPr>
            <a:spLocks xmlns:a="http://schemas.openxmlformats.org/drawingml/2006/main" noGrp="1"/>
          </p:cNvSpPr>
          <p:nvPr/>
        </p:nvSpPr>
        <p:spPr>
          <a:xfrm xmlns:a="http://schemas.openxmlformats.org/drawingml/2006/main">
            <a:off x="92964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5" name="flow-5-text">
            <a:extLst xmlns:a="http://schemas.openxmlformats.org/drawingml/2006/main">
              <a:ext uri="{FF2B5EF4-FFF2-40B4-BE49-F238E27FC236}">
                <a16:creationId xmlns:a16="http://schemas.microsoft.com/office/drawing/2014/main" id="{34124599-191C-4F57-A3C6-4FDD7DE82CAD}"/>
              </a:ext>
            </a:extLst>
          </p:cNvPr>
          <p:cNvSpPr>
            <a:spLocks xmlns:a="http://schemas.openxmlformats.org/drawingml/2006/main" noGrp="1"/>
          </p:cNvSpPr>
          <p:nvPr/>
        </p:nvSpPr>
        <p:spPr>
          <a:xfrm xmlns:a="http://schemas.openxmlformats.org/drawingml/2006/main">
            <a:off x="94297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Checkpoint schreibt</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Dirty Pages</a:t>
            </a:r>
          </a:p>
        </p:txBody>
      </p:sp>
      <p:cxnSp>
        <p:nvCxnSpPr>
          <p:cNvPr id="37" name=""/>
          <p:cNvCxnSpPr>
            <a:stCxn xmlns:a="http://schemas.openxmlformats.org/drawingml/2006/main" id="6" idx="3"/>
            <a:endCxn xmlns:a="http://schemas.openxmlformats.org/drawingml/2006/main" id="8" idx="1"/>
          </p:cNvCxnSpPr>
          <p:nvPr/>
        </p:nvCxnSpPr>
        <p:spPr>
          <a:xfrm xmlns:a="http://schemas.openxmlformats.org/drawingml/2006/main">
            <a:off x="25717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8" name=""/>
          <p:cNvCxnSpPr>
            <a:stCxn xmlns:a="http://schemas.openxmlformats.org/drawingml/2006/main" id="8" idx="3"/>
            <a:endCxn xmlns:a="http://schemas.openxmlformats.org/drawingml/2006/main" id="10" idx="1"/>
          </p:cNvCxnSpPr>
          <p:nvPr/>
        </p:nvCxnSpPr>
        <p:spPr>
          <a:xfrm xmlns:a="http://schemas.openxmlformats.org/drawingml/2006/main">
            <a:off x="47434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9" name=""/>
          <p:cNvCxnSpPr>
            <a:stCxn xmlns:a="http://schemas.openxmlformats.org/drawingml/2006/main" id="10" idx="3"/>
            <a:endCxn xmlns:a="http://schemas.openxmlformats.org/drawingml/2006/main" id="12" idx="1"/>
          </p:cNvCxnSpPr>
          <p:nvPr/>
        </p:nvCxnSpPr>
        <p:spPr>
          <a:xfrm xmlns:a="http://schemas.openxmlformats.org/drawingml/2006/main">
            <a:off x="69151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40" name=""/>
          <p:cNvCxnSpPr>
            <a:stCxn xmlns:a="http://schemas.openxmlformats.org/drawingml/2006/main" id="12" idx="3"/>
            <a:endCxn xmlns:a="http://schemas.openxmlformats.org/drawingml/2006/main" id="14" idx="1"/>
          </p:cNvCxnSpPr>
          <p:nvPr/>
        </p:nvCxnSpPr>
        <p:spPr>
          <a:xfrm xmlns:a="http://schemas.openxmlformats.org/drawingml/2006/main">
            <a:off x="90868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20" name="conclusion-bg">
            <a:extLst xmlns:a="http://schemas.openxmlformats.org/drawingml/2006/main">
              <a:ext uri="{FF2B5EF4-FFF2-40B4-BE49-F238E27FC236}">
                <a16:creationId xmlns:a16="http://schemas.microsoft.com/office/drawing/2014/main" id="{9B860B85-4B96-45C7-80CE-5001CA89515F}"/>
              </a:ext>
            </a:extLst>
          </p:cNvPr>
          <p:cNvSpPr>
            <a:spLocks xmlns:a="http://schemas.openxmlformats.org/drawingml/2006/main" noGrp="1"/>
          </p:cNvSpPr>
          <p:nvPr/>
        </p:nvSpPr>
        <p:spPr>
          <a:xfrm xmlns:a="http://schemas.openxmlformats.org/drawingml/2006/main">
            <a:off x="1752600" y="4762500"/>
            <a:ext cx="8382000" cy="819150"/>
          </a:xfrm>
          <a:prstGeom xmlns:a="http://schemas.openxmlformats.org/drawingml/2006/main" prst="roundRect">
            <a:avLst>
              <a:gd name="adj" fmla="val 9302"/>
            </a:avLst>
          </a:prstGeom>
          <a:solidFill xmlns:a="http://schemas.openxmlformats.org/drawingml/2006/main">
            <a:srgbClr val="0B1F33"/>
          </a:solidFill>
          <a:ln xmlns:a="http://schemas.openxmlformats.org/drawingml/2006/main" w="9525">
            <a:solidFill>
              <a:srgbClr val="0B1F33"/>
            </a:solidFill>
            <a:prstDash val="solid"/>
          </a:ln>
        </p:spPr>
      </p:sp>
      <p:sp>
        <p:nvSpPr>
          <p:cNvPr id="21" name="conclusion">
            <a:extLst xmlns:a="http://schemas.openxmlformats.org/drawingml/2006/main">
              <a:ext uri="{FF2B5EF4-FFF2-40B4-BE49-F238E27FC236}">
                <a16:creationId xmlns:a16="http://schemas.microsoft.com/office/drawing/2014/main" id="{0B2E8CC5-C544-4321-A02A-BA8BE5FC78BE}"/>
              </a:ext>
            </a:extLst>
          </p:cNvPr>
          <p:cNvSpPr>
            <a:spLocks xmlns:a="http://schemas.openxmlformats.org/drawingml/2006/main" noGrp="1"/>
          </p:cNvSpPr>
          <p:nvPr/>
        </p:nvSpPr>
        <p:spPr>
          <a:xfrm xmlns:a="http://schemas.openxmlformats.org/drawingml/2006/main">
            <a:off x="2000250" y="4933950"/>
            <a:ext cx="788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725" b="1" i="0">
                <a:solidFill>
                  <a:srgbClr val="FFFFFF"/>
                </a:solidFill>
                <a:latin typeface="Aptos"/>
                <a:ea typeface="Aptos"/>
                <a:cs typeface="Aptos"/>
              </a:defRPr>
            </a:pPr>
            <a:r>
              <a:rPr sz="1725" b="1" i="0">
                <a:solidFill>
                  <a:srgbClr val="FFFFFF"/>
                </a:solidFill>
                <a:latin typeface="Aptos"/>
                <a:ea typeface="Aptos"/>
                <a:cs typeface="Aptos"/>
              </a:rPr>
              <a:t>Checkpoint schreibt Data Pages; er ersetzt keinen Log Flush des Commits.</a:t>
            </a:r>
          </a:p>
        </p:txBody>
      </p:sp>
    </p:spTree>
    <p:extLst>
      <p:ext uri="{BB962C8B-B14F-4D97-AF65-F5344CB8AC3E}">
        <p14:creationId xmlns:p14="http://schemas.microsoft.com/office/powerpoint/2010/main" val="1149130949"/>
      </p:ext>
    </p:extLst>
  </p:cSld>
</p:sld>
</file>

<file path=ppt/slides/slide1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40F282FB-4345-46B3-8BF2-B35189954AF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1 · STORAGE</a:t>
            </a:r>
          </a:p>
        </p:txBody>
      </p:sp>
      <p:sp>
        <p:nvSpPr>
          <p:cNvPr id="2" name="slide-title">
            <a:extLst xmlns:a="http://schemas.openxmlformats.org/drawingml/2006/main">
              <a:ext uri="{FF2B5EF4-FFF2-40B4-BE49-F238E27FC236}">
                <a16:creationId xmlns:a16="http://schemas.microsoft.com/office/drawing/2014/main" id="{0DB841B6-2269-4F7A-B429-7F5A37E16F9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Autogrowth ist ein Sicherheitsnetz – keine Kapazitätsplanung</a:t>
            </a:r>
          </a:p>
        </p:txBody>
      </p:sp>
      <p:sp>
        <p:nvSpPr>
          <p:cNvPr id="3" name="title-rule">
            <a:extLst xmlns:a="http://schemas.openxmlformats.org/drawingml/2006/main">
              <a:ext uri="{FF2B5EF4-FFF2-40B4-BE49-F238E27FC236}">
                <a16:creationId xmlns:a16="http://schemas.microsoft.com/office/drawing/2014/main" id="{D23F911C-F002-4AC4-945F-780DD8674473}"/>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337343CA-A8B4-4A7E-A7C7-D6D227599518}"/>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15C9E046-D02F-4DE8-943E-DDC96BD7EB8E}"/>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17 / 84</a:t>
            </a:r>
          </a:p>
        </p:txBody>
      </p:sp>
      <p:sp>
        <p:nvSpPr>
          <p:cNvPr id="6" name="lead">
            <a:extLst xmlns:a="http://schemas.openxmlformats.org/drawingml/2006/main">
              <a:ext uri="{FF2B5EF4-FFF2-40B4-BE49-F238E27FC236}">
                <a16:creationId xmlns:a16="http://schemas.microsoft.com/office/drawing/2014/main" id="{DB698761-71F7-4693-ADC6-623B11C1C9E0}"/>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Dateien werden vorab dimensioniert; Wachstum wird als erwartbares Betriebsereignis überwacht.</a:t>
            </a:r>
          </a:p>
        </p:txBody>
      </p:sp>
      <p:sp>
        <p:nvSpPr>
          <p:cNvPr id="7" name="lead-accent">
            <a:extLst xmlns:a="http://schemas.openxmlformats.org/drawingml/2006/main">
              <a:ext uri="{FF2B5EF4-FFF2-40B4-BE49-F238E27FC236}">
                <a16:creationId xmlns:a16="http://schemas.microsoft.com/office/drawing/2014/main" id="{B1D07F72-E486-475B-84BE-6368CDF03E8D}"/>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9FC728C3-4C58-40A3-AD59-93F3C36DDD19}"/>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Data Files: passende feste Growth-Schritte und freier Storage</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Log: VLF-Struktur, Recovery Model und Log-Backup-Kette berücksichtigen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Instant File Initialization beschleunigt Data-File-Wachstum, nicht Log-Wachstum</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Wachstumsdauer und Blockierung empirisch prüfen</a:t>
            </a:r>
          </a:p>
        </p:txBody>
      </p:sp>
    </p:spTree>
    <p:extLst>
      <p:ext uri="{BB962C8B-B14F-4D97-AF65-F5344CB8AC3E}">
        <p14:creationId xmlns:p14="http://schemas.microsoft.com/office/powerpoint/2010/main" val="2087434017"/>
      </p:ext>
    </p:extLst>
  </p:cSld>
</p:sld>
</file>

<file path=ppt/slides/slide18.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module">
            <a:extLst xmlns:a="http://schemas.openxmlformats.org/drawingml/2006/main">
              <a:ext uri="{FF2B5EF4-FFF2-40B4-BE49-F238E27FC236}">
                <a16:creationId xmlns:a16="http://schemas.microsoft.com/office/drawing/2014/main" id="{030C3114-304B-4D1B-A72E-415A8D9CBE9B}"/>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1 · WISSENSKONTROLLE</a:t>
            </a:r>
          </a:p>
        </p:txBody>
      </p:sp>
      <p:sp>
        <p:nvSpPr>
          <p:cNvPr id="2" name="question">
            <a:extLst xmlns:a="http://schemas.openxmlformats.org/drawingml/2006/main">
              <a:ext uri="{FF2B5EF4-FFF2-40B4-BE49-F238E27FC236}">
                <a16:creationId xmlns:a16="http://schemas.microsoft.com/office/drawing/2014/main" id="{A8C832E7-AF90-4751-BD6A-138294B5DD91}"/>
              </a:ext>
            </a:extLst>
          </p:cNvPr>
          <p:cNvSpPr>
            <a:spLocks xmlns:a="http://schemas.openxmlformats.org/drawingml/2006/main" noGrp="1"/>
          </p:cNvSpPr>
          <p:nvPr/>
        </p:nvSpPr>
        <p:spPr>
          <a:xfrm xmlns:a="http://schemas.openxmlformats.org/drawingml/2006/main">
            <a:off x="609600" y="1219200"/>
            <a:ext cx="990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968"/>
          </a:bodyPr>
          <a:lstStyle xmlns:a="http://schemas.openxmlformats.org/drawingml/2006/main"/>
          <a:p xmlns:a="http://schemas.openxmlformats.org/drawingml/2006/main">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Warum kann eine Abfrage trotz unverändertem Plan plötzlich mehr I/O-Zeit benötigen?</a:t>
            </a:r>
          </a:p>
        </p:txBody>
      </p:sp>
      <p:sp>
        <p:nvSpPr>
          <p:cNvPr id="3" name="question-rule">
            <a:extLst xmlns:a="http://schemas.openxmlformats.org/drawingml/2006/main">
              <a:ext uri="{FF2B5EF4-FFF2-40B4-BE49-F238E27FC236}">
                <a16:creationId xmlns:a16="http://schemas.microsoft.com/office/drawing/2014/main" id="{1AB94CF6-0EDF-496B-A18F-20B82820AB38}"/>
              </a:ext>
            </a:extLst>
          </p:cNvPr>
          <p:cNvSpPr>
            <a:spLocks xmlns:a="http://schemas.openxmlformats.org/drawingml/2006/main" noGrp="1"/>
          </p:cNvSpPr>
          <p:nvPr/>
        </p:nvSpPr>
        <p:spPr>
          <a:xfrm xmlns:a="http://schemas.openxmlformats.org/drawingml/2006/main">
            <a:off x="609600" y="3048000"/>
            <a:ext cx="106680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4" name="prompt-num-0">
            <a:extLst xmlns:a="http://schemas.openxmlformats.org/drawingml/2006/main">
              <a:ext uri="{FF2B5EF4-FFF2-40B4-BE49-F238E27FC236}">
                <a16:creationId xmlns:a16="http://schemas.microsoft.com/office/drawing/2014/main" id="{5E678454-E8E4-437F-B58B-36FA643E102B}"/>
              </a:ext>
            </a:extLst>
          </p:cNvPr>
          <p:cNvSpPr>
            <a:spLocks xmlns:a="http://schemas.openxmlformats.org/drawingml/2006/main" noGrp="1"/>
          </p:cNvSpPr>
          <p:nvPr/>
        </p:nvSpPr>
        <p:spPr>
          <a:xfrm xmlns:a="http://schemas.openxmlformats.org/drawingml/2006/main">
            <a:off x="66675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xmlns:a="http://schemas.openxmlformats.org/drawingml/2006/main">
              <a:ext uri="{FF2B5EF4-FFF2-40B4-BE49-F238E27FC236}">
                <a16:creationId xmlns:a16="http://schemas.microsoft.com/office/drawing/2014/main" id="{E36587A1-E6C9-4AE0-B92C-6F0BD1027379}"/>
              </a:ext>
            </a:extLst>
          </p:cNvPr>
          <p:cNvSpPr>
            <a:spLocks xmlns:a="http://schemas.openxmlformats.org/drawingml/2006/main" noGrp="1"/>
          </p:cNvSpPr>
          <p:nvPr/>
        </p:nvSpPr>
        <p:spPr>
          <a:xfrm xmlns:a="http://schemas.openxmlformats.org/drawingml/2006/main">
            <a:off x="125730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Cachezustand und Read-ahead</a:t>
            </a:r>
          </a:p>
        </p:txBody>
      </p:sp>
      <p:sp>
        <p:nvSpPr>
          <p:cNvPr id="6" name="prompt-num-1">
            <a:extLst xmlns:a="http://schemas.openxmlformats.org/drawingml/2006/main">
              <a:ext uri="{FF2B5EF4-FFF2-40B4-BE49-F238E27FC236}">
                <a16:creationId xmlns:a16="http://schemas.microsoft.com/office/drawing/2014/main" id="{3ECFC933-B231-414C-BF30-E6A3701FC25D}"/>
              </a:ext>
            </a:extLst>
          </p:cNvPr>
          <p:cNvSpPr>
            <a:spLocks xmlns:a="http://schemas.openxmlformats.org/drawingml/2006/main" noGrp="1"/>
          </p:cNvSpPr>
          <p:nvPr/>
        </p:nvSpPr>
        <p:spPr>
          <a:xfrm xmlns:a="http://schemas.openxmlformats.org/drawingml/2006/main">
            <a:off x="609600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xmlns:a="http://schemas.openxmlformats.org/drawingml/2006/main">
              <a:ext uri="{FF2B5EF4-FFF2-40B4-BE49-F238E27FC236}">
                <a16:creationId xmlns:a16="http://schemas.microsoft.com/office/drawing/2014/main" id="{C52599F2-1C2E-420A-85F5-E1C7B6E2BA24}"/>
              </a:ext>
            </a:extLst>
          </p:cNvPr>
          <p:cNvSpPr>
            <a:spLocks xmlns:a="http://schemas.openxmlformats.org/drawingml/2006/main" noGrp="1"/>
          </p:cNvSpPr>
          <p:nvPr/>
        </p:nvSpPr>
        <p:spPr>
          <a:xfrm xmlns:a="http://schemas.openxmlformats.org/drawingml/2006/main">
            <a:off x="668655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Page-Anzahl und Zeilenbreite</a:t>
            </a:r>
          </a:p>
        </p:txBody>
      </p:sp>
      <p:sp>
        <p:nvSpPr>
          <p:cNvPr id="8" name="prompt-num-2">
            <a:extLst xmlns:a="http://schemas.openxmlformats.org/drawingml/2006/main">
              <a:ext uri="{FF2B5EF4-FFF2-40B4-BE49-F238E27FC236}">
                <a16:creationId xmlns:a16="http://schemas.microsoft.com/office/drawing/2014/main" id="{CB592791-8929-46D1-9C80-BA5D16CA209F}"/>
              </a:ext>
            </a:extLst>
          </p:cNvPr>
          <p:cNvSpPr>
            <a:spLocks xmlns:a="http://schemas.openxmlformats.org/drawingml/2006/main" noGrp="1"/>
          </p:cNvSpPr>
          <p:nvPr/>
        </p:nvSpPr>
        <p:spPr>
          <a:xfrm xmlns:a="http://schemas.openxmlformats.org/drawingml/2006/main">
            <a:off x="66675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xmlns:a="http://schemas.openxmlformats.org/drawingml/2006/main">
              <a:ext uri="{FF2B5EF4-FFF2-40B4-BE49-F238E27FC236}">
                <a16:creationId xmlns:a16="http://schemas.microsoft.com/office/drawing/2014/main" id="{736C7A5C-31D5-4FC2-9537-FB06C23E2F45}"/>
              </a:ext>
            </a:extLst>
          </p:cNvPr>
          <p:cNvSpPr>
            <a:spLocks xmlns:a="http://schemas.openxmlformats.org/drawingml/2006/main" noGrp="1"/>
          </p:cNvSpPr>
          <p:nvPr/>
        </p:nvSpPr>
        <p:spPr>
          <a:xfrm xmlns:a="http://schemas.openxmlformats.org/drawingml/2006/main">
            <a:off x="125730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Storage-Latenz und konkurrierende Workload</a:t>
            </a:r>
          </a:p>
        </p:txBody>
      </p:sp>
      <p:sp>
        <p:nvSpPr>
          <p:cNvPr id="10" name="prompt-num-3">
            <a:extLst xmlns:a="http://schemas.openxmlformats.org/drawingml/2006/main">
              <a:ext uri="{FF2B5EF4-FFF2-40B4-BE49-F238E27FC236}">
                <a16:creationId xmlns:a16="http://schemas.microsoft.com/office/drawing/2014/main" id="{46DDC352-7A97-46FA-A856-0E36F45FE086}"/>
              </a:ext>
            </a:extLst>
          </p:cNvPr>
          <p:cNvSpPr>
            <a:spLocks xmlns:a="http://schemas.openxmlformats.org/drawingml/2006/main" noGrp="1"/>
          </p:cNvSpPr>
          <p:nvPr/>
        </p:nvSpPr>
        <p:spPr>
          <a:xfrm xmlns:a="http://schemas.openxmlformats.org/drawingml/2006/main">
            <a:off x="609600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xmlns:a="http://schemas.openxmlformats.org/drawingml/2006/main">
              <a:ext uri="{FF2B5EF4-FFF2-40B4-BE49-F238E27FC236}">
                <a16:creationId xmlns:a16="http://schemas.microsoft.com/office/drawing/2014/main" id="{756E9EE6-EF21-4EA0-BD73-317DAF1C86AB}"/>
              </a:ext>
            </a:extLst>
          </p:cNvPr>
          <p:cNvSpPr>
            <a:spLocks xmlns:a="http://schemas.openxmlformats.org/drawingml/2006/main" noGrp="1"/>
          </p:cNvSpPr>
          <p:nvPr/>
        </p:nvSpPr>
        <p:spPr>
          <a:xfrm xmlns:a="http://schemas.openxmlformats.org/drawingml/2006/main">
            <a:off x="668655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Autogrowth oder Log Flush</a:t>
            </a:r>
          </a:p>
        </p:txBody>
      </p:sp>
      <p:sp>
        <p:nvSpPr>
          <p:cNvPr id="12" name="question-footer">
            <a:extLst xmlns:a="http://schemas.openxmlformats.org/drawingml/2006/main">
              <a:ext uri="{FF2B5EF4-FFF2-40B4-BE49-F238E27FC236}">
                <a16:creationId xmlns:a16="http://schemas.microsoft.com/office/drawing/2014/main" id="{6386A445-9209-4F37-9D59-5B570BBCF9A2}"/>
              </a:ext>
            </a:extLst>
          </p:cNvPr>
          <p:cNvSpPr>
            <a:spLocks xmlns:a="http://schemas.openxmlformats.org/drawingml/2006/main" noGrp="1"/>
          </p:cNvSpPr>
          <p:nvPr/>
        </p:nvSpPr>
        <p:spPr>
          <a:xfrm xmlns:a="http://schemas.openxmlformats.org/drawingml/2006/main">
            <a:off x="10287000" y="64389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18 / 84</a:t>
            </a:r>
          </a:p>
        </p:txBody>
      </p:sp>
    </p:spTree>
    <p:extLst>
      <p:ext uri="{BB962C8B-B14F-4D97-AF65-F5344CB8AC3E}">
        <p14:creationId xmlns:p14="http://schemas.microsoft.com/office/powerpoint/2010/main" val="1708587450"/>
      </p:ext>
    </p:extLst>
  </p:cSld>
</p:sld>
</file>

<file path=ppt/slides/slide19.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section-number">
            <a:extLst xmlns:a="http://schemas.openxmlformats.org/drawingml/2006/main">
              <a:ext uri="{FF2B5EF4-FFF2-40B4-BE49-F238E27FC236}">
                <a16:creationId xmlns:a16="http://schemas.microsoft.com/office/drawing/2014/main" id="{28C841A3-5C9F-4FE9-B647-7B3CD5A10200}"/>
              </a:ext>
            </a:extLst>
          </p:cNvPr>
          <p:cNvSpPr>
            <a:spLocks xmlns:a="http://schemas.openxmlformats.org/drawingml/2006/main" noGrp="1"/>
          </p:cNvSpPr>
          <p:nvPr/>
        </p:nvSpPr>
        <p:spPr>
          <a:xfrm xmlns:a="http://schemas.openxmlformats.org/drawingml/2006/main">
            <a:off x="628650" y="60960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02</a:t>
            </a:r>
          </a:p>
        </p:txBody>
      </p:sp>
      <p:sp>
        <p:nvSpPr>
          <p:cNvPr id="2" name="section-rule">
            <a:extLst xmlns:a="http://schemas.openxmlformats.org/drawingml/2006/main">
              <a:ext uri="{FF2B5EF4-FFF2-40B4-BE49-F238E27FC236}">
                <a16:creationId xmlns:a16="http://schemas.microsoft.com/office/drawing/2014/main" id="{12765462-9231-4950-8D23-4FC65E250F55}"/>
              </a:ext>
            </a:extLst>
          </p:cNvPr>
          <p:cNvSpPr>
            <a:spLocks xmlns:a="http://schemas.openxmlformats.org/drawingml/2006/main" noGrp="1"/>
          </p:cNvSpPr>
          <p:nvPr/>
        </p:nvSpPr>
        <p:spPr>
          <a:xfrm xmlns:a="http://schemas.openxmlformats.org/drawingml/2006/main">
            <a:off x="628650" y="2228850"/>
            <a:ext cx="109347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3" name="section-title">
            <a:extLst xmlns:a="http://schemas.openxmlformats.org/drawingml/2006/main">
              <a:ext uri="{FF2B5EF4-FFF2-40B4-BE49-F238E27FC236}">
                <a16:creationId xmlns:a16="http://schemas.microsoft.com/office/drawing/2014/main" id="{BBA32941-D3DC-428B-A719-ACA37B9089DC}"/>
              </a:ext>
            </a:extLst>
          </p:cNvPr>
          <p:cNvSpPr>
            <a:spLocks xmlns:a="http://schemas.openxmlformats.org/drawingml/2006/main" noGrp="1"/>
          </p:cNvSpPr>
          <p:nvPr/>
        </p:nvSpPr>
        <p:spPr>
          <a:xfrm xmlns:a="http://schemas.openxmlformats.org/drawingml/2006/main">
            <a:off x="628650" y="27051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Query Processing</a:t>
            </a:r>
          </a:p>
        </p:txBody>
      </p:sp>
      <p:sp>
        <p:nvSpPr>
          <p:cNvPr id="4" name="section-subtitle">
            <a:extLst xmlns:a="http://schemas.openxmlformats.org/drawingml/2006/main">
              <a:ext uri="{FF2B5EF4-FFF2-40B4-BE49-F238E27FC236}">
                <a16:creationId xmlns:a16="http://schemas.microsoft.com/office/drawing/2014/main" id="{E52933A3-1D74-4AB0-9964-B50F058F7F39}"/>
              </a:ext>
            </a:extLst>
          </p:cNvPr>
          <p:cNvSpPr>
            <a:spLocks xmlns:a="http://schemas.openxmlformats.org/drawingml/2006/main" noGrp="1"/>
          </p:cNvSpPr>
          <p:nvPr/>
        </p:nvSpPr>
        <p:spPr>
          <a:xfrm xmlns:a="http://schemas.openxmlformats.org/drawingml/2006/main">
            <a:off x="628650" y="400050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Wie werden aus SQL-Text Kardinalitäten, Kosten und ein ausführbarer Plan?</a:t>
            </a:r>
          </a:p>
        </p:txBody>
      </p:sp>
      <p:sp>
        <p:nvSpPr>
          <p:cNvPr id="5" name="section-footer">
            <a:extLst xmlns:a="http://schemas.openxmlformats.org/drawingml/2006/main">
              <a:ext uri="{FF2B5EF4-FFF2-40B4-BE49-F238E27FC236}">
                <a16:creationId xmlns:a16="http://schemas.microsoft.com/office/drawing/2014/main" id="{A5E47BF0-A2C1-4036-9AD5-F8B826F47A10}"/>
              </a:ext>
            </a:extLst>
          </p:cNvPr>
          <p:cNvSpPr>
            <a:spLocks xmlns:a="http://schemas.openxmlformats.org/drawingml/2006/main" noGrp="1"/>
          </p:cNvSpPr>
          <p:nvPr/>
        </p:nvSpPr>
        <p:spPr>
          <a:xfrm xmlns:a="http://schemas.openxmlformats.org/drawingml/2006/main">
            <a:off x="628650" y="64198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904714840"/>
      </p:ext>
    </p:extLst>
  </p:cSld>
</p:sld>
</file>

<file path=ppt/slides/slide2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190005A9-CB41-4964-AD14-7A3FA1F8D0F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FAA3F878-0109-4E12-A7A3-0FAD8ED3EDA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Eine Query durchläuft vier fachlich unterscheidbare Phasen</a:t>
            </a:r>
          </a:p>
        </p:txBody>
      </p:sp>
      <p:sp>
        <p:nvSpPr>
          <p:cNvPr id="3" name="title-rule">
            <a:extLst xmlns:a="http://schemas.openxmlformats.org/drawingml/2006/main">
              <a:ext uri="{FF2B5EF4-FFF2-40B4-BE49-F238E27FC236}">
                <a16:creationId xmlns:a16="http://schemas.microsoft.com/office/drawing/2014/main" id="{2A78D55D-2025-4ACD-ADC7-BEFA3596D914}"/>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0EFB4B43-E621-4397-A82F-DDD281299851}"/>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67E15A68-D696-4D27-846B-8A9EEF269D69}"/>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20 / 84</a:t>
            </a:r>
          </a:p>
        </p:txBody>
      </p:sp>
      <p:sp>
        <p:nvSpPr>
          <p:cNvPr id="6" name="flow-1">
            <a:extLst xmlns:a="http://schemas.openxmlformats.org/drawingml/2006/main">
              <a:ext uri="{FF2B5EF4-FFF2-40B4-BE49-F238E27FC236}">
                <a16:creationId xmlns:a16="http://schemas.microsoft.com/office/drawing/2014/main" id="{0C409208-CA35-4278-9E16-2EA7B53AEE36}"/>
              </a:ext>
            </a:extLst>
          </p:cNvPr>
          <p:cNvSpPr>
            <a:spLocks xmlns:a="http://schemas.openxmlformats.org/drawingml/2006/main" noGrp="1"/>
          </p:cNvSpPr>
          <p:nvPr/>
        </p:nvSpPr>
        <p:spPr>
          <a:xfrm xmlns:a="http://schemas.openxmlformats.org/drawingml/2006/main">
            <a:off x="609600" y="2609850"/>
            <a:ext cx="2505075" cy="1428750"/>
          </a:xfrm>
          <a:prstGeom xmlns:a="http://schemas.openxmlformats.org/drawingml/2006/main" prst="roundRect">
            <a:avLst>
              <a:gd name="adj" fmla="val 5333"/>
            </a:avLst>
          </a:prstGeom>
          <a:solidFill xmlns:a="http://schemas.openxmlformats.org/drawingml/2006/main">
            <a:srgbClr val="EAF4F4"/>
          </a:solidFill>
          <a:ln xmlns:a="http://schemas.openxmlformats.org/drawingml/2006/main" w="9525">
            <a:solidFill>
              <a:srgbClr val="D9E2EC"/>
            </a:solidFill>
            <a:prstDash val="solid"/>
          </a:ln>
        </p:spPr>
      </p:sp>
      <p:sp>
        <p:nvSpPr>
          <p:cNvPr id="7" name="flow-1-text">
            <a:extLst xmlns:a="http://schemas.openxmlformats.org/drawingml/2006/main">
              <a:ext uri="{FF2B5EF4-FFF2-40B4-BE49-F238E27FC236}">
                <a16:creationId xmlns:a16="http://schemas.microsoft.com/office/drawing/2014/main" id="{EB86B69D-E94D-459E-A576-528EE30E53B7}"/>
              </a:ext>
            </a:extLst>
          </p:cNvPr>
          <p:cNvSpPr>
            <a:spLocks xmlns:a="http://schemas.openxmlformats.org/drawingml/2006/main" noGrp="1"/>
          </p:cNvSpPr>
          <p:nvPr/>
        </p:nvSpPr>
        <p:spPr>
          <a:xfrm xmlns:a="http://schemas.openxmlformats.org/drawingml/2006/main">
            <a:off x="742950" y="2724150"/>
            <a:ext cx="22383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Parse</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Syntax</a:t>
            </a:r>
          </a:p>
        </p:txBody>
      </p:sp>
      <p:sp>
        <p:nvSpPr>
          <p:cNvPr id="8" name="flow-2">
            <a:extLst xmlns:a="http://schemas.openxmlformats.org/drawingml/2006/main">
              <a:ext uri="{FF2B5EF4-FFF2-40B4-BE49-F238E27FC236}">
                <a16:creationId xmlns:a16="http://schemas.microsoft.com/office/drawing/2014/main" id="{84BB61AF-AF18-4E05-9909-95885E781554}"/>
              </a:ext>
            </a:extLst>
          </p:cNvPr>
          <p:cNvSpPr>
            <a:spLocks xmlns:a="http://schemas.openxmlformats.org/drawingml/2006/main" noGrp="1"/>
          </p:cNvSpPr>
          <p:nvPr/>
        </p:nvSpPr>
        <p:spPr>
          <a:xfrm xmlns:a="http://schemas.openxmlformats.org/drawingml/2006/main">
            <a:off x="3324225" y="2609850"/>
            <a:ext cx="250507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9" name="flow-2-text">
            <a:extLst xmlns:a="http://schemas.openxmlformats.org/drawingml/2006/main">
              <a:ext uri="{FF2B5EF4-FFF2-40B4-BE49-F238E27FC236}">
                <a16:creationId xmlns:a16="http://schemas.microsoft.com/office/drawing/2014/main" id="{36E4EB0F-CD1A-43A1-9B5F-4F7D6F2C2218}"/>
              </a:ext>
            </a:extLst>
          </p:cNvPr>
          <p:cNvSpPr>
            <a:spLocks xmlns:a="http://schemas.openxmlformats.org/drawingml/2006/main" noGrp="1"/>
          </p:cNvSpPr>
          <p:nvPr/>
        </p:nvSpPr>
        <p:spPr>
          <a:xfrm xmlns:a="http://schemas.openxmlformats.org/drawingml/2006/main">
            <a:off x="3457575" y="2724150"/>
            <a:ext cx="22383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Bind</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Objekte &amp; Typen</a:t>
            </a:r>
          </a:p>
        </p:txBody>
      </p:sp>
      <p:sp>
        <p:nvSpPr>
          <p:cNvPr id="10" name="flow-3">
            <a:extLst xmlns:a="http://schemas.openxmlformats.org/drawingml/2006/main">
              <a:ext uri="{FF2B5EF4-FFF2-40B4-BE49-F238E27FC236}">
                <a16:creationId xmlns:a16="http://schemas.microsoft.com/office/drawing/2014/main" id="{BAA9AF21-FFEE-48E0-BF2C-751A1A287ED9}"/>
              </a:ext>
            </a:extLst>
          </p:cNvPr>
          <p:cNvSpPr>
            <a:spLocks xmlns:a="http://schemas.openxmlformats.org/drawingml/2006/main" noGrp="1"/>
          </p:cNvSpPr>
          <p:nvPr/>
        </p:nvSpPr>
        <p:spPr>
          <a:xfrm xmlns:a="http://schemas.openxmlformats.org/drawingml/2006/main">
            <a:off x="6038850" y="2609850"/>
            <a:ext cx="250507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1" name="flow-3-text">
            <a:extLst xmlns:a="http://schemas.openxmlformats.org/drawingml/2006/main">
              <a:ext uri="{FF2B5EF4-FFF2-40B4-BE49-F238E27FC236}">
                <a16:creationId xmlns:a16="http://schemas.microsoft.com/office/drawing/2014/main" id="{26B34F9B-6169-437C-AC13-888C36D644EF}"/>
              </a:ext>
            </a:extLst>
          </p:cNvPr>
          <p:cNvSpPr>
            <a:spLocks xmlns:a="http://schemas.openxmlformats.org/drawingml/2006/main" noGrp="1"/>
          </p:cNvSpPr>
          <p:nvPr/>
        </p:nvSpPr>
        <p:spPr>
          <a:xfrm xmlns:a="http://schemas.openxmlformats.org/drawingml/2006/main">
            <a:off x="6172200" y="2724150"/>
            <a:ext cx="22383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Optimize</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Alternativen</a:t>
            </a:r>
          </a:p>
        </p:txBody>
      </p:sp>
      <p:sp>
        <p:nvSpPr>
          <p:cNvPr id="12" name="flow-4">
            <a:extLst xmlns:a="http://schemas.openxmlformats.org/drawingml/2006/main">
              <a:ext uri="{FF2B5EF4-FFF2-40B4-BE49-F238E27FC236}">
                <a16:creationId xmlns:a16="http://schemas.microsoft.com/office/drawing/2014/main" id="{F8638203-51B2-480A-B165-B2018AA74458}"/>
              </a:ext>
            </a:extLst>
          </p:cNvPr>
          <p:cNvSpPr>
            <a:spLocks xmlns:a="http://schemas.openxmlformats.org/drawingml/2006/main" noGrp="1"/>
          </p:cNvSpPr>
          <p:nvPr/>
        </p:nvSpPr>
        <p:spPr>
          <a:xfrm xmlns:a="http://schemas.openxmlformats.org/drawingml/2006/main">
            <a:off x="8753475" y="2609850"/>
            <a:ext cx="250507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3" name="flow-4-text">
            <a:extLst xmlns:a="http://schemas.openxmlformats.org/drawingml/2006/main">
              <a:ext uri="{FF2B5EF4-FFF2-40B4-BE49-F238E27FC236}">
                <a16:creationId xmlns:a16="http://schemas.microsoft.com/office/drawing/2014/main" id="{4704A370-89AA-476A-A772-BF877B8BEBCA}"/>
              </a:ext>
            </a:extLst>
          </p:cNvPr>
          <p:cNvSpPr>
            <a:spLocks xmlns:a="http://schemas.openxmlformats.org/drawingml/2006/main" noGrp="1"/>
          </p:cNvSpPr>
          <p:nvPr/>
        </p:nvSpPr>
        <p:spPr>
          <a:xfrm xmlns:a="http://schemas.openxmlformats.org/drawingml/2006/main">
            <a:off x="8886825" y="2724150"/>
            <a:ext cx="22383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Execute</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Operatoren</a:t>
            </a:r>
          </a:p>
        </p:txBody>
      </p:sp>
      <p:cxnSp>
        <p:nvCxnSpPr>
          <p:cNvPr id="32" name=""/>
          <p:cNvCxnSpPr>
            <a:stCxn xmlns:a="http://schemas.openxmlformats.org/drawingml/2006/main" id="6" idx="3"/>
            <a:endCxn xmlns:a="http://schemas.openxmlformats.org/drawingml/2006/main" id="8" idx="1"/>
          </p:cNvCxnSpPr>
          <p:nvPr/>
        </p:nvCxnSpPr>
        <p:spPr>
          <a:xfrm xmlns:a="http://schemas.openxmlformats.org/drawingml/2006/main">
            <a:off x="3114675"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3" name=""/>
          <p:cNvCxnSpPr>
            <a:stCxn xmlns:a="http://schemas.openxmlformats.org/drawingml/2006/main" id="8" idx="3"/>
            <a:endCxn xmlns:a="http://schemas.openxmlformats.org/drawingml/2006/main" id="10" idx="1"/>
          </p:cNvCxnSpPr>
          <p:nvPr/>
        </p:nvCxnSpPr>
        <p:spPr>
          <a:xfrm xmlns:a="http://schemas.openxmlformats.org/drawingml/2006/main">
            <a:off x="582930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4" name=""/>
          <p:cNvCxnSpPr>
            <a:stCxn xmlns:a="http://schemas.openxmlformats.org/drawingml/2006/main" id="10" idx="3"/>
            <a:endCxn xmlns:a="http://schemas.openxmlformats.org/drawingml/2006/main" id="12" idx="1"/>
          </p:cNvCxnSpPr>
          <p:nvPr/>
        </p:nvCxnSpPr>
        <p:spPr>
          <a:xfrm xmlns:a="http://schemas.openxmlformats.org/drawingml/2006/main">
            <a:off x="8543925"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17" name="conclusion-bg">
            <a:extLst xmlns:a="http://schemas.openxmlformats.org/drawingml/2006/main">
              <a:ext uri="{FF2B5EF4-FFF2-40B4-BE49-F238E27FC236}">
                <a16:creationId xmlns:a16="http://schemas.microsoft.com/office/drawing/2014/main" id="{906145E5-F342-40D3-A305-16E658E0BFD3}"/>
              </a:ext>
            </a:extLst>
          </p:cNvPr>
          <p:cNvSpPr>
            <a:spLocks xmlns:a="http://schemas.openxmlformats.org/drawingml/2006/main" noGrp="1"/>
          </p:cNvSpPr>
          <p:nvPr/>
        </p:nvSpPr>
        <p:spPr>
          <a:xfrm xmlns:a="http://schemas.openxmlformats.org/drawingml/2006/main">
            <a:off x="1752600" y="4762500"/>
            <a:ext cx="8382000" cy="819150"/>
          </a:xfrm>
          <a:prstGeom xmlns:a="http://schemas.openxmlformats.org/drawingml/2006/main" prst="roundRect">
            <a:avLst>
              <a:gd name="adj" fmla="val 9302"/>
            </a:avLst>
          </a:prstGeom>
          <a:solidFill xmlns:a="http://schemas.openxmlformats.org/drawingml/2006/main">
            <a:srgbClr val="0B1F33"/>
          </a:solidFill>
          <a:ln xmlns:a="http://schemas.openxmlformats.org/drawingml/2006/main" w="9525">
            <a:solidFill>
              <a:srgbClr val="0B1F33"/>
            </a:solidFill>
            <a:prstDash val="solid"/>
          </a:ln>
        </p:spPr>
      </p:sp>
      <p:sp>
        <p:nvSpPr>
          <p:cNvPr id="18" name="conclusion">
            <a:extLst xmlns:a="http://schemas.openxmlformats.org/drawingml/2006/main">
              <a:ext uri="{FF2B5EF4-FFF2-40B4-BE49-F238E27FC236}">
                <a16:creationId xmlns:a16="http://schemas.microsoft.com/office/drawing/2014/main" id="{CB890CDC-5F2D-42E8-82DD-A51AC48F1D52}"/>
              </a:ext>
            </a:extLst>
          </p:cNvPr>
          <p:cNvSpPr>
            <a:spLocks xmlns:a="http://schemas.openxmlformats.org/drawingml/2006/main" noGrp="1"/>
          </p:cNvSpPr>
          <p:nvPr/>
        </p:nvSpPr>
        <p:spPr>
          <a:xfrm xmlns:a="http://schemas.openxmlformats.org/drawingml/2006/main">
            <a:off x="2000250" y="4933950"/>
            <a:ext cx="788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725" b="1" i="0">
                <a:solidFill>
                  <a:srgbClr val="FFFFFF"/>
                </a:solidFill>
                <a:latin typeface="Aptos"/>
                <a:ea typeface="Aptos"/>
                <a:cs typeface="Aptos"/>
              </a:defRPr>
            </a:pPr>
            <a:r>
              <a:rPr sz="1725" b="1" i="0">
                <a:solidFill>
                  <a:srgbClr val="FFFFFF"/>
                </a:solidFill>
                <a:latin typeface="Aptos"/>
                <a:ea typeface="Aptos"/>
                <a:cs typeface="Aptos"/>
              </a:rPr>
              <a:t>Fehler in Datentypen oder Metadaten wirken bereits vor der Ausführung.</a:t>
            </a:r>
          </a:p>
        </p:txBody>
      </p:sp>
    </p:spTree>
    <p:extLst>
      <p:ext uri="{BB962C8B-B14F-4D97-AF65-F5344CB8AC3E}">
        <p14:creationId xmlns:p14="http://schemas.microsoft.com/office/powerpoint/2010/main" val="1094090273"/>
      </p:ext>
    </p:extLst>
  </p:cSld>
</p:sld>
</file>

<file path=ppt/slides/slide2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8947D279-BCB2-4516-9FBE-496613D9E23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1EF6BE94-E1EF-442A-B01E-1E2C32F4EF1A}"/>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Der Optimizer sucht einen ausreichend günstigen Plan – nicht den mathematisch besten</a:t>
            </a:r>
          </a:p>
        </p:txBody>
      </p:sp>
      <p:sp>
        <p:nvSpPr>
          <p:cNvPr id="3" name="title-rule">
            <a:extLst xmlns:a="http://schemas.openxmlformats.org/drawingml/2006/main">
              <a:ext uri="{FF2B5EF4-FFF2-40B4-BE49-F238E27FC236}">
                <a16:creationId xmlns:a16="http://schemas.microsoft.com/office/drawing/2014/main" id="{59C76B92-3385-4C77-9397-B1980735B3C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7D27CBFA-04D1-438F-815E-19AB5D9782E6}"/>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7C982AFA-F68A-403A-9454-288AA19DEEDE}"/>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21 / 84</a:t>
            </a:r>
          </a:p>
        </p:txBody>
      </p:sp>
      <p:sp>
        <p:nvSpPr>
          <p:cNvPr id="6" name="lead">
            <a:extLst xmlns:a="http://schemas.openxmlformats.org/drawingml/2006/main">
              <a:ext uri="{FF2B5EF4-FFF2-40B4-BE49-F238E27FC236}">
                <a16:creationId xmlns:a16="http://schemas.microsoft.com/office/drawing/2014/main" id="{41FD7ED2-BCE1-49C8-A468-828C0871B598}"/>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Der Suchraum wächst kombinatorisch. Deshalb begrenzen Transformationen, Heuristiken und Optimierungsphasen die Suche.</a:t>
            </a:r>
          </a:p>
        </p:txBody>
      </p:sp>
      <p:sp>
        <p:nvSpPr>
          <p:cNvPr id="7" name="lead-accent">
            <a:extLst xmlns:a="http://schemas.openxmlformats.org/drawingml/2006/main">
              <a:ext uri="{FF2B5EF4-FFF2-40B4-BE49-F238E27FC236}">
                <a16:creationId xmlns:a16="http://schemas.microsoft.com/office/drawing/2014/main" id="{444F96E5-8297-4545-AF35-EEA45AA5D7E7}"/>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7E9CB950-C41F-48A7-B70C-CE67FE2A7486}"/>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Operatoren erhalten modellierte CPU- und I/O-Kosten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Kardinalitäten beeinflussen fast jede Kostenkomponente</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Time-out bedeutet Abbruch der Suche, nicht zwingend einen schlechten Plan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Runtime-Zustände können vom Kostenmodell abweichen</a:t>
            </a:r>
          </a:p>
        </p:txBody>
      </p:sp>
    </p:spTree>
    <p:extLst>
      <p:ext uri="{BB962C8B-B14F-4D97-AF65-F5344CB8AC3E}">
        <p14:creationId xmlns:p14="http://schemas.microsoft.com/office/powerpoint/2010/main" val="165879290"/>
      </p:ext>
    </p:extLst>
  </p:cSld>
</p:sld>
</file>

<file path=ppt/slides/slide2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0603BBC4-2E55-4FD1-B2A8-54AF6D0A987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0CD5EECB-D44D-405D-A87B-21FDDC3EFCEF}"/>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Kardinalität verbindet Datenverteilung mit Planwahl</a:t>
            </a:r>
          </a:p>
        </p:txBody>
      </p:sp>
      <p:sp>
        <p:nvSpPr>
          <p:cNvPr id="3" name="title-rule">
            <a:extLst xmlns:a="http://schemas.openxmlformats.org/drawingml/2006/main">
              <a:ext uri="{FF2B5EF4-FFF2-40B4-BE49-F238E27FC236}">
                <a16:creationId xmlns:a16="http://schemas.microsoft.com/office/drawing/2014/main" id="{3D356BD4-9445-4F60-9566-6DF4681267C2}"/>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8D9C6946-143E-4DBB-960A-10EA905E3607}"/>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C3C7B820-796A-4C45-9E28-0FF5F5210012}"/>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22 / 84</a:t>
            </a:r>
          </a:p>
        </p:txBody>
      </p:sp>
      <p:sp>
        <p:nvSpPr>
          <p:cNvPr id="6" name="data-dist">
            <a:extLst xmlns:a="http://schemas.openxmlformats.org/drawingml/2006/main">
              <a:ext uri="{FF2B5EF4-FFF2-40B4-BE49-F238E27FC236}">
                <a16:creationId xmlns:a16="http://schemas.microsoft.com/office/drawing/2014/main" id="{AAF4087B-C6BE-4BF0-AF13-F1FEE8E23034}"/>
              </a:ext>
            </a:extLst>
          </p:cNvPr>
          <p:cNvSpPr>
            <a:spLocks xmlns:a="http://schemas.openxmlformats.org/drawingml/2006/main" noGrp="1"/>
          </p:cNvSpPr>
          <p:nvPr/>
        </p:nvSpPr>
        <p:spPr>
          <a:xfrm xmlns:a="http://schemas.openxmlformats.org/drawingml/2006/main">
            <a:off x="723900" y="3000375"/>
            <a:ext cx="2095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2EC"/>
            </a:solidFill>
            <a:prstDash val="solid"/>
          </a:ln>
        </p:spPr>
      </p:sp>
      <p:sp>
        <p:nvSpPr>
          <p:cNvPr id="7" name="data-dist-text">
            <a:extLst xmlns:a="http://schemas.openxmlformats.org/drawingml/2006/main">
              <a:ext uri="{FF2B5EF4-FFF2-40B4-BE49-F238E27FC236}">
                <a16:creationId xmlns:a16="http://schemas.microsoft.com/office/drawing/2014/main" id="{DFEA92E1-6386-463E-99DB-E90437B8827D}"/>
              </a:ext>
            </a:extLst>
          </p:cNvPr>
          <p:cNvSpPr>
            <a:spLocks xmlns:a="http://schemas.openxmlformats.org/drawingml/2006/main" noGrp="1"/>
          </p:cNvSpPr>
          <p:nvPr/>
        </p:nvSpPr>
        <p:spPr>
          <a:xfrm xmlns:a="http://schemas.openxmlformats.org/drawingml/2006/main">
            <a:off x="857250" y="3114675"/>
            <a:ext cx="18288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Datenverteilung</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&amp; Parameter</a:t>
            </a:r>
          </a:p>
        </p:txBody>
      </p:sp>
      <p:sp>
        <p:nvSpPr>
          <p:cNvPr id="8" name="statistics">
            <a:extLst xmlns:a="http://schemas.openxmlformats.org/drawingml/2006/main">
              <a:ext uri="{FF2B5EF4-FFF2-40B4-BE49-F238E27FC236}">
                <a16:creationId xmlns:a16="http://schemas.microsoft.com/office/drawing/2014/main" id="{357C2971-8FB5-4259-B6EC-814FB5EB124E}"/>
              </a:ext>
            </a:extLst>
          </p:cNvPr>
          <p:cNvSpPr>
            <a:spLocks xmlns:a="http://schemas.openxmlformats.org/drawingml/2006/main" noGrp="1"/>
          </p:cNvSpPr>
          <p:nvPr/>
        </p:nvSpPr>
        <p:spPr>
          <a:xfrm xmlns:a="http://schemas.openxmlformats.org/drawingml/2006/main">
            <a:off x="3638550" y="2743200"/>
            <a:ext cx="2286000" cy="1752600"/>
          </a:xfrm>
          <a:prstGeom xmlns:a="http://schemas.openxmlformats.org/drawingml/2006/main" prst="roundRect">
            <a:avLst>
              <a:gd name="adj" fmla="val 4348"/>
            </a:avLst>
          </a:prstGeom>
          <a:solidFill xmlns:a="http://schemas.openxmlformats.org/drawingml/2006/main">
            <a:srgbClr val="EAF4F4"/>
          </a:solidFill>
          <a:ln xmlns:a="http://schemas.openxmlformats.org/drawingml/2006/main" w="9525">
            <a:solidFill>
              <a:srgbClr val="D9E2EC"/>
            </a:solidFill>
            <a:prstDash val="solid"/>
          </a:ln>
        </p:spPr>
      </p:sp>
      <p:sp>
        <p:nvSpPr>
          <p:cNvPr id="9" name="statistics-text">
            <a:extLst xmlns:a="http://schemas.openxmlformats.org/drawingml/2006/main">
              <a:ext uri="{FF2B5EF4-FFF2-40B4-BE49-F238E27FC236}">
                <a16:creationId xmlns:a16="http://schemas.microsoft.com/office/drawing/2014/main" id="{D49F1485-01A2-4796-B1A3-C34CA9407362}"/>
              </a:ext>
            </a:extLst>
          </p:cNvPr>
          <p:cNvSpPr>
            <a:spLocks xmlns:a="http://schemas.openxmlformats.org/drawingml/2006/main" noGrp="1"/>
          </p:cNvSpPr>
          <p:nvPr/>
        </p:nvSpPr>
        <p:spPr>
          <a:xfrm xmlns:a="http://schemas.openxmlformats.org/drawingml/2006/main">
            <a:off x="3771900" y="2857500"/>
            <a:ext cx="20193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Statistiken,</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Constraints,</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Heuristiken</a:t>
            </a:r>
          </a:p>
        </p:txBody>
      </p:sp>
      <p:sp>
        <p:nvSpPr>
          <p:cNvPr id="10" name="estimate">
            <a:extLst xmlns:a="http://schemas.openxmlformats.org/drawingml/2006/main">
              <a:ext uri="{FF2B5EF4-FFF2-40B4-BE49-F238E27FC236}">
                <a16:creationId xmlns:a16="http://schemas.microsoft.com/office/drawing/2014/main" id="{806D1034-B21D-4BC7-888E-A92987A5251D}"/>
              </a:ext>
            </a:extLst>
          </p:cNvPr>
          <p:cNvSpPr>
            <a:spLocks xmlns:a="http://schemas.openxmlformats.org/drawingml/2006/main" noGrp="1"/>
          </p:cNvSpPr>
          <p:nvPr/>
        </p:nvSpPr>
        <p:spPr>
          <a:xfrm xmlns:a="http://schemas.openxmlformats.org/drawingml/2006/main">
            <a:off x="6762750" y="3000375"/>
            <a:ext cx="1905000" cy="1238250"/>
          </a:xfrm>
          <a:prstGeom xmlns:a="http://schemas.openxmlformats.org/drawingml/2006/main" prst="roundRect">
            <a:avLst>
              <a:gd name="adj" fmla="val 6154"/>
            </a:avLst>
          </a:prstGeom>
          <a:solidFill xmlns:a="http://schemas.openxmlformats.org/drawingml/2006/main">
            <a:srgbClr val="FFF3E4"/>
          </a:solidFill>
          <a:ln xmlns:a="http://schemas.openxmlformats.org/drawingml/2006/main" w="9525">
            <a:solidFill>
              <a:srgbClr val="D9E2EC"/>
            </a:solidFill>
            <a:prstDash val="solid"/>
          </a:ln>
        </p:spPr>
      </p:sp>
      <p:sp>
        <p:nvSpPr>
          <p:cNvPr id="11" name="estimate-text">
            <a:extLst xmlns:a="http://schemas.openxmlformats.org/drawingml/2006/main">
              <a:ext uri="{FF2B5EF4-FFF2-40B4-BE49-F238E27FC236}">
                <a16:creationId xmlns:a16="http://schemas.microsoft.com/office/drawing/2014/main" id="{86EA7E81-5BB3-4FE2-BB0D-0A11724AFBE8}"/>
              </a:ext>
            </a:extLst>
          </p:cNvPr>
          <p:cNvSpPr>
            <a:spLocks xmlns:a="http://schemas.openxmlformats.org/drawingml/2006/main" noGrp="1"/>
          </p:cNvSpPr>
          <p:nvPr/>
        </p:nvSpPr>
        <p:spPr>
          <a:xfrm xmlns:a="http://schemas.openxmlformats.org/drawingml/2006/main">
            <a:off x="6896100" y="3114675"/>
            <a:ext cx="1638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Estimated</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Rows</a:t>
            </a:r>
          </a:p>
        </p:txBody>
      </p:sp>
      <p:sp>
        <p:nvSpPr>
          <p:cNvPr id="12" name="plan-choice">
            <a:extLst xmlns:a="http://schemas.openxmlformats.org/drawingml/2006/main">
              <a:ext uri="{FF2B5EF4-FFF2-40B4-BE49-F238E27FC236}">
                <a16:creationId xmlns:a16="http://schemas.microsoft.com/office/drawing/2014/main" id="{24CC5641-F667-45AF-908A-BECA73A7DB67}"/>
              </a:ext>
            </a:extLst>
          </p:cNvPr>
          <p:cNvSpPr>
            <a:spLocks xmlns:a="http://schemas.openxmlformats.org/drawingml/2006/main" noGrp="1"/>
          </p:cNvSpPr>
          <p:nvPr/>
        </p:nvSpPr>
        <p:spPr>
          <a:xfrm xmlns:a="http://schemas.openxmlformats.org/drawingml/2006/main">
            <a:off x="9486900" y="3000375"/>
            <a:ext cx="20002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2EC"/>
            </a:solidFill>
            <a:prstDash val="solid"/>
          </a:ln>
        </p:spPr>
      </p:sp>
      <p:sp>
        <p:nvSpPr>
          <p:cNvPr id="13" name="plan-choice-text">
            <a:extLst xmlns:a="http://schemas.openxmlformats.org/drawingml/2006/main">
              <a:ext uri="{FF2B5EF4-FFF2-40B4-BE49-F238E27FC236}">
                <a16:creationId xmlns:a16="http://schemas.microsoft.com/office/drawing/2014/main" id="{FC32C745-7A5F-4A0D-870E-AE84950FE443}"/>
              </a:ext>
            </a:extLst>
          </p:cNvPr>
          <p:cNvSpPr>
            <a:spLocks xmlns:a="http://schemas.openxmlformats.org/drawingml/2006/main" noGrp="1"/>
          </p:cNvSpPr>
          <p:nvPr/>
        </p:nvSpPr>
        <p:spPr>
          <a:xfrm xmlns:a="http://schemas.openxmlformats.org/drawingml/2006/main">
            <a:off x="9620250" y="3114675"/>
            <a:ext cx="1733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Join · Grant</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DOP · Access</a:t>
            </a:r>
          </a:p>
        </p:txBody>
      </p:sp>
      <p:cxnSp>
        <p:nvCxnSpPr>
          <p:cNvPr id="31" name=""/>
          <p:cNvCxnSpPr>
            <a:stCxn xmlns:a="http://schemas.openxmlformats.org/drawingml/2006/main" id="6" idx="3"/>
            <a:endCxn xmlns:a="http://schemas.openxmlformats.org/drawingml/2006/main" id="8" idx="1"/>
          </p:cNvCxnSpPr>
          <p:nvPr/>
        </p:nvCxnSpPr>
        <p:spPr>
          <a:xfrm xmlns:a="http://schemas.openxmlformats.org/drawingml/2006/main">
            <a:off x="2819400" y="3619500"/>
            <a:ext cx="8191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2" name=""/>
          <p:cNvCxnSpPr>
            <a:stCxn xmlns:a="http://schemas.openxmlformats.org/drawingml/2006/main" id="8" idx="3"/>
            <a:endCxn xmlns:a="http://schemas.openxmlformats.org/drawingml/2006/main" id="10" idx="1"/>
          </p:cNvCxnSpPr>
          <p:nvPr/>
        </p:nvCxnSpPr>
        <p:spPr>
          <a:xfrm xmlns:a="http://schemas.openxmlformats.org/drawingml/2006/main">
            <a:off x="5924550" y="3619500"/>
            <a:ext cx="83820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3" name=""/>
          <p:cNvCxnSpPr>
            <a:stCxn xmlns:a="http://schemas.openxmlformats.org/drawingml/2006/main" id="10" idx="3"/>
            <a:endCxn xmlns:a="http://schemas.openxmlformats.org/drawingml/2006/main" id="12" idx="1"/>
          </p:cNvCxnSpPr>
          <p:nvPr/>
        </p:nvCxnSpPr>
        <p:spPr>
          <a:xfrm xmlns:a="http://schemas.openxmlformats.org/drawingml/2006/main">
            <a:off x="8667750" y="3619500"/>
            <a:ext cx="8191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17" name="cardinality-caption">
            <a:extLst xmlns:a="http://schemas.openxmlformats.org/drawingml/2006/main">
              <a:ext uri="{FF2B5EF4-FFF2-40B4-BE49-F238E27FC236}">
                <a16:creationId xmlns:a16="http://schemas.microsoft.com/office/drawing/2014/main" id="{86903D88-181D-4998-9041-D363C048AC5A}"/>
              </a:ext>
            </a:extLst>
          </p:cNvPr>
          <p:cNvSpPr>
            <a:spLocks xmlns:a="http://schemas.openxmlformats.org/drawingml/2006/main" noGrp="1"/>
          </p:cNvSpPr>
          <p:nvPr/>
        </p:nvSpPr>
        <p:spPr>
          <a:xfrm xmlns:a="http://schemas.openxmlformats.org/drawingml/2006/main">
            <a:off x="2209800" y="5048250"/>
            <a:ext cx="7772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56"/>
          </a:bodyPr>
          <a:lstStyle xmlns:a="http://schemas.openxmlformats.org/drawingml/2006/main"/>
          <a:p xmlns:a="http://schemas.openxmlformats.org/drawingml/2006/main">
            <a:pPr algn="ctr">
              <a:lnSpc>
                <a:spcPct val="105000"/>
              </a:lnSpc>
              <a:buNone/>
              <a:defRPr sz="1950" b="1" i="0">
                <a:solidFill>
                  <a:srgbClr val="102A43"/>
                </a:solidFill>
                <a:latin typeface="Aptos"/>
                <a:ea typeface="Aptos"/>
                <a:cs typeface="Aptos"/>
              </a:defRPr>
            </a:pPr>
            <a:r>
              <a:rPr sz="1950" b="1" i="0">
                <a:solidFill>
                  <a:srgbClr val="102A43"/>
                </a:solidFill>
                <a:latin typeface="Aptos"/>
                <a:ea typeface="Aptos"/>
                <a:cs typeface="Aptos"/>
              </a:rPr>
              <a:t>Ein Schätzfehler kann sich über mehrere Operatoren vervielfachen.</a:t>
            </a:r>
          </a:p>
        </p:txBody>
      </p:sp>
    </p:spTree>
    <p:extLst>
      <p:ext uri="{BB962C8B-B14F-4D97-AF65-F5344CB8AC3E}">
        <p14:creationId xmlns:p14="http://schemas.microsoft.com/office/powerpoint/2010/main" val="1332796942"/>
      </p:ext>
    </p:extLst>
  </p:cSld>
</p:sld>
</file>

<file path=ppt/slides/slide2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56E95186-3376-4D77-91CC-90EDF26EB44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79753535-2DD8-4136-814D-EEA9396F693B}"/>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Eine Statistik beschreibt Verteilung – aber nur in begrenzter Auflösung</a:t>
            </a:r>
          </a:p>
        </p:txBody>
      </p:sp>
      <p:sp>
        <p:nvSpPr>
          <p:cNvPr id="3" name="title-rule">
            <a:extLst xmlns:a="http://schemas.openxmlformats.org/drawingml/2006/main">
              <a:ext uri="{FF2B5EF4-FFF2-40B4-BE49-F238E27FC236}">
                <a16:creationId xmlns:a16="http://schemas.microsoft.com/office/drawing/2014/main" id="{64070C62-6201-443C-A9D6-995B8E05EFF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F6638BE1-1F71-4B6F-A945-2B09CC49FA7F}"/>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09BBE4D2-A56A-4991-9A4A-FFAC0C517D07}"/>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23 / 84</a:t>
            </a:r>
          </a:p>
        </p:txBody>
      </p:sp>
      <p:sp>
        <p:nvSpPr>
          <p:cNvPr id="6" name="hist-axis-x">
            <a:extLst xmlns:a="http://schemas.openxmlformats.org/drawingml/2006/main">
              <a:ext uri="{FF2B5EF4-FFF2-40B4-BE49-F238E27FC236}">
                <a16:creationId xmlns:a16="http://schemas.microsoft.com/office/drawing/2014/main" id="{2388F43D-406D-4E39-98C7-3D6F9E6F48CD}"/>
              </a:ext>
            </a:extLst>
          </p:cNvPr>
          <p:cNvSpPr>
            <a:spLocks xmlns:a="http://schemas.openxmlformats.org/drawingml/2006/main" noGrp="1"/>
          </p:cNvSpPr>
          <p:nvPr/>
        </p:nvSpPr>
        <p:spPr>
          <a:xfrm xmlns:a="http://schemas.openxmlformats.org/drawingml/2006/main">
            <a:off x="1143000" y="4953000"/>
            <a:ext cx="8001000" cy="28575"/>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7" name="hist-axis-y">
            <a:extLst xmlns:a="http://schemas.openxmlformats.org/drawingml/2006/main">
              <a:ext uri="{FF2B5EF4-FFF2-40B4-BE49-F238E27FC236}">
                <a16:creationId xmlns:a16="http://schemas.microsoft.com/office/drawing/2014/main" id="{5D5C8341-DFBB-4180-93B6-1FC68B8AB438}"/>
              </a:ext>
            </a:extLst>
          </p:cNvPr>
          <p:cNvSpPr>
            <a:spLocks xmlns:a="http://schemas.openxmlformats.org/drawingml/2006/main" noGrp="1"/>
          </p:cNvSpPr>
          <p:nvPr/>
        </p:nvSpPr>
        <p:spPr>
          <a:xfrm xmlns:a="http://schemas.openxmlformats.org/drawingml/2006/main">
            <a:off x="1143000" y="2476500"/>
            <a:ext cx="28575" cy="2505075"/>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8" name="hist-bar-0">
            <a:extLst xmlns:a="http://schemas.openxmlformats.org/drawingml/2006/main">
              <a:ext uri="{FF2B5EF4-FFF2-40B4-BE49-F238E27FC236}">
                <a16:creationId xmlns:a16="http://schemas.microsoft.com/office/drawing/2014/main" id="{CD4F3146-8A4D-495F-97E7-483F2B5B2840}"/>
              </a:ext>
            </a:extLst>
          </p:cNvPr>
          <p:cNvSpPr>
            <a:spLocks xmlns:a="http://schemas.openxmlformats.org/drawingml/2006/main" noGrp="1"/>
          </p:cNvSpPr>
          <p:nvPr/>
        </p:nvSpPr>
        <p:spPr>
          <a:xfrm xmlns:a="http://schemas.openxmlformats.org/drawingml/2006/main">
            <a:off x="1381125" y="4533900"/>
            <a:ext cx="361950" cy="4000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9" name="hist-bar-1">
            <a:extLst xmlns:a="http://schemas.openxmlformats.org/drawingml/2006/main">
              <a:ext uri="{FF2B5EF4-FFF2-40B4-BE49-F238E27FC236}">
                <a16:creationId xmlns:a16="http://schemas.microsoft.com/office/drawing/2014/main" id="{9D194A8D-C35B-43CA-8D81-F5EFD2A0BC15}"/>
              </a:ext>
            </a:extLst>
          </p:cNvPr>
          <p:cNvSpPr>
            <a:spLocks xmlns:a="http://schemas.openxmlformats.org/drawingml/2006/main" noGrp="1"/>
          </p:cNvSpPr>
          <p:nvPr/>
        </p:nvSpPr>
        <p:spPr>
          <a:xfrm xmlns:a="http://schemas.openxmlformats.org/drawingml/2006/main">
            <a:off x="1990725" y="4114800"/>
            <a:ext cx="361950" cy="8191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10" name="hist-bar-2">
            <a:extLst xmlns:a="http://schemas.openxmlformats.org/drawingml/2006/main">
              <a:ext uri="{FF2B5EF4-FFF2-40B4-BE49-F238E27FC236}">
                <a16:creationId xmlns:a16="http://schemas.microsoft.com/office/drawing/2014/main" id="{580F1405-12FB-4096-AC80-E904E3F184E1}"/>
              </a:ext>
            </a:extLst>
          </p:cNvPr>
          <p:cNvSpPr>
            <a:spLocks xmlns:a="http://schemas.openxmlformats.org/drawingml/2006/main" noGrp="1"/>
          </p:cNvSpPr>
          <p:nvPr/>
        </p:nvSpPr>
        <p:spPr>
          <a:xfrm xmlns:a="http://schemas.openxmlformats.org/drawingml/2006/main">
            <a:off x="2600325" y="4419600"/>
            <a:ext cx="361950" cy="5143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11" name="hist-bar-3">
            <a:extLst xmlns:a="http://schemas.openxmlformats.org/drawingml/2006/main">
              <a:ext uri="{FF2B5EF4-FFF2-40B4-BE49-F238E27FC236}">
                <a16:creationId xmlns:a16="http://schemas.microsoft.com/office/drawing/2014/main" id="{DA9C27A4-DFE9-4455-A781-5DD67A427706}"/>
              </a:ext>
            </a:extLst>
          </p:cNvPr>
          <p:cNvSpPr>
            <a:spLocks xmlns:a="http://schemas.openxmlformats.org/drawingml/2006/main" noGrp="1"/>
          </p:cNvSpPr>
          <p:nvPr/>
        </p:nvSpPr>
        <p:spPr>
          <a:xfrm xmlns:a="http://schemas.openxmlformats.org/drawingml/2006/main">
            <a:off x="3209925" y="3552825"/>
            <a:ext cx="361950" cy="138112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12" name="hist-bar-4">
            <a:extLst xmlns:a="http://schemas.openxmlformats.org/drawingml/2006/main">
              <a:ext uri="{FF2B5EF4-FFF2-40B4-BE49-F238E27FC236}">
                <a16:creationId xmlns:a16="http://schemas.microsoft.com/office/drawing/2014/main" id="{288B5840-32DE-43FF-888F-03108D509286}"/>
              </a:ext>
            </a:extLst>
          </p:cNvPr>
          <p:cNvSpPr>
            <a:spLocks xmlns:a="http://schemas.openxmlformats.org/drawingml/2006/main" noGrp="1"/>
          </p:cNvSpPr>
          <p:nvPr/>
        </p:nvSpPr>
        <p:spPr>
          <a:xfrm xmlns:a="http://schemas.openxmlformats.org/drawingml/2006/main">
            <a:off x="3819525" y="4229100"/>
            <a:ext cx="361950" cy="7048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13" name="hist-bar-5">
            <a:extLst xmlns:a="http://schemas.openxmlformats.org/drawingml/2006/main">
              <a:ext uri="{FF2B5EF4-FFF2-40B4-BE49-F238E27FC236}">
                <a16:creationId xmlns:a16="http://schemas.microsoft.com/office/drawing/2014/main" id="{DEE3FFB4-622C-4C2C-AA88-BBA9568CCB61}"/>
              </a:ext>
            </a:extLst>
          </p:cNvPr>
          <p:cNvSpPr>
            <a:spLocks xmlns:a="http://schemas.openxmlformats.org/drawingml/2006/main" noGrp="1"/>
          </p:cNvSpPr>
          <p:nvPr/>
        </p:nvSpPr>
        <p:spPr>
          <a:xfrm xmlns:a="http://schemas.openxmlformats.org/drawingml/2006/main">
            <a:off x="4429125" y="3048000"/>
            <a:ext cx="361950" cy="18859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4" name="hist-bar-6">
            <a:extLst xmlns:a="http://schemas.openxmlformats.org/drawingml/2006/main">
              <a:ext uri="{FF2B5EF4-FFF2-40B4-BE49-F238E27FC236}">
                <a16:creationId xmlns:a16="http://schemas.microsoft.com/office/drawing/2014/main" id="{EC1BD889-87A5-47A7-A093-A47AD51728A2}"/>
              </a:ext>
            </a:extLst>
          </p:cNvPr>
          <p:cNvSpPr>
            <a:spLocks xmlns:a="http://schemas.openxmlformats.org/drawingml/2006/main" noGrp="1"/>
          </p:cNvSpPr>
          <p:nvPr/>
        </p:nvSpPr>
        <p:spPr>
          <a:xfrm xmlns:a="http://schemas.openxmlformats.org/drawingml/2006/main">
            <a:off x="5038725" y="4000500"/>
            <a:ext cx="361950" cy="9334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15" name="hist-bar-7">
            <a:extLst xmlns:a="http://schemas.openxmlformats.org/drawingml/2006/main">
              <a:ext uri="{FF2B5EF4-FFF2-40B4-BE49-F238E27FC236}">
                <a16:creationId xmlns:a16="http://schemas.microsoft.com/office/drawing/2014/main" id="{2CAD4279-0553-413F-A58B-E331CE1E6D84}"/>
              </a:ext>
            </a:extLst>
          </p:cNvPr>
          <p:cNvSpPr>
            <a:spLocks xmlns:a="http://schemas.openxmlformats.org/drawingml/2006/main" noGrp="1"/>
          </p:cNvSpPr>
          <p:nvPr/>
        </p:nvSpPr>
        <p:spPr>
          <a:xfrm xmlns:a="http://schemas.openxmlformats.org/drawingml/2006/main">
            <a:off x="5648325" y="4343400"/>
            <a:ext cx="361950" cy="5905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16" name="hist-bar-8">
            <a:extLst xmlns:a="http://schemas.openxmlformats.org/drawingml/2006/main">
              <a:ext uri="{FF2B5EF4-FFF2-40B4-BE49-F238E27FC236}">
                <a16:creationId xmlns:a16="http://schemas.microsoft.com/office/drawing/2014/main" id="{A05C831E-9AC5-4DCA-B588-A4265C07B210}"/>
              </a:ext>
            </a:extLst>
          </p:cNvPr>
          <p:cNvSpPr>
            <a:spLocks xmlns:a="http://schemas.openxmlformats.org/drawingml/2006/main" noGrp="1"/>
          </p:cNvSpPr>
          <p:nvPr/>
        </p:nvSpPr>
        <p:spPr>
          <a:xfrm xmlns:a="http://schemas.openxmlformats.org/drawingml/2006/main">
            <a:off x="6257925" y="3714750"/>
            <a:ext cx="361950" cy="121920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17" name="hist-bar-9">
            <a:extLst xmlns:a="http://schemas.openxmlformats.org/drawingml/2006/main">
              <a:ext uri="{FF2B5EF4-FFF2-40B4-BE49-F238E27FC236}">
                <a16:creationId xmlns:a16="http://schemas.microsoft.com/office/drawing/2014/main" id="{FB84E831-2DF9-4215-9C4F-7E7D714764CE}"/>
              </a:ext>
            </a:extLst>
          </p:cNvPr>
          <p:cNvSpPr>
            <a:spLocks xmlns:a="http://schemas.openxmlformats.org/drawingml/2006/main" noGrp="1"/>
          </p:cNvSpPr>
          <p:nvPr/>
        </p:nvSpPr>
        <p:spPr>
          <a:xfrm xmlns:a="http://schemas.openxmlformats.org/drawingml/2006/main">
            <a:off x="6867525" y="4476750"/>
            <a:ext cx="361950" cy="45720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18" name="hist-bar-10">
            <a:extLst xmlns:a="http://schemas.openxmlformats.org/drawingml/2006/main">
              <a:ext uri="{FF2B5EF4-FFF2-40B4-BE49-F238E27FC236}">
                <a16:creationId xmlns:a16="http://schemas.microsoft.com/office/drawing/2014/main" id="{58B0A822-3758-4B46-B111-E0B8F24F7B91}"/>
              </a:ext>
            </a:extLst>
          </p:cNvPr>
          <p:cNvSpPr>
            <a:spLocks xmlns:a="http://schemas.openxmlformats.org/drawingml/2006/main" noGrp="1"/>
          </p:cNvSpPr>
          <p:nvPr/>
        </p:nvSpPr>
        <p:spPr>
          <a:xfrm xmlns:a="http://schemas.openxmlformats.org/drawingml/2006/main">
            <a:off x="7477125" y="3200400"/>
            <a:ext cx="361950" cy="17335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9" name="hist-bar-11">
            <a:extLst xmlns:a="http://schemas.openxmlformats.org/drawingml/2006/main">
              <a:ext uri="{FF2B5EF4-FFF2-40B4-BE49-F238E27FC236}">
                <a16:creationId xmlns:a16="http://schemas.microsoft.com/office/drawing/2014/main" id="{4994C2F4-21A8-4FC7-A13D-80670BC3ED7C}"/>
              </a:ext>
            </a:extLst>
          </p:cNvPr>
          <p:cNvSpPr>
            <a:spLocks xmlns:a="http://schemas.openxmlformats.org/drawingml/2006/main" noGrp="1"/>
          </p:cNvSpPr>
          <p:nvPr/>
        </p:nvSpPr>
        <p:spPr>
          <a:xfrm xmlns:a="http://schemas.openxmlformats.org/drawingml/2006/main">
            <a:off x="8086725" y="4305300"/>
            <a:ext cx="361950" cy="6286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20" name="hist-y">
            <a:extLst xmlns:a="http://schemas.openxmlformats.org/drawingml/2006/main">
              <a:ext uri="{FF2B5EF4-FFF2-40B4-BE49-F238E27FC236}">
                <a16:creationId xmlns:a16="http://schemas.microsoft.com/office/drawing/2014/main" id="{66BADCF5-3949-4203-BCD1-F841BC29350B}"/>
              </a:ext>
            </a:extLst>
          </p:cNvPr>
          <p:cNvSpPr>
            <a:spLocks xmlns:a="http://schemas.openxmlformats.org/drawingml/2006/main" noGrp="1"/>
          </p:cNvSpPr>
          <p:nvPr/>
        </p:nvSpPr>
        <p:spPr>
          <a:xfrm xmlns:a="http://schemas.openxmlformats.org/drawingml/2006/main">
            <a:off x="342900" y="34290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350" b="1" i="0">
                <a:solidFill>
                  <a:srgbClr val="52606D"/>
                </a:solidFill>
                <a:latin typeface="Aptos"/>
                <a:ea typeface="Aptos"/>
                <a:cs typeface="Aptos"/>
              </a:defRPr>
            </a:pPr>
            <a:r>
              <a:rPr sz="1350" b="1" i="0">
                <a:solidFill>
                  <a:srgbClr val="52606D"/>
                </a:solidFill>
                <a:latin typeface="Aptos"/>
                <a:ea typeface="Aptos"/>
                <a:cs typeface="Aptos"/>
              </a:rPr>
              <a:t>Häufigkeit</a:t>
            </a:r>
          </a:p>
        </p:txBody>
      </p:sp>
      <p:sp>
        <p:nvSpPr>
          <p:cNvPr id="21" name="hist-x">
            <a:extLst xmlns:a="http://schemas.openxmlformats.org/drawingml/2006/main">
              <a:ext uri="{FF2B5EF4-FFF2-40B4-BE49-F238E27FC236}">
                <a16:creationId xmlns:a16="http://schemas.microsoft.com/office/drawing/2014/main" id="{E23C5EDD-3ED7-4525-A13B-5D6B0B700B73}"/>
              </a:ext>
            </a:extLst>
          </p:cNvPr>
          <p:cNvSpPr>
            <a:spLocks xmlns:a="http://schemas.openxmlformats.org/drawingml/2006/main" noGrp="1"/>
          </p:cNvSpPr>
          <p:nvPr/>
        </p:nvSpPr>
        <p:spPr>
          <a:xfrm xmlns:a="http://schemas.openxmlformats.org/drawingml/2006/main">
            <a:off x="3200400" y="52197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i="0">
                <a:solidFill>
                  <a:srgbClr val="52606D"/>
                </a:solidFill>
                <a:latin typeface="Aptos"/>
                <a:ea typeface="Aptos"/>
                <a:cs typeface="Aptos"/>
              </a:defRPr>
            </a:pPr>
            <a:r>
              <a:rPr sz="1500" b="1" i="0">
                <a:solidFill>
                  <a:srgbClr val="52606D"/>
                </a:solidFill>
                <a:latin typeface="Aptos"/>
                <a:ea typeface="Aptos"/>
                <a:cs typeface="Aptos"/>
              </a:rPr>
              <a:t>Wertebereich der führenden Spalte</a:t>
            </a:r>
          </a:p>
        </p:txBody>
      </p:sp>
      <p:sp>
        <p:nvSpPr>
          <p:cNvPr id="22" name="hist-note-bg">
            <a:extLst xmlns:a="http://schemas.openxmlformats.org/drawingml/2006/main">
              <a:ext uri="{FF2B5EF4-FFF2-40B4-BE49-F238E27FC236}">
                <a16:creationId xmlns:a16="http://schemas.microsoft.com/office/drawing/2014/main" id="{D71B80E7-A4F1-4971-BF1F-D4DE41F1B39F}"/>
              </a:ext>
            </a:extLst>
          </p:cNvPr>
          <p:cNvSpPr>
            <a:spLocks xmlns:a="http://schemas.openxmlformats.org/drawingml/2006/main" noGrp="1"/>
          </p:cNvSpPr>
          <p:nvPr/>
        </p:nvSpPr>
        <p:spPr>
          <a:xfrm xmlns:a="http://schemas.openxmlformats.org/drawingml/2006/main">
            <a:off x="9486900" y="2705100"/>
            <a:ext cx="1809750" cy="2095500"/>
          </a:xfrm>
          <a:prstGeom xmlns:a="http://schemas.openxmlformats.org/drawingml/2006/main" prst="roundRect">
            <a:avLst>
              <a:gd name="adj" fmla="val 4211"/>
            </a:avLst>
          </a:prstGeom>
          <a:solidFill xmlns:a="http://schemas.openxmlformats.org/drawingml/2006/main">
            <a:srgbClr val="0B1F33"/>
          </a:solidFill>
          <a:ln xmlns:a="http://schemas.openxmlformats.org/drawingml/2006/main" w="9525">
            <a:solidFill>
              <a:srgbClr val="0B1F33"/>
            </a:solidFill>
            <a:prstDash val="solid"/>
          </a:ln>
        </p:spPr>
      </p:sp>
      <p:sp>
        <p:nvSpPr>
          <p:cNvPr id="23" name="hist-note">
            <a:extLst xmlns:a="http://schemas.openxmlformats.org/drawingml/2006/main">
              <a:ext uri="{FF2B5EF4-FFF2-40B4-BE49-F238E27FC236}">
                <a16:creationId xmlns:a16="http://schemas.microsoft.com/office/drawing/2014/main" id="{2225E35D-ACA1-4CE3-A010-EF14C587F868}"/>
              </a:ext>
            </a:extLst>
          </p:cNvPr>
          <p:cNvSpPr>
            <a:spLocks xmlns:a="http://schemas.openxmlformats.org/drawingml/2006/main" noGrp="1"/>
          </p:cNvSpPr>
          <p:nvPr/>
        </p:nvSpPr>
        <p:spPr>
          <a:xfrm xmlns:a="http://schemas.openxmlformats.org/drawingml/2006/main">
            <a:off x="9658350" y="3028950"/>
            <a:ext cx="14668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031"/>
          </a:bodyPr>
          <a:lstStyle xmlns:a="http://schemas.openxmlformats.org/drawingml/2006/main"/>
          <a:p xmlns:a="http://schemas.openxmlformats.org/drawingml/2006/main">
            <a:pPr algn="ctr">
              <a:lnSpc>
                <a:spcPct val="105000"/>
              </a:lnSpc>
              <a:buNone/>
              <a:defRPr sz="2025" b="1" i="0">
                <a:solidFill>
                  <a:srgbClr val="FFFFFF"/>
                </a:solidFill>
                <a:latin typeface="Aptos"/>
                <a:ea typeface="Aptos"/>
                <a:cs typeface="Aptos"/>
              </a:defRPr>
            </a:pPr>
            <a:r>
              <a:rPr sz="2025" b="1" i="0">
                <a:solidFill>
                  <a:srgbClr val="FFFFFF"/>
                </a:solidFill>
                <a:latin typeface="Aptos"/>
                <a:ea typeface="Aptos"/>
                <a:cs typeface="Aptos"/>
              </a:rPr>
              <a:t>≤ 200</a:t>
            </a:r>
          </a:p>
          <a:p xmlns:a="http://schemas.openxmlformats.org/drawingml/2006/main">
            <a:pPr algn="ctr">
              <a:lnSpc>
                <a:spcPct val="105000"/>
              </a:lnSpc>
              <a:buNone/>
              <a:defRPr sz="2025" b="1" i="0">
                <a:solidFill>
                  <a:srgbClr val="FFFFFF"/>
                </a:solidFill>
                <a:latin typeface="Aptos"/>
                <a:ea typeface="Aptos"/>
                <a:cs typeface="Aptos"/>
              </a:defRPr>
            </a:pPr>
            <a:r>
              <a:rPr sz="2025" b="1" i="0">
                <a:solidFill>
                  <a:srgbClr val="FFFFFF"/>
                </a:solidFill>
                <a:latin typeface="Aptos"/>
                <a:ea typeface="Aptos"/>
                <a:cs typeface="Aptos"/>
              </a:rPr>
              <a:t>Schritte</a:t>
            </a:r>
          </a:p>
          <a:p xmlns:a="http://schemas.openxmlformats.org/drawingml/2006/main">
            <a:r>
              <a:t/>
            </a:r>
          </a:p>
          <a:p xmlns:a="http://schemas.openxmlformats.org/drawingml/2006/main">
            <a:pPr algn="ctr">
              <a:lnSpc>
                <a:spcPct val="105000"/>
              </a:lnSpc>
              <a:buNone/>
              <a:defRPr sz="2025" b="1" i="0">
                <a:solidFill>
                  <a:srgbClr val="FFFFFF"/>
                </a:solidFill>
                <a:latin typeface="Aptos"/>
                <a:ea typeface="Aptos"/>
                <a:cs typeface="Aptos"/>
              </a:defRPr>
            </a:pPr>
            <a:r>
              <a:rPr sz="2025" b="1" i="0">
                <a:solidFill>
                  <a:srgbClr val="FFFFFF"/>
                </a:solidFill>
                <a:latin typeface="Aptos"/>
                <a:ea typeface="Aptos"/>
                <a:cs typeface="Aptos"/>
              </a:rPr>
              <a:t>nur führende</a:t>
            </a:r>
          </a:p>
          <a:p xmlns:a="http://schemas.openxmlformats.org/drawingml/2006/main">
            <a:pPr algn="ctr">
              <a:lnSpc>
                <a:spcPct val="105000"/>
              </a:lnSpc>
              <a:buNone/>
              <a:defRPr sz="2025" b="1" i="0">
                <a:solidFill>
                  <a:srgbClr val="FFFFFF"/>
                </a:solidFill>
                <a:latin typeface="Aptos"/>
                <a:ea typeface="Aptos"/>
                <a:cs typeface="Aptos"/>
              </a:defRPr>
            </a:pPr>
            <a:r>
              <a:rPr sz="2025" b="1" i="0">
                <a:solidFill>
                  <a:srgbClr val="FFFFFF"/>
                </a:solidFill>
                <a:latin typeface="Aptos"/>
                <a:ea typeface="Aptos"/>
                <a:cs typeface="Aptos"/>
              </a:rPr>
              <a:t>Spalte</a:t>
            </a:r>
          </a:p>
        </p:txBody>
      </p:sp>
    </p:spTree>
    <p:extLst>
      <p:ext uri="{BB962C8B-B14F-4D97-AF65-F5344CB8AC3E}">
        <p14:creationId xmlns:p14="http://schemas.microsoft.com/office/powerpoint/2010/main" val="847194857"/>
      </p:ext>
    </p:extLst>
  </p:cSld>
</p:sld>
</file>

<file path=ppt/slides/slide2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EF743995-2053-403D-8149-DB30952A8E5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10A7D246-0F04-4743-9581-E25DE10958F9}"/>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Histogramm und Density Vector liefern unterschiedliche Evidenz</a:t>
            </a:r>
          </a:p>
        </p:txBody>
      </p:sp>
      <p:sp>
        <p:nvSpPr>
          <p:cNvPr id="3" name="title-rule">
            <a:extLst xmlns:a="http://schemas.openxmlformats.org/drawingml/2006/main">
              <a:ext uri="{FF2B5EF4-FFF2-40B4-BE49-F238E27FC236}">
                <a16:creationId xmlns:a16="http://schemas.microsoft.com/office/drawing/2014/main" id="{06A70217-AE5C-4FD8-B111-4204217D3C87}"/>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5061FACE-C8A2-459A-8BBE-DB17C388F1C8}"/>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212CF71B-ADDD-4AFB-BF99-02A809D8D6C9}"/>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24 / 84</a:t>
            </a:r>
          </a:p>
        </p:txBody>
      </p:sp>
      <p:sp>
        <p:nvSpPr>
          <p:cNvPr id="6" name="left-title">
            <a:extLst xmlns:a="http://schemas.openxmlformats.org/drawingml/2006/main">
              <a:ext uri="{FF2B5EF4-FFF2-40B4-BE49-F238E27FC236}">
                <a16:creationId xmlns:a16="http://schemas.microsoft.com/office/drawing/2014/main" id="{1F2D4D76-DD71-4B34-A1FB-DDEDFF07FBDE}"/>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Histogramm</a:t>
            </a:r>
          </a:p>
        </p:txBody>
      </p:sp>
      <p:sp>
        <p:nvSpPr>
          <p:cNvPr id="7" name="right-title">
            <a:extLst xmlns:a="http://schemas.openxmlformats.org/drawingml/2006/main">
              <a:ext uri="{FF2B5EF4-FFF2-40B4-BE49-F238E27FC236}">
                <a16:creationId xmlns:a16="http://schemas.microsoft.com/office/drawing/2014/main" id="{8ADED338-1081-405D-90FD-46253DF63C51}"/>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Density Vector</a:t>
            </a:r>
          </a:p>
        </p:txBody>
      </p:sp>
      <p:sp>
        <p:nvSpPr>
          <p:cNvPr id="8" name="middle-rule">
            <a:extLst xmlns:a="http://schemas.openxmlformats.org/drawingml/2006/main">
              <a:ext uri="{FF2B5EF4-FFF2-40B4-BE49-F238E27FC236}">
                <a16:creationId xmlns:a16="http://schemas.microsoft.com/office/drawing/2014/main" id="{D39339DA-27A8-458B-A495-EA3D49EE47F2}"/>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F803DE2C-7256-4AEA-940F-8901D8A7D62C}"/>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führende Statistikspalte</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Wertebereiche und Häufigkeiten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maximal 200 Schritte</a:t>
            </a:r>
          </a:p>
        </p:txBody>
      </p:sp>
      <p:sp>
        <p:nvSpPr>
          <p:cNvPr id="10" name="right-points">
            <a:extLst xmlns:a="http://schemas.openxmlformats.org/drawingml/2006/main">
              <a:ext uri="{FF2B5EF4-FFF2-40B4-BE49-F238E27FC236}">
                <a16:creationId xmlns:a16="http://schemas.microsoft.com/office/drawing/2014/main" id="{DE5D0826-E443-4B65-803E-8AB483177E60}"/>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kombinierte Präfixe mehrerer Spalten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durchschnittliche Eindeutigkeit</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keine vollständige Korrelationsbeschreibung</a:t>
            </a:r>
          </a:p>
        </p:txBody>
      </p:sp>
      <p:sp>
        <p:nvSpPr>
          <p:cNvPr id="11" name="conclusion-bg">
            <a:extLst xmlns:a="http://schemas.openxmlformats.org/drawingml/2006/main">
              <a:ext uri="{FF2B5EF4-FFF2-40B4-BE49-F238E27FC236}">
                <a16:creationId xmlns:a16="http://schemas.microsoft.com/office/drawing/2014/main" id="{2843CF9F-46AF-44C2-A73E-B495E4C485F0}"/>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EC6FBC04-763F-4E82-BEBE-998350F7F314}"/>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Mehrspaltige Korrelation bleibt eine zentrale Schätzgrenze.</a:t>
            </a:r>
          </a:p>
        </p:txBody>
      </p:sp>
    </p:spTree>
    <p:extLst>
      <p:ext uri="{BB962C8B-B14F-4D97-AF65-F5344CB8AC3E}">
        <p14:creationId xmlns:p14="http://schemas.microsoft.com/office/powerpoint/2010/main" val="620103603"/>
      </p:ext>
    </p:extLst>
  </p:cSld>
</p:sld>
</file>

<file path=ppt/slides/slide2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D25822BB-95C6-4E28-8B45-82B7584BA54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E734FAFC-2F62-4C00-BCD5-3CFCE4FBAF04}"/>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Constraints und Eindeutigkeit sind Optimizerwissen – nicht nur Datenqualität</a:t>
            </a:r>
          </a:p>
        </p:txBody>
      </p:sp>
      <p:sp>
        <p:nvSpPr>
          <p:cNvPr id="3" name="title-rule">
            <a:extLst xmlns:a="http://schemas.openxmlformats.org/drawingml/2006/main">
              <a:ext uri="{FF2B5EF4-FFF2-40B4-BE49-F238E27FC236}">
                <a16:creationId xmlns:a16="http://schemas.microsoft.com/office/drawing/2014/main" id="{AE260D53-DB3D-453F-B434-26FAAAECCBD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76486F68-3A44-49E1-B557-393D502A1B3C}"/>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FC831FD8-9A6A-40FA-B4B3-5B305A86573F}"/>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25 / 84</a:t>
            </a:r>
          </a:p>
        </p:txBody>
      </p:sp>
      <p:sp>
        <p:nvSpPr>
          <p:cNvPr id="6" name="lead">
            <a:extLst xmlns:a="http://schemas.openxmlformats.org/drawingml/2006/main">
              <a:ext uri="{FF2B5EF4-FFF2-40B4-BE49-F238E27FC236}">
                <a16:creationId xmlns:a16="http://schemas.microsoft.com/office/drawing/2014/main" id="{60B0DD6B-24B2-4F7A-BB2B-18C91D904D63}"/>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Verlässliche Metadaten können Kardinalitäten begrenzen und unnötige Operatoren vermeiden.</a:t>
            </a:r>
          </a:p>
        </p:txBody>
      </p:sp>
      <p:sp>
        <p:nvSpPr>
          <p:cNvPr id="7" name="lead-accent">
            <a:extLst xmlns:a="http://schemas.openxmlformats.org/drawingml/2006/main">
              <a:ext uri="{FF2B5EF4-FFF2-40B4-BE49-F238E27FC236}">
                <a16:creationId xmlns:a16="http://schemas.microsoft.com/office/drawing/2014/main" id="{81692211-C340-4014-B264-A761C9EABADD}"/>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07C1FA21-A7D2-41F9-941D-4454DAC6F7BC}"/>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PRIMARY KEY und UNIQUE liefern Eindeutigkeitsinformation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FOREIGN KEY kann Join-Beziehungen beschreiben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CHECK Constraints begrenzen Wertebereiche</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Korrelation ohne Metadaten bleibt häufig eine Modellannahme</a:t>
            </a:r>
          </a:p>
        </p:txBody>
      </p:sp>
    </p:spTree>
    <p:extLst>
      <p:ext uri="{BB962C8B-B14F-4D97-AF65-F5344CB8AC3E}">
        <p14:creationId xmlns:p14="http://schemas.microsoft.com/office/powerpoint/2010/main" val="1519379607"/>
      </p:ext>
    </p:extLst>
  </p:cSld>
</p:sld>
</file>

<file path=ppt/slides/slide2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32C6B43E-0B42-4982-8B41-F96E892218D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F91162E6-5FA5-4099-94A3-098977F96FF6}"/>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Estimated und Actual Rows werden auf jedem relevanten Operator verglichen</a:t>
            </a:r>
          </a:p>
        </p:txBody>
      </p:sp>
      <p:sp>
        <p:nvSpPr>
          <p:cNvPr id="3" name="title-rule">
            <a:extLst xmlns:a="http://schemas.openxmlformats.org/drawingml/2006/main">
              <a:ext uri="{FF2B5EF4-FFF2-40B4-BE49-F238E27FC236}">
                <a16:creationId xmlns:a16="http://schemas.microsoft.com/office/drawing/2014/main" id="{85DBEF92-BA01-4312-8709-FDB034E8C48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A7E43511-51C2-4AD0-9A64-D98FFD733E8E}"/>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1351053D-0067-4E5B-9E1F-901A1051E709}"/>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26 / 84</a:t>
            </a:r>
          </a:p>
        </p:txBody>
      </p:sp>
      <p:sp>
        <p:nvSpPr>
          <p:cNvPr id="6" name="left-title">
            <a:extLst xmlns:a="http://schemas.openxmlformats.org/drawingml/2006/main">
              <a:ext uri="{FF2B5EF4-FFF2-40B4-BE49-F238E27FC236}">
                <a16:creationId xmlns:a16="http://schemas.microsoft.com/office/drawing/2014/main" id="{2659700C-9874-45B2-B69B-545D8463CEF9}"/>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Estimated</a:t>
            </a:r>
          </a:p>
        </p:txBody>
      </p:sp>
      <p:sp>
        <p:nvSpPr>
          <p:cNvPr id="7" name="right-title">
            <a:extLst xmlns:a="http://schemas.openxmlformats.org/drawingml/2006/main">
              <a:ext uri="{FF2B5EF4-FFF2-40B4-BE49-F238E27FC236}">
                <a16:creationId xmlns:a16="http://schemas.microsoft.com/office/drawing/2014/main" id="{354AD5D6-B5DF-4CC6-84B8-9A5242DDDD5E}"/>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Actual</a:t>
            </a:r>
          </a:p>
        </p:txBody>
      </p:sp>
      <p:sp>
        <p:nvSpPr>
          <p:cNvPr id="8" name="middle-rule">
            <a:extLst xmlns:a="http://schemas.openxmlformats.org/drawingml/2006/main">
              <a:ext uri="{FF2B5EF4-FFF2-40B4-BE49-F238E27FC236}">
                <a16:creationId xmlns:a16="http://schemas.microsoft.com/office/drawing/2014/main" id="{1FB75557-1E66-4CFF-BADA-B922EEDE4A10}"/>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C14A2E90-091B-4D3E-9DF7-DCEC49808BFA}"/>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Compile-time-Schätzung</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Grundlage für Join, Grant und DOP</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abhängig von Parametern und Statistiken</a:t>
            </a:r>
          </a:p>
        </p:txBody>
      </p:sp>
      <p:sp>
        <p:nvSpPr>
          <p:cNvPr id="10" name="right-points">
            <a:extLst xmlns:a="http://schemas.openxmlformats.org/drawingml/2006/main">
              <a:ext uri="{FF2B5EF4-FFF2-40B4-BE49-F238E27FC236}">
                <a16:creationId xmlns:a16="http://schemas.microsoft.com/office/drawing/2014/main" id="{D1296467-1E1C-461A-BA9D-50B63878E3F3}"/>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Runtime-Zeilen und Ausführungsanzahl</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nur im Actual Plan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kann durch frühe Abbrüche beeinflusst sein</a:t>
            </a:r>
          </a:p>
        </p:txBody>
      </p:sp>
      <p:sp>
        <p:nvSpPr>
          <p:cNvPr id="11" name="conclusion-bg">
            <a:extLst xmlns:a="http://schemas.openxmlformats.org/drawingml/2006/main">
              <a:ext uri="{FF2B5EF4-FFF2-40B4-BE49-F238E27FC236}">
                <a16:creationId xmlns:a16="http://schemas.microsoft.com/office/drawing/2014/main" id="{7B66A06E-82B2-4E5E-8F08-60B38483B9B6}"/>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38433C2E-3BF8-4A7B-B9A1-27D4C5C68D73}"/>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Große Abweichung ist ein Diagnosehinweis, noch keine Ursache.</a:t>
            </a:r>
          </a:p>
        </p:txBody>
      </p:sp>
    </p:spTree>
    <p:extLst>
      <p:ext uri="{BB962C8B-B14F-4D97-AF65-F5344CB8AC3E}">
        <p14:creationId xmlns:p14="http://schemas.microsoft.com/office/powerpoint/2010/main" val="697659311"/>
      </p:ext>
    </p:extLst>
  </p:cSld>
</p:sld>
</file>

<file path=ppt/slides/slide2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55AABBD3-9C69-4CBD-9DAF-5094DE7EAA2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21E30B42-A142-438A-81E6-36D711B2F962}"/>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 Plan wird entlang des Datenflusses und der Operatorausführung gelesen</a:t>
            </a:r>
          </a:p>
        </p:txBody>
      </p:sp>
      <p:sp>
        <p:nvSpPr>
          <p:cNvPr id="3" name="title-rule">
            <a:extLst xmlns:a="http://schemas.openxmlformats.org/drawingml/2006/main">
              <a:ext uri="{FF2B5EF4-FFF2-40B4-BE49-F238E27FC236}">
                <a16:creationId xmlns:a16="http://schemas.microsoft.com/office/drawing/2014/main" id="{4A7ABE4A-CACC-4B92-9534-4700DA6B0F92}"/>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DDDA3BDC-64B5-4F4F-BF04-15365F5FE285}"/>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D7762919-FB4C-4A81-BB0A-7BDCE5476610}"/>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27 / 84</a:t>
            </a:r>
          </a:p>
        </p:txBody>
      </p:sp>
      <p:sp>
        <p:nvSpPr>
          <p:cNvPr id="6" name="plan-scan">
            <a:extLst xmlns:a="http://schemas.openxmlformats.org/drawingml/2006/main">
              <a:ext uri="{FF2B5EF4-FFF2-40B4-BE49-F238E27FC236}">
                <a16:creationId xmlns:a16="http://schemas.microsoft.com/office/drawing/2014/main" id="{13B4D54C-8C04-4671-B7BC-8C10717CA212}"/>
              </a:ext>
            </a:extLst>
          </p:cNvPr>
          <p:cNvSpPr>
            <a:spLocks xmlns:a="http://schemas.openxmlformats.org/drawingml/2006/main" noGrp="1"/>
          </p:cNvSpPr>
          <p:nvPr/>
        </p:nvSpPr>
        <p:spPr>
          <a:xfrm xmlns:a="http://schemas.openxmlformats.org/drawingml/2006/main">
            <a:off x="8915400" y="3219450"/>
            <a:ext cx="2000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C"/>
            </a:solidFill>
            <a:prstDash val="solid"/>
          </a:ln>
        </p:spPr>
      </p:sp>
      <p:sp>
        <p:nvSpPr>
          <p:cNvPr id="7" name="plan-scan-text">
            <a:extLst xmlns:a="http://schemas.openxmlformats.org/drawingml/2006/main">
              <a:ext uri="{FF2B5EF4-FFF2-40B4-BE49-F238E27FC236}">
                <a16:creationId xmlns:a16="http://schemas.microsoft.com/office/drawing/2014/main" id="{835942EF-385F-46E1-AF5A-275F315EEDEE}"/>
              </a:ext>
            </a:extLst>
          </p:cNvPr>
          <p:cNvSpPr>
            <a:spLocks xmlns:a="http://schemas.openxmlformats.org/drawingml/2006/main" noGrp="1"/>
          </p:cNvSpPr>
          <p:nvPr/>
        </p:nvSpPr>
        <p:spPr>
          <a:xfrm xmlns:a="http://schemas.openxmlformats.org/drawingml/2006/main">
            <a:off x="9048750" y="3333750"/>
            <a:ext cx="1733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Index Seek</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Actual 100</a:t>
            </a:r>
          </a:p>
        </p:txBody>
      </p:sp>
      <p:sp>
        <p:nvSpPr>
          <p:cNvPr id="8" name="plan-lookup">
            <a:extLst xmlns:a="http://schemas.openxmlformats.org/drawingml/2006/main">
              <a:ext uri="{FF2B5EF4-FFF2-40B4-BE49-F238E27FC236}">
                <a16:creationId xmlns:a16="http://schemas.microsoft.com/office/drawing/2014/main" id="{6ACCE3AE-054B-4152-B3A3-E2B15E504B61}"/>
              </a:ext>
            </a:extLst>
          </p:cNvPr>
          <p:cNvSpPr>
            <a:spLocks xmlns:a="http://schemas.openxmlformats.org/drawingml/2006/main" noGrp="1"/>
          </p:cNvSpPr>
          <p:nvPr/>
        </p:nvSpPr>
        <p:spPr>
          <a:xfrm xmlns:a="http://schemas.openxmlformats.org/drawingml/2006/main">
            <a:off x="6286500" y="3219450"/>
            <a:ext cx="2000250" cy="1066800"/>
          </a:xfrm>
          <a:prstGeom xmlns:a="http://schemas.openxmlformats.org/drawingml/2006/main" prst="roundRect">
            <a:avLst>
              <a:gd name="adj" fmla="val 7143"/>
            </a:avLst>
          </a:prstGeom>
          <a:solidFill xmlns:a="http://schemas.openxmlformats.org/drawingml/2006/main">
            <a:srgbClr val="FFF3E4"/>
          </a:solidFill>
          <a:ln xmlns:a="http://schemas.openxmlformats.org/drawingml/2006/main" w="9525">
            <a:solidFill>
              <a:srgbClr val="D9E2EC"/>
            </a:solidFill>
            <a:prstDash val="solid"/>
          </a:ln>
        </p:spPr>
      </p:sp>
      <p:sp>
        <p:nvSpPr>
          <p:cNvPr id="9" name="plan-lookup-text">
            <a:extLst xmlns:a="http://schemas.openxmlformats.org/drawingml/2006/main">
              <a:ext uri="{FF2B5EF4-FFF2-40B4-BE49-F238E27FC236}">
                <a16:creationId xmlns:a16="http://schemas.microsoft.com/office/drawing/2014/main" id="{7E8F5652-7DED-4D15-A4D7-40B9F9599526}"/>
              </a:ext>
            </a:extLst>
          </p:cNvPr>
          <p:cNvSpPr>
            <a:spLocks xmlns:a="http://schemas.openxmlformats.org/drawingml/2006/main" noGrp="1"/>
          </p:cNvSpPr>
          <p:nvPr/>
        </p:nvSpPr>
        <p:spPr>
          <a:xfrm xmlns:a="http://schemas.openxmlformats.org/drawingml/2006/main">
            <a:off x="6419850" y="3333750"/>
            <a:ext cx="1733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Key Lookup</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100 ×</a:t>
            </a:r>
          </a:p>
        </p:txBody>
      </p:sp>
      <p:sp>
        <p:nvSpPr>
          <p:cNvPr id="10" name="plan-loops">
            <a:extLst xmlns:a="http://schemas.openxmlformats.org/drawingml/2006/main">
              <a:ext uri="{FF2B5EF4-FFF2-40B4-BE49-F238E27FC236}">
                <a16:creationId xmlns:a16="http://schemas.microsoft.com/office/drawing/2014/main" id="{B293A84F-EBB7-47CE-A407-213BA4A8FED8}"/>
              </a:ext>
            </a:extLst>
          </p:cNvPr>
          <p:cNvSpPr>
            <a:spLocks xmlns:a="http://schemas.openxmlformats.org/drawingml/2006/main" noGrp="1"/>
          </p:cNvSpPr>
          <p:nvPr/>
        </p:nvSpPr>
        <p:spPr>
          <a:xfrm xmlns:a="http://schemas.openxmlformats.org/drawingml/2006/main">
            <a:off x="3657600" y="3219450"/>
            <a:ext cx="2000250" cy="1066800"/>
          </a:xfrm>
          <a:prstGeom xmlns:a="http://schemas.openxmlformats.org/drawingml/2006/main" prst="roundRect">
            <a:avLst>
              <a:gd name="adj" fmla="val 7143"/>
            </a:avLst>
          </a:prstGeom>
          <a:solidFill xmlns:a="http://schemas.openxmlformats.org/drawingml/2006/main">
            <a:srgbClr val="EAF4F4"/>
          </a:solidFill>
          <a:ln xmlns:a="http://schemas.openxmlformats.org/drawingml/2006/main" w="9525">
            <a:solidFill>
              <a:srgbClr val="D9E2EC"/>
            </a:solidFill>
            <a:prstDash val="solid"/>
          </a:ln>
        </p:spPr>
      </p:sp>
      <p:sp>
        <p:nvSpPr>
          <p:cNvPr id="11" name="plan-loops-text">
            <a:extLst xmlns:a="http://schemas.openxmlformats.org/drawingml/2006/main">
              <a:ext uri="{FF2B5EF4-FFF2-40B4-BE49-F238E27FC236}">
                <a16:creationId xmlns:a16="http://schemas.microsoft.com/office/drawing/2014/main" id="{FCF96E47-F317-486B-85E8-6AF85725C3F1}"/>
              </a:ext>
            </a:extLst>
          </p:cNvPr>
          <p:cNvSpPr>
            <a:spLocks xmlns:a="http://schemas.openxmlformats.org/drawingml/2006/main" noGrp="1"/>
          </p:cNvSpPr>
          <p:nvPr/>
        </p:nvSpPr>
        <p:spPr>
          <a:xfrm xmlns:a="http://schemas.openxmlformats.org/drawingml/2006/main">
            <a:off x="3790950" y="3333750"/>
            <a:ext cx="1733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Nested Loops</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Actual 100</a:t>
            </a:r>
          </a:p>
        </p:txBody>
      </p:sp>
      <p:sp>
        <p:nvSpPr>
          <p:cNvPr id="12" name="plan-select">
            <a:extLst xmlns:a="http://schemas.openxmlformats.org/drawingml/2006/main">
              <a:ext uri="{FF2B5EF4-FFF2-40B4-BE49-F238E27FC236}">
                <a16:creationId xmlns:a16="http://schemas.microsoft.com/office/drawing/2014/main" id="{4D715437-B58E-4C1C-958F-AB015403220C}"/>
              </a:ext>
            </a:extLst>
          </p:cNvPr>
          <p:cNvSpPr>
            <a:spLocks xmlns:a="http://schemas.openxmlformats.org/drawingml/2006/main" noGrp="1"/>
          </p:cNvSpPr>
          <p:nvPr/>
        </p:nvSpPr>
        <p:spPr>
          <a:xfrm xmlns:a="http://schemas.openxmlformats.org/drawingml/2006/main">
            <a:off x="1028700" y="3219450"/>
            <a:ext cx="2000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C"/>
            </a:solidFill>
            <a:prstDash val="solid"/>
          </a:ln>
        </p:spPr>
      </p:sp>
      <p:sp>
        <p:nvSpPr>
          <p:cNvPr id="13" name="plan-select-text">
            <a:extLst xmlns:a="http://schemas.openxmlformats.org/drawingml/2006/main">
              <a:ext uri="{FF2B5EF4-FFF2-40B4-BE49-F238E27FC236}">
                <a16:creationId xmlns:a16="http://schemas.microsoft.com/office/drawing/2014/main" id="{CA6C2600-099F-4887-A50F-6CEFD4F3DB35}"/>
              </a:ext>
            </a:extLst>
          </p:cNvPr>
          <p:cNvSpPr>
            <a:spLocks xmlns:a="http://schemas.openxmlformats.org/drawingml/2006/main" noGrp="1"/>
          </p:cNvSpPr>
          <p:nvPr/>
        </p:nvSpPr>
        <p:spPr>
          <a:xfrm xmlns:a="http://schemas.openxmlformats.org/drawingml/2006/main">
            <a:off x="1162050" y="3333750"/>
            <a:ext cx="1733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SELECT</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Resultset</a:t>
            </a:r>
          </a:p>
        </p:txBody>
      </p:sp>
      <p:cxnSp>
        <p:nvCxnSpPr>
          <p:cNvPr id="31" name=""/>
          <p:cNvCxnSpPr>
            <a:stCxn xmlns:a="http://schemas.openxmlformats.org/drawingml/2006/main" id="6" idx="1"/>
            <a:endCxn xmlns:a="http://schemas.openxmlformats.org/drawingml/2006/main" id="8" idx="3"/>
          </p:cNvCxnSpPr>
          <p:nvPr/>
        </p:nvCxnSpPr>
        <p:spPr>
          <a:xfrm xmlns:a="http://schemas.openxmlformats.org/drawingml/2006/main" flipH="1">
            <a:off x="8286750" y="3752850"/>
            <a:ext cx="6286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2" name=""/>
          <p:cNvCxnSpPr>
            <a:stCxn xmlns:a="http://schemas.openxmlformats.org/drawingml/2006/main" id="8" idx="1"/>
            <a:endCxn xmlns:a="http://schemas.openxmlformats.org/drawingml/2006/main" id="10" idx="3"/>
          </p:cNvCxnSpPr>
          <p:nvPr/>
        </p:nvCxnSpPr>
        <p:spPr>
          <a:xfrm xmlns:a="http://schemas.openxmlformats.org/drawingml/2006/main" flipH="1">
            <a:off x="5657850" y="3752850"/>
            <a:ext cx="6286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3" name=""/>
          <p:cNvCxnSpPr>
            <a:stCxn xmlns:a="http://schemas.openxmlformats.org/drawingml/2006/main" id="10" idx="1"/>
            <a:endCxn xmlns:a="http://schemas.openxmlformats.org/drawingml/2006/main" id="12" idx="3"/>
          </p:cNvCxnSpPr>
          <p:nvPr/>
        </p:nvCxnSpPr>
        <p:spPr>
          <a:xfrm xmlns:a="http://schemas.openxmlformats.org/drawingml/2006/main" flipH="1">
            <a:off x="3028950" y="3752850"/>
            <a:ext cx="6286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17" name="plan-caption">
            <a:extLst xmlns:a="http://schemas.openxmlformats.org/drawingml/2006/main">
              <a:ext uri="{FF2B5EF4-FFF2-40B4-BE49-F238E27FC236}">
                <a16:creationId xmlns:a16="http://schemas.microsoft.com/office/drawing/2014/main" id="{807519F1-7055-4F5E-840D-6D93B66278DC}"/>
              </a:ext>
            </a:extLst>
          </p:cNvPr>
          <p:cNvSpPr>
            <a:spLocks xmlns:a="http://schemas.openxmlformats.org/drawingml/2006/main" noGrp="1"/>
          </p:cNvSpPr>
          <p:nvPr/>
        </p:nvSpPr>
        <p:spPr>
          <a:xfrm xmlns:a="http://schemas.openxmlformats.org/drawingml/2006/main">
            <a:off x="1847850" y="4857750"/>
            <a:ext cx="847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26"/>
          </a:bodyPr>
          <a:lstStyle xmlns:a="http://schemas.openxmlformats.org/drawingml/2006/main"/>
          <a:p xmlns:a="http://schemas.openxmlformats.org/drawingml/2006/main">
            <a:pPr algn="ctr">
              <a:lnSpc>
                <a:spcPct val="105000"/>
              </a:lnSpc>
              <a:buNone/>
              <a:defRPr sz="1875" b="1" i="0">
                <a:solidFill>
                  <a:srgbClr val="102A43"/>
                </a:solidFill>
                <a:latin typeface="Aptos"/>
                <a:ea typeface="Aptos"/>
                <a:cs typeface="Aptos"/>
              </a:defRPr>
            </a:pPr>
            <a:r>
              <a:rPr sz="1875" b="1" i="0">
                <a:solidFill>
                  <a:srgbClr val="102A43"/>
                </a:solidFill>
                <a:latin typeface="Aptos"/>
                <a:ea typeface="Aptos"/>
                <a:cs typeface="Aptos"/>
              </a:rPr>
              <a:t>Datenfluss rechts → links · Ausführungsanzahl und Rows pro Operator prüfen</a:t>
            </a:r>
          </a:p>
        </p:txBody>
      </p:sp>
    </p:spTree>
    <p:extLst>
      <p:ext uri="{BB962C8B-B14F-4D97-AF65-F5344CB8AC3E}">
        <p14:creationId xmlns:p14="http://schemas.microsoft.com/office/powerpoint/2010/main" val="1551802974"/>
      </p:ext>
    </p:extLst>
  </p:cSld>
</p:sld>
</file>

<file path=ppt/slides/slide2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83CE5FB7-EC6D-499C-84A8-13ACAA8E29B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CF72EA3B-4429-4931-956B-B5205161E36D}"/>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Join-Algorithmen lösen dasselbe Problem mit unterschiedlichen Kostenprofilen</a:t>
            </a:r>
          </a:p>
        </p:txBody>
      </p:sp>
      <p:sp>
        <p:nvSpPr>
          <p:cNvPr id="3" name="title-rule">
            <a:extLst xmlns:a="http://schemas.openxmlformats.org/drawingml/2006/main">
              <a:ext uri="{FF2B5EF4-FFF2-40B4-BE49-F238E27FC236}">
                <a16:creationId xmlns:a16="http://schemas.microsoft.com/office/drawing/2014/main" id="{6B2BFE38-CCA8-4F12-B4B7-3D90E65FD4C6}"/>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24309DA9-37BE-4A62-92C8-20BAB6720444}"/>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53BFAB4B-967F-41DC-B9F1-98DEDD9A4083}"/>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28 / 84</a:t>
            </a:r>
          </a:p>
        </p:txBody>
      </p:sp>
      <p:graphicFrame>
        <p:nvGraphicFramePr>
          <p:cNvPr id="12" name=""/>
          <p:cNvGraphicFramePr/>
          <p:nvPr/>
        </p:nvGraphicFramePr>
        <p:xfrm>
          <a:off xmlns:a="http://schemas.openxmlformats.org/drawingml/2006/main" x="609600" y="2171700"/>
          <a:ext xmlns:a="http://schemas.openxmlformats.org/drawingml/2006/main" cx="10668000" cy="3524250"/>
        </p:xfrm>
        <a:graphic xmlns:a="http://schemas.openxmlformats.org/drawingml/2006/main">
          <a:graphicData uri="http://schemas.openxmlformats.org/drawingml/2006/table">
            <a:tbl>
              <a:tblPr firstRow="1" bandRow="1"/>
              <a:tblGrid>
                <a:gridCol w="2800350"/>
                <a:gridCol w="3867150"/>
                <a:gridCol w="4000500"/>
              </a:tblGrid>
              <a:tr h="704850">
                <a:tc>
                  <a:txBody>
                    <a:bodyPr/>
                    <a:lstStyle/>
                    <a:p>
                      <a:r>
                        <a:rPr sz="1500" b="1">
                          <a:solidFill>
                            <a:srgbClr val="FFFFFF"/>
                          </a:solidFill>
                          <a:latin typeface="Aptos"/>
                          <a:ea typeface="Aptos"/>
                          <a:cs typeface="Aptos"/>
                        </a:rPr>
                        <a:t>Join</a:t>
                      </a:r>
                    </a:p>
                  </a:txBody>
                  <a:tcPr marL="91440" marR="91440" marT="45720" marB="45720">
                    <a:solidFill>
                      <a:srgbClr val="0B1F33"/>
                    </a:solidFill>
                  </a:tcPr>
                </a:tc>
                <a:tc>
                  <a:txBody>
                    <a:bodyPr/>
                    <a:lstStyle/>
                    <a:p>
                      <a:r>
                        <a:rPr sz="1500" b="1">
                          <a:solidFill>
                            <a:srgbClr val="FFFFFF"/>
                          </a:solidFill>
                          <a:latin typeface="Aptos"/>
                          <a:ea typeface="Aptos"/>
                          <a:cs typeface="Aptos"/>
                        </a:rPr>
                        <a:t>stark bei</a:t>
                      </a:r>
                    </a:p>
                  </a:txBody>
                  <a:tcPr marL="91440" marR="91440" marT="45720" marB="45720">
                    <a:solidFill>
                      <a:srgbClr val="0B1F33"/>
                    </a:solidFill>
                  </a:tcPr>
                </a:tc>
                <a:tc>
                  <a:txBody>
                    <a:bodyPr/>
                    <a:lstStyle/>
                    <a:p>
                      <a:r>
                        <a:rPr sz="1500" b="1">
                          <a:solidFill>
                            <a:srgbClr val="FFFFFF"/>
                          </a:solidFill>
                          <a:latin typeface="Aptos"/>
                          <a:ea typeface="Aptos"/>
                          <a:cs typeface="Aptos"/>
                        </a:rPr>
                        <a:t>typisches Risiko</a:t>
                      </a:r>
                    </a:p>
                  </a:txBody>
                  <a:tcPr marL="91440" marR="91440" marT="45720" marB="45720">
                    <a:solidFill>
                      <a:srgbClr val="0B1F33"/>
                    </a:solidFill>
                  </a:tcPr>
                </a:tc>
              </a:tr>
              <a:tr h="704850">
                <a:tc>
                  <a:txBody>
                    <a:bodyPr>
                      <a:normAutofit/>
                    </a:bodyPr>
                    <a:lstStyle/>
                    <a:p>
                      <a:r>
                        <a:rPr sz="1350">
                          <a:solidFill>
                            <a:srgbClr val="243B53"/>
                          </a:solidFill>
                          <a:latin typeface="Aptos"/>
                          <a:ea typeface="Aptos"/>
                          <a:cs typeface="Aptos"/>
                        </a:rPr>
                        <a:t>Nested Loops</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kleinem Outer Input und günstigem Inner Lookup</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viele wiederholte Zugriffe</a:t>
                      </a:r>
                    </a:p>
                  </a:txBody>
                  <a:tcPr marL="91440" marR="91440" marT="45720" marB="45720">
                    <a:solidFill>
                      <a:srgbClr val="FFFFFF"/>
                    </a:solidFill>
                  </a:tcPr>
                </a:tc>
              </a:tr>
              <a:tr h="704850">
                <a:tc>
                  <a:txBody>
                    <a:bodyPr>
                      <a:normAutofit/>
                    </a:bodyPr>
                    <a:lstStyle/>
                    <a:p>
                      <a:r>
                        <a:rPr sz="1350">
                          <a:solidFill>
                            <a:srgbClr val="243B53"/>
                          </a:solidFill>
                          <a:latin typeface="Aptos"/>
                          <a:ea typeface="Aptos"/>
                          <a:cs typeface="Aptos"/>
                        </a:rPr>
                        <a:t>Hash Match</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großen unsortierten Inputs und Gleichheit</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Memory Grant und Spill</a:t>
                      </a:r>
                    </a:p>
                  </a:txBody>
                  <a:tcPr marL="91440" marR="91440" marT="45720" marB="45720">
                    <a:solidFill>
                      <a:srgbClr val="EDF2F7"/>
                    </a:solidFill>
                  </a:tcPr>
                </a:tc>
              </a:tr>
              <a:tr h="704850">
                <a:tc>
                  <a:txBody>
                    <a:bodyPr>
                      <a:normAutofit/>
                    </a:bodyPr>
                    <a:lstStyle/>
                    <a:p>
                      <a:r>
                        <a:rPr sz="1350">
                          <a:solidFill>
                            <a:srgbClr val="243B53"/>
                          </a:solidFill>
                          <a:latin typeface="Aptos"/>
                          <a:ea typeface="Aptos"/>
                          <a:cs typeface="Aptos"/>
                        </a:rPr>
                        <a:t>Merge Join</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sortierten Inputs und Gleichheit/Ranges</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Sortkosten oder große Streams</a:t>
                      </a:r>
                    </a:p>
                  </a:txBody>
                  <a:tcPr marL="91440" marR="91440" marT="45720" marB="45720">
                    <a:solidFill>
                      <a:srgbClr val="FFFFFF"/>
                    </a:solidFill>
                  </a:tcPr>
                </a:tc>
              </a:tr>
              <a:tr h="704850">
                <a:tc>
                  <a:txBody>
                    <a:bodyPr>
                      <a:normAutofit/>
                    </a:bodyPr>
                    <a:lstStyle/>
                    <a:p>
                      <a:r>
                        <a:rPr sz="1350">
                          <a:solidFill>
                            <a:srgbClr val="243B53"/>
                          </a:solidFill>
                          <a:latin typeface="Aptos"/>
                          <a:ea typeface="Aptos"/>
                          <a:cs typeface="Aptos"/>
                        </a:rPr>
                        <a:t>Adaptive Join</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unsicherer Build-Kardinalität im geeigneten Batch-Mode-Szenario</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versions- und planabhängig</a:t>
                      </a:r>
                    </a:p>
                  </a:txBody>
                  <a:tcPr marL="91440" marR="91440" marT="45720" marB="45720">
                    <a:solidFill>
                      <a:srgbClr val="EDF2F7"/>
                    </a:solidFill>
                  </a:tcPr>
                </a:tc>
              </a:tr>
            </a:tbl>
          </a:graphicData>
        </a:graphic>
      </p:graphicFrame>
    </p:spTree>
    <p:extLst>
      <p:ext uri="{BB962C8B-B14F-4D97-AF65-F5344CB8AC3E}">
        <p14:creationId xmlns:p14="http://schemas.microsoft.com/office/powerpoint/2010/main" val="125043941"/>
      </p:ext>
    </p:extLst>
  </p:cSld>
</p:sld>
</file>

<file path=ppt/slides/slide2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B509F50B-13C1-4082-AEBB-4D29C351047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6F5414A9-381E-493A-A8BD-8EEE69FD5E7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Memory Grants koppeln Planqualität an Workload-Concurrency</a:t>
            </a:r>
          </a:p>
        </p:txBody>
      </p:sp>
      <p:sp>
        <p:nvSpPr>
          <p:cNvPr id="3" name="title-rule">
            <a:extLst xmlns:a="http://schemas.openxmlformats.org/drawingml/2006/main">
              <a:ext uri="{FF2B5EF4-FFF2-40B4-BE49-F238E27FC236}">
                <a16:creationId xmlns:a16="http://schemas.microsoft.com/office/drawing/2014/main" id="{F05A747B-B1AF-4A81-9DCD-23C74C122C16}"/>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716266DE-ACA0-43C1-865D-42F10157EFE5}"/>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8A677FEE-726E-491E-9B50-DD15ABD6927B}"/>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29 / 84</a:t>
            </a:r>
          </a:p>
        </p:txBody>
      </p:sp>
      <p:sp>
        <p:nvSpPr>
          <p:cNvPr id="6" name="grant-est">
            <a:extLst xmlns:a="http://schemas.openxmlformats.org/drawingml/2006/main">
              <a:ext uri="{FF2B5EF4-FFF2-40B4-BE49-F238E27FC236}">
                <a16:creationId xmlns:a16="http://schemas.microsoft.com/office/drawing/2014/main" id="{A44BE730-2201-4A83-9092-813D14374711}"/>
              </a:ext>
            </a:extLst>
          </p:cNvPr>
          <p:cNvSpPr>
            <a:spLocks xmlns:a="http://schemas.openxmlformats.org/drawingml/2006/main" noGrp="1"/>
          </p:cNvSpPr>
          <p:nvPr/>
        </p:nvSpPr>
        <p:spPr>
          <a:xfrm xmlns:a="http://schemas.openxmlformats.org/drawingml/2006/main">
            <a:off x="819150" y="3067050"/>
            <a:ext cx="2095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2EC"/>
            </a:solidFill>
            <a:prstDash val="solid"/>
          </a:ln>
        </p:spPr>
      </p:sp>
      <p:sp>
        <p:nvSpPr>
          <p:cNvPr id="7" name="grant-est-text">
            <a:extLst xmlns:a="http://schemas.openxmlformats.org/drawingml/2006/main">
              <a:ext uri="{FF2B5EF4-FFF2-40B4-BE49-F238E27FC236}">
                <a16:creationId xmlns:a16="http://schemas.microsoft.com/office/drawing/2014/main" id="{38C7191F-2FA0-4D97-85DE-E22661A209A2}"/>
              </a:ext>
            </a:extLst>
          </p:cNvPr>
          <p:cNvSpPr>
            <a:spLocks xmlns:a="http://schemas.openxmlformats.org/drawingml/2006/main" noGrp="1"/>
          </p:cNvSpPr>
          <p:nvPr/>
        </p:nvSpPr>
        <p:spPr>
          <a:xfrm xmlns:a="http://schemas.openxmlformats.org/drawingml/2006/main">
            <a:off x="952500" y="3181350"/>
            <a:ext cx="18288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Estimated Rows</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 Row Width</a:t>
            </a:r>
          </a:p>
        </p:txBody>
      </p:sp>
      <p:sp>
        <p:nvSpPr>
          <p:cNvPr id="8" name="grant-req">
            <a:extLst xmlns:a="http://schemas.openxmlformats.org/drawingml/2006/main">
              <a:ext uri="{FF2B5EF4-FFF2-40B4-BE49-F238E27FC236}">
                <a16:creationId xmlns:a16="http://schemas.microsoft.com/office/drawing/2014/main" id="{2B537531-5C8A-43CB-8FD9-3716B0A5A599}"/>
              </a:ext>
            </a:extLst>
          </p:cNvPr>
          <p:cNvSpPr>
            <a:spLocks xmlns:a="http://schemas.openxmlformats.org/drawingml/2006/main" noGrp="1"/>
          </p:cNvSpPr>
          <p:nvPr/>
        </p:nvSpPr>
        <p:spPr>
          <a:xfrm xmlns:a="http://schemas.openxmlformats.org/drawingml/2006/main">
            <a:off x="3657600" y="3067050"/>
            <a:ext cx="2000250" cy="1238250"/>
          </a:xfrm>
          <a:prstGeom xmlns:a="http://schemas.openxmlformats.org/drawingml/2006/main" prst="roundRect">
            <a:avLst>
              <a:gd name="adj" fmla="val 6154"/>
            </a:avLst>
          </a:prstGeom>
          <a:solidFill xmlns:a="http://schemas.openxmlformats.org/drawingml/2006/main">
            <a:srgbClr val="EAF4F4"/>
          </a:solidFill>
          <a:ln xmlns:a="http://schemas.openxmlformats.org/drawingml/2006/main" w="9525">
            <a:solidFill>
              <a:srgbClr val="D9E2EC"/>
            </a:solidFill>
            <a:prstDash val="solid"/>
          </a:ln>
        </p:spPr>
      </p:sp>
      <p:sp>
        <p:nvSpPr>
          <p:cNvPr id="9" name="grant-req-text">
            <a:extLst xmlns:a="http://schemas.openxmlformats.org/drawingml/2006/main">
              <a:ext uri="{FF2B5EF4-FFF2-40B4-BE49-F238E27FC236}">
                <a16:creationId xmlns:a16="http://schemas.microsoft.com/office/drawing/2014/main" id="{704D29AB-5179-425A-8B18-7B4691F10089}"/>
              </a:ext>
            </a:extLst>
          </p:cNvPr>
          <p:cNvSpPr>
            <a:spLocks xmlns:a="http://schemas.openxmlformats.org/drawingml/2006/main" noGrp="1"/>
          </p:cNvSpPr>
          <p:nvPr/>
        </p:nvSpPr>
        <p:spPr>
          <a:xfrm xmlns:a="http://schemas.openxmlformats.org/drawingml/2006/main">
            <a:off x="3790950" y="3181350"/>
            <a:ext cx="1733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Requested</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Memory</a:t>
            </a:r>
          </a:p>
        </p:txBody>
      </p:sp>
      <p:sp>
        <p:nvSpPr>
          <p:cNvPr id="10" name="grant-got">
            <a:extLst xmlns:a="http://schemas.openxmlformats.org/drawingml/2006/main">
              <a:ext uri="{FF2B5EF4-FFF2-40B4-BE49-F238E27FC236}">
                <a16:creationId xmlns:a16="http://schemas.microsoft.com/office/drawing/2014/main" id="{05EFBC7D-0AAF-4B7E-9E4A-A1BBC8D94BD0}"/>
              </a:ext>
            </a:extLst>
          </p:cNvPr>
          <p:cNvSpPr>
            <a:spLocks xmlns:a="http://schemas.openxmlformats.org/drawingml/2006/main" noGrp="1"/>
          </p:cNvSpPr>
          <p:nvPr/>
        </p:nvSpPr>
        <p:spPr>
          <a:xfrm xmlns:a="http://schemas.openxmlformats.org/drawingml/2006/main">
            <a:off x="6400800" y="3067050"/>
            <a:ext cx="2000250" cy="1238250"/>
          </a:xfrm>
          <a:prstGeom xmlns:a="http://schemas.openxmlformats.org/drawingml/2006/main" prst="roundRect">
            <a:avLst>
              <a:gd name="adj" fmla="val 6154"/>
            </a:avLst>
          </a:prstGeom>
          <a:solidFill xmlns:a="http://schemas.openxmlformats.org/drawingml/2006/main">
            <a:srgbClr val="FFF3E4"/>
          </a:solidFill>
          <a:ln xmlns:a="http://schemas.openxmlformats.org/drawingml/2006/main" w="9525">
            <a:solidFill>
              <a:srgbClr val="D9E2EC"/>
            </a:solidFill>
            <a:prstDash val="solid"/>
          </a:ln>
        </p:spPr>
      </p:sp>
      <p:sp>
        <p:nvSpPr>
          <p:cNvPr id="11" name="grant-got-text">
            <a:extLst xmlns:a="http://schemas.openxmlformats.org/drawingml/2006/main">
              <a:ext uri="{FF2B5EF4-FFF2-40B4-BE49-F238E27FC236}">
                <a16:creationId xmlns:a16="http://schemas.microsoft.com/office/drawing/2014/main" id="{21AF39C2-01EB-49B3-95AE-2B1F36243E2F}"/>
              </a:ext>
            </a:extLst>
          </p:cNvPr>
          <p:cNvSpPr>
            <a:spLocks xmlns:a="http://schemas.openxmlformats.org/drawingml/2006/main" noGrp="1"/>
          </p:cNvSpPr>
          <p:nvPr/>
        </p:nvSpPr>
        <p:spPr>
          <a:xfrm xmlns:a="http://schemas.openxmlformats.org/drawingml/2006/main">
            <a:off x="6534150" y="3181350"/>
            <a:ext cx="1733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Granted</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Memory</a:t>
            </a:r>
          </a:p>
        </p:txBody>
      </p:sp>
      <p:sp>
        <p:nvSpPr>
          <p:cNvPr id="12" name="grant-run">
            <a:extLst xmlns:a="http://schemas.openxmlformats.org/drawingml/2006/main">
              <a:ext uri="{FF2B5EF4-FFF2-40B4-BE49-F238E27FC236}">
                <a16:creationId xmlns:a16="http://schemas.microsoft.com/office/drawing/2014/main" id="{78F69084-4A50-45B8-9326-2A0B1E2E2579}"/>
              </a:ext>
            </a:extLst>
          </p:cNvPr>
          <p:cNvSpPr>
            <a:spLocks xmlns:a="http://schemas.openxmlformats.org/drawingml/2006/main" noGrp="1"/>
          </p:cNvSpPr>
          <p:nvPr/>
        </p:nvSpPr>
        <p:spPr>
          <a:xfrm xmlns:a="http://schemas.openxmlformats.org/drawingml/2006/main">
            <a:off x="9144000" y="3067050"/>
            <a:ext cx="2095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2EC"/>
            </a:solidFill>
            <a:prstDash val="solid"/>
          </a:ln>
        </p:spPr>
      </p:sp>
      <p:sp>
        <p:nvSpPr>
          <p:cNvPr id="13" name="grant-run-text">
            <a:extLst xmlns:a="http://schemas.openxmlformats.org/drawingml/2006/main">
              <a:ext uri="{FF2B5EF4-FFF2-40B4-BE49-F238E27FC236}">
                <a16:creationId xmlns:a16="http://schemas.microsoft.com/office/drawing/2014/main" id="{338BC4DA-97E5-4691-A7B8-52E98087D8EB}"/>
              </a:ext>
            </a:extLst>
          </p:cNvPr>
          <p:cNvSpPr>
            <a:spLocks xmlns:a="http://schemas.openxmlformats.org/drawingml/2006/main" noGrp="1"/>
          </p:cNvSpPr>
          <p:nvPr/>
        </p:nvSpPr>
        <p:spPr>
          <a:xfrm xmlns:a="http://schemas.openxmlformats.org/drawingml/2006/main">
            <a:off x="9277350" y="3181350"/>
            <a:ext cx="18288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Used Memory</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oder Spill</a:t>
            </a:r>
          </a:p>
        </p:txBody>
      </p:sp>
      <p:cxnSp>
        <p:nvCxnSpPr>
          <p:cNvPr id="31" name=""/>
          <p:cNvCxnSpPr>
            <a:stCxn xmlns:a="http://schemas.openxmlformats.org/drawingml/2006/main" id="6" idx="3"/>
            <a:endCxn xmlns:a="http://schemas.openxmlformats.org/drawingml/2006/main" id="8" idx="1"/>
          </p:cNvCxnSpPr>
          <p:nvPr/>
        </p:nvCxnSpPr>
        <p:spPr>
          <a:xfrm xmlns:a="http://schemas.openxmlformats.org/drawingml/2006/main">
            <a:off x="2914650" y="3686175"/>
            <a:ext cx="7429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2" name=""/>
          <p:cNvCxnSpPr>
            <a:stCxn xmlns:a="http://schemas.openxmlformats.org/drawingml/2006/main" id="8" idx="3"/>
            <a:endCxn xmlns:a="http://schemas.openxmlformats.org/drawingml/2006/main" id="10" idx="1"/>
          </p:cNvCxnSpPr>
          <p:nvPr/>
        </p:nvCxnSpPr>
        <p:spPr>
          <a:xfrm xmlns:a="http://schemas.openxmlformats.org/drawingml/2006/main">
            <a:off x="5657850" y="3686175"/>
            <a:ext cx="7429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3" name=""/>
          <p:cNvCxnSpPr>
            <a:stCxn xmlns:a="http://schemas.openxmlformats.org/drawingml/2006/main" id="10" idx="3"/>
            <a:endCxn xmlns:a="http://schemas.openxmlformats.org/drawingml/2006/main" id="12" idx="1"/>
          </p:cNvCxnSpPr>
          <p:nvPr/>
        </p:nvCxnSpPr>
        <p:spPr>
          <a:xfrm xmlns:a="http://schemas.openxmlformats.org/drawingml/2006/main">
            <a:off x="8401050" y="3686175"/>
            <a:ext cx="7429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17" name="grant-caption">
            <a:extLst xmlns:a="http://schemas.openxmlformats.org/drawingml/2006/main">
              <a:ext uri="{FF2B5EF4-FFF2-40B4-BE49-F238E27FC236}">
                <a16:creationId xmlns:a16="http://schemas.microsoft.com/office/drawing/2014/main" id="{CDDC899C-B9CA-4C7E-ACBE-FD0CD3E3792A}"/>
              </a:ext>
            </a:extLst>
          </p:cNvPr>
          <p:cNvSpPr>
            <a:spLocks xmlns:a="http://schemas.openxmlformats.org/drawingml/2006/main" noGrp="1"/>
          </p:cNvSpPr>
          <p:nvPr/>
        </p:nvSpPr>
        <p:spPr>
          <a:xfrm xmlns:a="http://schemas.openxmlformats.org/drawingml/2006/main">
            <a:off x="2095500" y="495300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i="0">
                <a:solidFill>
                  <a:srgbClr val="102A43"/>
                </a:solidFill>
                <a:latin typeface="Aptos"/>
                <a:ea typeface="Aptos"/>
                <a:cs typeface="Aptos"/>
              </a:defRPr>
            </a:pPr>
            <a:r>
              <a:rPr sz="1950" b="1" i="0">
                <a:solidFill>
                  <a:srgbClr val="102A43"/>
                </a:solidFill>
                <a:latin typeface="Aptos"/>
                <a:ea typeface="Aptos"/>
                <a:cs typeface="Aptos"/>
              </a:rPr>
              <a:t>Undergrant → TempDB-Spill · Overgrant → weniger Concurrency</a:t>
            </a:r>
          </a:p>
        </p:txBody>
      </p:sp>
    </p:spTree>
    <p:extLst>
      <p:ext uri="{BB962C8B-B14F-4D97-AF65-F5344CB8AC3E}">
        <p14:creationId xmlns:p14="http://schemas.microsoft.com/office/powerpoint/2010/main" val="1802561376"/>
      </p:ext>
    </p:extLst>
  </p:cSld>
</p:sld>
</file>

<file path=ppt/slides/slide3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C5E89F65-68ED-4B27-A5C9-FB7D1C1FBB5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33E20F11-7098-41BE-9258-87BA48570CB5}"/>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966"/>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 Spill ist Evidenz für zu wenig nutzbaren Workspace – nicht automatisch für zu wenig Server-RAM</a:t>
            </a:r>
          </a:p>
        </p:txBody>
      </p:sp>
      <p:sp>
        <p:nvSpPr>
          <p:cNvPr id="3" name="title-rule">
            <a:extLst xmlns:a="http://schemas.openxmlformats.org/drawingml/2006/main">
              <a:ext uri="{FF2B5EF4-FFF2-40B4-BE49-F238E27FC236}">
                <a16:creationId xmlns:a16="http://schemas.microsoft.com/office/drawing/2014/main" id="{39B59627-A123-4344-8A23-47BFFED43E31}"/>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1894B79D-C024-4B03-9A7F-8CBC89CCD8A1}"/>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CE184359-864F-45CA-B625-4A67FF343380}"/>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30 / 84</a:t>
            </a:r>
          </a:p>
        </p:txBody>
      </p:sp>
      <p:sp>
        <p:nvSpPr>
          <p:cNvPr id="6" name="left-title">
            <a:extLst xmlns:a="http://schemas.openxmlformats.org/drawingml/2006/main">
              <a:ext uri="{FF2B5EF4-FFF2-40B4-BE49-F238E27FC236}">
                <a16:creationId xmlns:a16="http://schemas.microsoft.com/office/drawing/2014/main" id="{7999DE31-ABAC-46F8-A6EB-4171D98C711C}"/>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Mögliche Ursache</a:t>
            </a:r>
          </a:p>
        </p:txBody>
      </p:sp>
      <p:sp>
        <p:nvSpPr>
          <p:cNvPr id="7" name="right-title">
            <a:extLst xmlns:a="http://schemas.openxmlformats.org/drawingml/2006/main">
              <a:ext uri="{FF2B5EF4-FFF2-40B4-BE49-F238E27FC236}">
                <a16:creationId xmlns:a16="http://schemas.microsoft.com/office/drawing/2014/main" id="{D09C7888-2139-440C-93D5-9962E67147CB}"/>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Zu prüfen</a:t>
            </a:r>
          </a:p>
        </p:txBody>
      </p:sp>
      <p:sp>
        <p:nvSpPr>
          <p:cNvPr id="8" name="middle-rule">
            <a:extLst xmlns:a="http://schemas.openxmlformats.org/drawingml/2006/main">
              <a:ext uri="{FF2B5EF4-FFF2-40B4-BE49-F238E27FC236}">
                <a16:creationId xmlns:a16="http://schemas.microsoft.com/office/drawing/2014/main" id="{827A0679-F525-4176-B14D-22E47661FD62}"/>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C1CDD21C-DCED-4008-B8EB-4C1F7FD38E75}"/>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Kardinalität unterschätzt</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Grant gedeckelt oder konkurrierend</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breitere Rows als erwartet</a:t>
            </a:r>
          </a:p>
        </p:txBody>
      </p:sp>
      <p:sp>
        <p:nvSpPr>
          <p:cNvPr id="10" name="right-points">
            <a:extLst xmlns:a="http://schemas.openxmlformats.org/drawingml/2006/main">
              <a:ext uri="{FF2B5EF4-FFF2-40B4-BE49-F238E27FC236}">
                <a16:creationId xmlns:a16="http://schemas.microsoft.com/office/drawing/2014/main" id="{739BA656-EDC8-4231-A298-4FE85C07D7EE}"/>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Plan Warning und Spill Level</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Requested, Granted und Used Memory</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RESOURCE_SEMAPHORE und TempDB-I/O</a:t>
            </a:r>
          </a:p>
        </p:txBody>
      </p:sp>
      <p:sp>
        <p:nvSpPr>
          <p:cNvPr id="11" name="conclusion-bg">
            <a:extLst xmlns:a="http://schemas.openxmlformats.org/drawingml/2006/main">
              <a:ext uri="{FF2B5EF4-FFF2-40B4-BE49-F238E27FC236}">
                <a16:creationId xmlns:a16="http://schemas.microsoft.com/office/drawing/2014/main" id="{F86B3877-F49B-4C9A-A291-306BE07233B8}"/>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D74ECCE6-CC8F-4D7D-9D04-EA232149A4E0}"/>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Zuerst Schätzung und Planursache prüfen, dann Kapazität.</a:t>
            </a:r>
          </a:p>
        </p:txBody>
      </p:sp>
    </p:spTree>
    <p:extLst>
      <p:ext uri="{BB962C8B-B14F-4D97-AF65-F5344CB8AC3E}">
        <p14:creationId xmlns:p14="http://schemas.microsoft.com/office/powerpoint/2010/main" val="799338886"/>
      </p:ext>
    </p:extLst>
  </p:cSld>
</p:sld>
</file>

<file path=ppt/slides/slide3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34B75420-D339-4EE4-A24D-1A2B1E39BE8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992806DE-9367-4F7C-BCC0-2C4A8F8F629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Parallelität verteilt Tasks – nicht automatisch gleich viel Arbeit</a:t>
            </a:r>
          </a:p>
        </p:txBody>
      </p:sp>
      <p:sp>
        <p:nvSpPr>
          <p:cNvPr id="3" name="title-rule">
            <a:extLst xmlns:a="http://schemas.openxmlformats.org/drawingml/2006/main">
              <a:ext uri="{FF2B5EF4-FFF2-40B4-BE49-F238E27FC236}">
                <a16:creationId xmlns:a16="http://schemas.microsoft.com/office/drawing/2014/main" id="{01EB6E15-9E60-464E-8DF1-0C784326AC27}"/>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C66AF756-135D-401A-9D25-2FB1B31BB21F}"/>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19F10032-F71F-4E5C-ABDE-D25AFFCEA60D}"/>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31 / 84</a:t>
            </a:r>
          </a:p>
        </p:txBody>
      </p:sp>
      <p:sp>
        <p:nvSpPr>
          <p:cNvPr id="6" name="par-source">
            <a:extLst xmlns:a="http://schemas.openxmlformats.org/drawingml/2006/main">
              <a:ext uri="{FF2B5EF4-FFF2-40B4-BE49-F238E27FC236}">
                <a16:creationId xmlns:a16="http://schemas.microsoft.com/office/drawing/2014/main" id="{BD89391E-662C-445F-9CFD-E2CBC391BE17}"/>
              </a:ext>
            </a:extLst>
          </p:cNvPr>
          <p:cNvSpPr>
            <a:spLocks xmlns:a="http://schemas.openxmlformats.org/drawingml/2006/main" noGrp="1"/>
          </p:cNvSpPr>
          <p:nvPr/>
        </p:nvSpPr>
        <p:spPr>
          <a:xfrm xmlns:a="http://schemas.openxmlformats.org/drawingml/2006/main">
            <a:off x="819150" y="3190875"/>
            <a:ext cx="1714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9E2EC"/>
            </a:solidFill>
            <a:prstDash val="solid"/>
          </a:ln>
        </p:spPr>
      </p:sp>
      <p:sp>
        <p:nvSpPr>
          <p:cNvPr id="7" name="par-source-text">
            <a:extLst xmlns:a="http://schemas.openxmlformats.org/drawingml/2006/main">
              <a:ext uri="{FF2B5EF4-FFF2-40B4-BE49-F238E27FC236}">
                <a16:creationId xmlns:a16="http://schemas.microsoft.com/office/drawing/2014/main" id="{3D02F89F-4DEC-4D03-A457-DC3B11F2697C}"/>
              </a:ext>
            </a:extLst>
          </p:cNvPr>
          <p:cNvSpPr>
            <a:spLocks xmlns:a="http://schemas.openxmlformats.org/drawingml/2006/main" noGrp="1"/>
          </p:cNvSpPr>
          <p:nvPr/>
        </p:nvSpPr>
        <p:spPr>
          <a:xfrm xmlns:a="http://schemas.openxmlformats.org/drawingml/2006/main">
            <a:off x="952500" y="3305175"/>
            <a:ext cx="144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Scan / Join</a:t>
            </a:r>
          </a:p>
        </p:txBody>
      </p:sp>
      <p:sp>
        <p:nvSpPr>
          <p:cNvPr id="8" name="par-ex1">
            <a:extLst xmlns:a="http://schemas.openxmlformats.org/drawingml/2006/main">
              <a:ext uri="{FF2B5EF4-FFF2-40B4-BE49-F238E27FC236}">
                <a16:creationId xmlns:a16="http://schemas.microsoft.com/office/drawing/2014/main" id="{729911C2-384A-44A3-8359-798501FE2261}"/>
              </a:ext>
            </a:extLst>
          </p:cNvPr>
          <p:cNvSpPr>
            <a:spLocks xmlns:a="http://schemas.openxmlformats.org/drawingml/2006/main" noGrp="1"/>
          </p:cNvSpPr>
          <p:nvPr/>
        </p:nvSpPr>
        <p:spPr>
          <a:xfrm xmlns:a="http://schemas.openxmlformats.org/drawingml/2006/main">
            <a:off x="3238500" y="3000375"/>
            <a:ext cx="1714500" cy="1428750"/>
          </a:xfrm>
          <a:prstGeom xmlns:a="http://schemas.openxmlformats.org/drawingml/2006/main" prst="roundRect">
            <a:avLst>
              <a:gd name="adj" fmla="val 5333"/>
            </a:avLst>
          </a:prstGeom>
          <a:solidFill xmlns:a="http://schemas.openxmlformats.org/drawingml/2006/main">
            <a:srgbClr val="EAF4F4"/>
          </a:solidFill>
          <a:ln xmlns:a="http://schemas.openxmlformats.org/drawingml/2006/main" w="9525">
            <a:solidFill>
              <a:srgbClr val="D9E2EC"/>
            </a:solidFill>
            <a:prstDash val="solid"/>
          </a:ln>
        </p:spPr>
      </p:sp>
      <p:sp>
        <p:nvSpPr>
          <p:cNvPr id="9" name="par-ex1-text">
            <a:extLst xmlns:a="http://schemas.openxmlformats.org/drawingml/2006/main">
              <a:ext uri="{FF2B5EF4-FFF2-40B4-BE49-F238E27FC236}">
                <a16:creationId xmlns:a16="http://schemas.microsoft.com/office/drawing/2014/main" id="{85AE8BA3-6ABF-4E1E-B3B8-1521F8BA1D87}"/>
              </a:ext>
            </a:extLst>
          </p:cNvPr>
          <p:cNvSpPr>
            <a:spLocks xmlns:a="http://schemas.openxmlformats.org/drawingml/2006/main" noGrp="1"/>
          </p:cNvSpPr>
          <p:nvPr/>
        </p:nvSpPr>
        <p:spPr>
          <a:xfrm xmlns:a="http://schemas.openxmlformats.org/drawingml/2006/main">
            <a:off x="3371850" y="3114675"/>
            <a:ext cx="14478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Distribute</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Streams</a:t>
            </a:r>
          </a:p>
        </p:txBody>
      </p:sp>
      <p:sp>
        <p:nvSpPr>
          <p:cNvPr id="10" name="par-worker-0">
            <a:extLst xmlns:a="http://schemas.openxmlformats.org/drawingml/2006/main">
              <a:ext uri="{FF2B5EF4-FFF2-40B4-BE49-F238E27FC236}">
                <a16:creationId xmlns:a16="http://schemas.microsoft.com/office/drawing/2014/main" id="{EA53F6F4-54B5-4A91-83CE-157ADC33F3D3}"/>
              </a:ext>
            </a:extLst>
          </p:cNvPr>
          <p:cNvSpPr>
            <a:spLocks xmlns:a="http://schemas.openxmlformats.org/drawingml/2006/main" noGrp="1"/>
          </p:cNvSpPr>
          <p:nvPr/>
        </p:nvSpPr>
        <p:spPr>
          <a:xfrm xmlns:a="http://schemas.openxmlformats.org/drawingml/2006/main">
            <a:off x="5905500" y="2381250"/>
            <a:ext cx="1809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9E2EC"/>
            </a:solidFill>
            <a:prstDash val="solid"/>
          </a:ln>
        </p:spPr>
      </p:sp>
      <p:sp>
        <p:nvSpPr>
          <p:cNvPr id="11" name="par-worker-0-text">
            <a:extLst xmlns:a="http://schemas.openxmlformats.org/drawingml/2006/main">
              <a:ext uri="{FF2B5EF4-FFF2-40B4-BE49-F238E27FC236}">
                <a16:creationId xmlns:a16="http://schemas.microsoft.com/office/drawing/2014/main" id="{084D576E-3C32-4EA8-BAE4-1C198FC87761}"/>
              </a:ext>
            </a:extLst>
          </p:cNvPr>
          <p:cNvSpPr>
            <a:spLocks xmlns:a="http://schemas.openxmlformats.org/drawingml/2006/main" noGrp="1"/>
          </p:cNvSpPr>
          <p:nvPr/>
        </p:nvSpPr>
        <p:spPr>
          <a:xfrm xmlns:a="http://schemas.openxmlformats.org/drawingml/2006/main">
            <a:off x="6038850" y="2495550"/>
            <a:ext cx="1543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58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Worker 1</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weniger Rows</a:t>
            </a:r>
          </a:p>
        </p:txBody>
      </p:sp>
      <p:sp>
        <p:nvSpPr>
          <p:cNvPr id="12" name="par-worker-1">
            <a:extLst xmlns:a="http://schemas.openxmlformats.org/drawingml/2006/main">
              <a:ext uri="{FF2B5EF4-FFF2-40B4-BE49-F238E27FC236}">
                <a16:creationId xmlns:a16="http://schemas.microsoft.com/office/drawing/2014/main" id="{A874F2D4-4AAC-4BC1-A0A6-DAA5EEAACF3F}"/>
              </a:ext>
            </a:extLst>
          </p:cNvPr>
          <p:cNvSpPr>
            <a:spLocks xmlns:a="http://schemas.openxmlformats.org/drawingml/2006/main" noGrp="1"/>
          </p:cNvSpPr>
          <p:nvPr/>
        </p:nvSpPr>
        <p:spPr>
          <a:xfrm xmlns:a="http://schemas.openxmlformats.org/drawingml/2006/main">
            <a:off x="5905500" y="3190875"/>
            <a:ext cx="1809750" cy="685800"/>
          </a:xfrm>
          <a:prstGeom xmlns:a="http://schemas.openxmlformats.org/drawingml/2006/main" prst="roundRect">
            <a:avLst>
              <a:gd name="adj" fmla="val 11111"/>
            </a:avLst>
          </a:prstGeom>
          <a:solidFill xmlns:a="http://schemas.openxmlformats.org/drawingml/2006/main">
            <a:srgbClr val="FFF3E4"/>
          </a:solidFill>
          <a:ln xmlns:a="http://schemas.openxmlformats.org/drawingml/2006/main" w="9525">
            <a:solidFill>
              <a:srgbClr val="D9E2EC"/>
            </a:solidFill>
            <a:prstDash val="solid"/>
          </a:ln>
        </p:spPr>
      </p:sp>
      <p:sp>
        <p:nvSpPr>
          <p:cNvPr id="13" name="par-worker-1-text">
            <a:extLst xmlns:a="http://schemas.openxmlformats.org/drawingml/2006/main">
              <a:ext uri="{FF2B5EF4-FFF2-40B4-BE49-F238E27FC236}">
                <a16:creationId xmlns:a16="http://schemas.microsoft.com/office/drawing/2014/main" id="{323F099D-6A6B-4CDA-8D79-C0B3065627A3}"/>
              </a:ext>
            </a:extLst>
          </p:cNvPr>
          <p:cNvSpPr>
            <a:spLocks xmlns:a="http://schemas.openxmlformats.org/drawingml/2006/main" noGrp="1"/>
          </p:cNvSpPr>
          <p:nvPr/>
        </p:nvSpPr>
        <p:spPr>
          <a:xfrm xmlns:a="http://schemas.openxmlformats.org/drawingml/2006/main">
            <a:off x="6038850" y="3305175"/>
            <a:ext cx="1543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58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Worker 2</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mehr Rows</a:t>
            </a:r>
          </a:p>
        </p:txBody>
      </p:sp>
      <p:sp>
        <p:nvSpPr>
          <p:cNvPr id="14" name="par-worker-2">
            <a:extLst xmlns:a="http://schemas.openxmlformats.org/drawingml/2006/main">
              <a:ext uri="{FF2B5EF4-FFF2-40B4-BE49-F238E27FC236}">
                <a16:creationId xmlns:a16="http://schemas.microsoft.com/office/drawing/2014/main" id="{DD868463-8608-489B-B0E8-4B0996977318}"/>
              </a:ext>
            </a:extLst>
          </p:cNvPr>
          <p:cNvSpPr>
            <a:spLocks xmlns:a="http://schemas.openxmlformats.org/drawingml/2006/main" noGrp="1"/>
          </p:cNvSpPr>
          <p:nvPr/>
        </p:nvSpPr>
        <p:spPr>
          <a:xfrm xmlns:a="http://schemas.openxmlformats.org/drawingml/2006/main">
            <a:off x="5905500" y="4000500"/>
            <a:ext cx="1809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9E2EC"/>
            </a:solidFill>
            <a:prstDash val="solid"/>
          </a:ln>
        </p:spPr>
      </p:sp>
      <p:sp>
        <p:nvSpPr>
          <p:cNvPr id="15" name="par-worker-2-text">
            <a:extLst xmlns:a="http://schemas.openxmlformats.org/drawingml/2006/main">
              <a:ext uri="{FF2B5EF4-FFF2-40B4-BE49-F238E27FC236}">
                <a16:creationId xmlns:a16="http://schemas.microsoft.com/office/drawing/2014/main" id="{A691888E-C511-4B28-B99D-38BDB92CCB2E}"/>
              </a:ext>
            </a:extLst>
          </p:cNvPr>
          <p:cNvSpPr>
            <a:spLocks xmlns:a="http://schemas.openxmlformats.org/drawingml/2006/main" noGrp="1"/>
          </p:cNvSpPr>
          <p:nvPr/>
        </p:nvSpPr>
        <p:spPr>
          <a:xfrm xmlns:a="http://schemas.openxmlformats.org/drawingml/2006/main">
            <a:off x="6038850" y="4114800"/>
            <a:ext cx="1543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58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Worker 3</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weniger Rows</a:t>
            </a:r>
          </a:p>
        </p:txBody>
      </p:sp>
      <p:sp>
        <p:nvSpPr>
          <p:cNvPr id="16" name="par-ex2">
            <a:extLst xmlns:a="http://schemas.openxmlformats.org/drawingml/2006/main">
              <a:ext uri="{FF2B5EF4-FFF2-40B4-BE49-F238E27FC236}">
                <a16:creationId xmlns:a16="http://schemas.microsoft.com/office/drawing/2014/main" id="{5795CF89-D832-45C7-AEF3-7286CCA33758}"/>
              </a:ext>
            </a:extLst>
          </p:cNvPr>
          <p:cNvSpPr>
            <a:spLocks xmlns:a="http://schemas.openxmlformats.org/drawingml/2006/main" noGrp="1"/>
          </p:cNvSpPr>
          <p:nvPr/>
        </p:nvSpPr>
        <p:spPr>
          <a:xfrm xmlns:a="http://schemas.openxmlformats.org/drawingml/2006/main">
            <a:off x="8591550" y="3000375"/>
            <a:ext cx="1714500" cy="1428750"/>
          </a:xfrm>
          <a:prstGeom xmlns:a="http://schemas.openxmlformats.org/drawingml/2006/main" prst="roundRect">
            <a:avLst>
              <a:gd name="adj" fmla="val 5333"/>
            </a:avLst>
          </a:prstGeom>
          <a:solidFill xmlns:a="http://schemas.openxmlformats.org/drawingml/2006/main">
            <a:srgbClr val="EAF4F4"/>
          </a:solidFill>
          <a:ln xmlns:a="http://schemas.openxmlformats.org/drawingml/2006/main" w="9525">
            <a:solidFill>
              <a:srgbClr val="D9E2EC"/>
            </a:solidFill>
            <a:prstDash val="solid"/>
          </a:ln>
        </p:spPr>
      </p:sp>
      <p:sp>
        <p:nvSpPr>
          <p:cNvPr id="17" name="par-ex2-text">
            <a:extLst xmlns:a="http://schemas.openxmlformats.org/drawingml/2006/main">
              <a:ext uri="{FF2B5EF4-FFF2-40B4-BE49-F238E27FC236}">
                <a16:creationId xmlns:a16="http://schemas.microsoft.com/office/drawing/2014/main" id="{A1D36930-27F2-4E78-BAE4-E00FB6A57BBC}"/>
              </a:ext>
            </a:extLst>
          </p:cNvPr>
          <p:cNvSpPr>
            <a:spLocks xmlns:a="http://schemas.openxmlformats.org/drawingml/2006/main" noGrp="1"/>
          </p:cNvSpPr>
          <p:nvPr/>
        </p:nvSpPr>
        <p:spPr>
          <a:xfrm xmlns:a="http://schemas.openxmlformats.org/drawingml/2006/main">
            <a:off x="8724900" y="3114675"/>
            <a:ext cx="14478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Gather</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Streams</a:t>
            </a:r>
          </a:p>
        </p:txBody>
      </p:sp>
      <p:sp>
        <p:nvSpPr>
          <p:cNvPr id="18" name="par-result">
            <a:extLst xmlns:a="http://schemas.openxmlformats.org/drawingml/2006/main">
              <a:ext uri="{FF2B5EF4-FFF2-40B4-BE49-F238E27FC236}">
                <a16:creationId xmlns:a16="http://schemas.microsoft.com/office/drawing/2014/main" id="{70C78CD3-C229-460A-9181-26A9FA0B0BA2}"/>
              </a:ext>
            </a:extLst>
          </p:cNvPr>
          <p:cNvSpPr>
            <a:spLocks xmlns:a="http://schemas.openxmlformats.org/drawingml/2006/main" noGrp="1"/>
          </p:cNvSpPr>
          <p:nvPr/>
        </p:nvSpPr>
        <p:spPr>
          <a:xfrm xmlns:a="http://schemas.openxmlformats.org/drawingml/2006/main">
            <a:off x="10763250" y="3190875"/>
            <a:ext cx="952500" cy="1047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9E2EC"/>
            </a:solidFill>
            <a:prstDash val="solid"/>
          </a:ln>
        </p:spPr>
      </p:sp>
      <p:sp>
        <p:nvSpPr>
          <p:cNvPr id="19" name="par-result-text">
            <a:extLst xmlns:a="http://schemas.openxmlformats.org/drawingml/2006/main">
              <a:ext uri="{FF2B5EF4-FFF2-40B4-BE49-F238E27FC236}">
                <a16:creationId xmlns:a16="http://schemas.microsoft.com/office/drawing/2014/main" id="{B49E4FDD-4860-4E3F-8553-ACB2434D4CE9}"/>
              </a:ext>
            </a:extLst>
          </p:cNvPr>
          <p:cNvSpPr>
            <a:spLocks xmlns:a="http://schemas.openxmlformats.org/drawingml/2006/main" noGrp="1"/>
          </p:cNvSpPr>
          <p:nvPr/>
        </p:nvSpPr>
        <p:spPr>
          <a:xfrm xmlns:a="http://schemas.openxmlformats.org/drawingml/2006/main">
            <a:off x="10896600" y="3305175"/>
            <a:ext cx="685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Result</a:t>
            </a:r>
          </a:p>
        </p:txBody>
      </p:sp>
      <p:cxnSp>
        <p:nvCxnSpPr>
          <p:cNvPr id="48" name=""/>
          <p:cNvCxnSpPr>
            <a:stCxn xmlns:a="http://schemas.openxmlformats.org/drawingml/2006/main" id="6" idx="3"/>
            <a:endCxn xmlns:a="http://schemas.openxmlformats.org/drawingml/2006/main" id="8" idx="1"/>
          </p:cNvCxnSpPr>
          <p:nvPr/>
        </p:nvCxnSpPr>
        <p:spPr>
          <a:xfrm xmlns:a="http://schemas.openxmlformats.org/drawingml/2006/main">
            <a:off x="2533650" y="3714750"/>
            <a:ext cx="7048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49" name=""/>
          <p:cNvCxnSpPr>
            <a:stCxn xmlns:a="http://schemas.openxmlformats.org/drawingml/2006/main" id="8" idx="3"/>
            <a:endCxn xmlns:a="http://schemas.openxmlformats.org/drawingml/2006/main" id="10" idx="1"/>
          </p:cNvCxnSpPr>
          <p:nvPr/>
        </p:nvCxnSpPr>
        <p:spPr>
          <a:xfrm xmlns:a="http://schemas.openxmlformats.org/drawingml/2006/main" flipV="1">
            <a:off x="4953000" y="2724150"/>
            <a:ext cx="952500" cy="99060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50" name=""/>
          <p:cNvCxnSpPr>
            <a:stCxn xmlns:a="http://schemas.openxmlformats.org/drawingml/2006/main" id="10" idx="3"/>
            <a:endCxn xmlns:a="http://schemas.openxmlformats.org/drawingml/2006/main" id="16" idx="1"/>
          </p:cNvCxnSpPr>
          <p:nvPr/>
        </p:nvCxnSpPr>
        <p:spPr>
          <a:xfrm xmlns:a="http://schemas.openxmlformats.org/drawingml/2006/main">
            <a:off x="7715250" y="2724150"/>
            <a:ext cx="876300" cy="99060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51" name=""/>
          <p:cNvCxnSpPr>
            <a:stCxn xmlns:a="http://schemas.openxmlformats.org/drawingml/2006/main" id="8" idx="3"/>
            <a:endCxn xmlns:a="http://schemas.openxmlformats.org/drawingml/2006/main" id="12" idx="1"/>
          </p:cNvCxnSpPr>
          <p:nvPr/>
        </p:nvCxnSpPr>
        <p:spPr>
          <a:xfrm xmlns:a="http://schemas.openxmlformats.org/drawingml/2006/main" flipV="1">
            <a:off x="4953000" y="3533775"/>
            <a:ext cx="952500" cy="180975"/>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52" name=""/>
          <p:cNvCxnSpPr>
            <a:stCxn xmlns:a="http://schemas.openxmlformats.org/drawingml/2006/main" id="12" idx="3"/>
            <a:endCxn xmlns:a="http://schemas.openxmlformats.org/drawingml/2006/main" id="16" idx="1"/>
          </p:cNvCxnSpPr>
          <p:nvPr/>
        </p:nvCxnSpPr>
        <p:spPr>
          <a:xfrm xmlns:a="http://schemas.openxmlformats.org/drawingml/2006/main">
            <a:off x="7715250" y="3533775"/>
            <a:ext cx="876300" cy="180975"/>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53" name=""/>
          <p:cNvCxnSpPr>
            <a:stCxn xmlns:a="http://schemas.openxmlformats.org/drawingml/2006/main" id="8" idx="3"/>
            <a:endCxn xmlns:a="http://schemas.openxmlformats.org/drawingml/2006/main" id="14" idx="1"/>
          </p:cNvCxnSpPr>
          <p:nvPr/>
        </p:nvCxnSpPr>
        <p:spPr>
          <a:xfrm xmlns:a="http://schemas.openxmlformats.org/drawingml/2006/main">
            <a:off x="4953000" y="3714750"/>
            <a:ext cx="952500" cy="62865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54" name=""/>
          <p:cNvCxnSpPr>
            <a:stCxn xmlns:a="http://schemas.openxmlformats.org/drawingml/2006/main" id="14" idx="3"/>
            <a:endCxn xmlns:a="http://schemas.openxmlformats.org/drawingml/2006/main" id="16" idx="1"/>
          </p:cNvCxnSpPr>
          <p:nvPr/>
        </p:nvCxnSpPr>
        <p:spPr>
          <a:xfrm xmlns:a="http://schemas.openxmlformats.org/drawingml/2006/main" flipV="1">
            <a:off x="7715250" y="3714750"/>
            <a:ext cx="876300" cy="62865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55" name=""/>
          <p:cNvCxnSpPr>
            <a:stCxn xmlns:a="http://schemas.openxmlformats.org/drawingml/2006/main" id="16" idx="3"/>
            <a:endCxn xmlns:a="http://schemas.openxmlformats.org/drawingml/2006/main" id="18" idx="1"/>
          </p:cNvCxnSpPr>
          <p:nvPr/>
        </p:nvCxnSpPr>
        <p:spPr>
          <a:xfrm xmlns:a="http://schemas.openxmlformats.org/drawingml/2006/main">
            <a:off x="10306050" y="3714750"/>
            <a:ext cx="45720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28" name="par-caption">
            <a:extLst xmlns:a="http://schemas.openxmlformats.org/drawingml/2006/main">
              <a:ext uri="{FF2B5EF4-FFF2-40B4-BE49-F238E27FC236}">
                <a16:creationId xmlns:a16="http://schemas.microsoft.com/office/drawing/2014/main" id="{B1493785-CB6A-4931-8090-5A092E186D10}"/>
              </a:ext>
            </a:extLst>
          </p:cNvPr>
          <p:cNvSpPr>
            <a:spLocks xmlns:a="http://schemas.openxmlformats.org/drawingml/2006/main" noGrp="1"/>
          </p:cNvSpPr>
          <p:nvPr/>
        </p:nvSpPr>
        <p:spPr>
          <a:xfrm xmlns:a="http://schemas.openxmlformats.org/drawingml/2006/main">
            <a:off x="1828800" y="5219700"/>
            <a:ext cx="853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798"/>
          </a:bodyPr>
          <a:lstStyle xmlns:a="http://schemas.openxmlformats.org/drawingml/2006/main"/>
          <a:p xmlns:a="http://schemas.openxmlformats.org/drawingml/2006/main">
            <a:pPr algn="ctr">
              <a:lnSpc>
                <a:spcPct val="105000"/>
              </a:lnSpc>
              <a:buNone/>
              <a:defRPr sz="1800" b="1" i="0">
                <a:solidFill>
                  <a:srgbClr val="102A43"/>
                </a:solidFill>
                <a:latin typeface="Aptos"/>
                <a:ea typeface="Aptos"/>
                <a:cs typeface="Aptos"/>
              </a:defRPr>
            </a:pPr>
            <a:r>
              <a:rPr sz="1800" b="1" i="0">
                <a:solidFill>
                  <a:srgbClr val="102A43"/>
                </a:solidFill>
                <a:latin typeface="Aptos"/>
                <a:ea typeface="Aptos"/>
                <a:cs typeface="Aptos"/>
              </a:rPr>
              <a:t>Skew: der langsamste Worker bestimmt häufig die Laufzeit des parallelen Abschnitts.</a:t>
            </a:r>
          </a:p>
        </p:txBody>
      </p:sp>
    </p:spTree>
    <p:extLst>
      <p:ext uri="{BB962C8B-B14F-4D97-AF65-F5344CB8AC3E}">
        <p14:creationId xmlns:p14="http://schemas.microsoft.com/office/powerpoint/2010/main" val="1974281058"/>
      </p:ext>
    </p:extLst>
  </p:cSld>
</p:sld>
</file>

<file path=ppt/slides/slide3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6E222C32-400F-4971-8C74-D86BF514FA8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2A115889-E8BB-4AEC-B328-CE7B5A81FCF1}"/>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Plan Cache: Cache-Schlüssel und Invalidierung sind zu trennen</a:t>
            </a:r>
          </a:p>
        </p:txBody>
      </p:sp>
      <p:sp>
        <p:nvSpPr>
          <p:cNvPr id="3" name="title-rule">
            <a:extLst xmlns:a="http://schemas.openxmlformats.org/drawingml/2006/main">
              <a:ext uri="{FF2B5EF4-FFF2-40B4-BE49-F238E27FC236}">
                <a16:creationId xmlns:a16="http://schemas.microsoft.com/office/drawing/2014/main" id="{5DA8EF09-F184-43ED-80A1-A73EA45FBBE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64641B53-6C4B-442E-93A7-7F04717FF8F4}"/>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13EB24C4-C80B-49F8-BC9D-DF767792C6FA}"/>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32 / 84</a:t>
            </a:r>
          </a:p>
        </p:txBody>
      </p:sp>
      <p:sp>
        <p:nvSpPr>
          <p:cNvPr id="6" name="lead">
            <a:extLst xmlns:a="http://schemas.openxmlformats.org/drawingml/2006/main">
              <a:ext uri="{FF2B5EF4-FFF2-40B4-BE49-F238E27FC236}">
                <a16:creationId xmlns:a16="http://schemas.microsoft.com/office/drawing/2014/main" id="{63216E2B-3843-465A-8CDD-BAD4CC1DFE8E}"/>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50" b="1" i="0">
                <a:solidFill>
                  <a:srgbClr val="102A43"/>
                </a:solidFill>
                <a:latin typeface="Aptos"/>
                <a:ea typeface="Aptos"/>
                <a:cs typeface="Aptos"/>
              </a:defRPr>
            </a:pPr>
            <a:r>
              <a:rPr sz="2150" b="1" i="0">
                <a:solidFill>
                  <a:srgbClr val="102A43"/>
                </a:solidFill>
                <a:latin typeface="Aptos"/>
                <a:ea typeface="Aptos"/>
                <a:cs typeface="Aptos"/>
              </a:rPr>
              <a:t>Planwiederverwendung setzt einen passenden Cache-Schlüssel voraus. Abweichende SET-Optionen können zusätzliche Cacheeinträge erzeugen, ohne einen vorhandenen Plan zu invalidieren.</a:t>
            </a:r>
          </a:p>
        </p:txBody>
      </p:sp>
      <p:sp>
        <p:nvSpPr>
          <p:cNvPr id="7" name="lead-accent">
            <a:extLst xmlns:a="http://schemas.openxmlformats.org/drawingml/2006/main">
              <a:ext uri="{FF2B5EF4-FFF2-40B4-BE49-F238E27FC236}">
                <a16:creationId xmlns:a16="http://schemas.microsoft.com/office/drawing/2014/main" id="{D55FED95-F329-47E2-9090-74EB6E6241EF}"/>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8DB82BDF-36AD-437C-A1B3-ECCDBB76B248}"/>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Ad-hoc-Literalvielfalt kann viele Cacheeinträge und zusätzliche Compilations erzeugen</a:t>
            </a:r>
          </a:p>
          <a:p xmlns:a="http://schemas.openxmlformats.org/drawingml/2006/main">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Schema-, Index- oder verwendete Statistikänderungen können Recompile oder Invalidierung auslösen</a:t>
            </a:r>
          </a:p>
          <a:p xmlns:a="http://schemas.openxmlformats.org/drawingml/2006/main">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OPTION (RECOMPILE) erzeugt statementbezogen einen aktuellen Plan – mit Compile-Kosten</a:t>
            </a:r>
          </a:p>
          <a:p xmlns:a="http://schemas.openxmlformats.org/drawingml/2006/main">
            <a:pPr marL="24" indent="-14">
              <a:lnSpc>
                <a:spcPct val="112000"/>
              </a:lnSpc>
              <a:spcAft>
                <a:spcPts val="18"/>
              </a:spcAft>
              <a:buNone/>
              <a:defRPr sz="1650">
                <a:solidFill>
                  <a:srgbClr val="243B53"/>
                </a:solidFill>
                <a:latin typeface="Aptos"/>
                <a:ea typeface="Aptos"/>
                <a:cs typeface="Aptos"/>
              </a:defRPr>
            </a:pPr>
            <a:r>
              <a:rPr sz="1650">
                <a:solidFill>
                  <a:srgbClr val="243B53"/>
                </a:solidFill>
                <a:latin typeface="Aptos"/>
                <a:ea typeface="Aptos"/>
                <a:cs typeface="Aptos"/>
              </a:rPr>
              <a:t>Query Store hält Plan- und Laufzeithistorie über Cache-Eviction hinaus, wenn er aktiviert ist</a:t>
            </a:r>
          </a:p>
        </p:txBody>
      </p:sp>
    </p:spTree>
    <p:extLst>
      <p:ext uri="{BB962C8B-B14F-4D97-AF65-F5344CB8AC3E}">
        <p14:creationId xmlns:p14="http://schemas.microsoft.com/office/powerpoint/2010/main" val="1772861286"/>
      </p:ext>
    </p:extLst>
  </p:cSld>
</p:sld>
</file>

<file path=ppt/slides/slide3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BC05A4C2-8F94-494E-B2B0-99BD126B873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584F2807-853F-4DF3-8274-BB396F681F22}"/>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Parameter Sensitivity ist ein Verteilungsproblem, kein pauschaler Fehler</a:t>
            </a:r>
          </a:p>
        </p:txBody>
      </p:sp>
      <p:sp>
        <p:nvSpPr>
          <p:cNvPr id="3" name="title-rule">
            <a:extLst xmlns:a="http://schemas.openxmlformats.org/drawingml/2006/main">
              <a:ext uri="{FF2B5EF4-FFF2-40B4-BE49-F238E27FC236}">
                <a16:creationId xmlns:a16="http://schemas.microsoft.com/office/drawing/2014/main" id="{B825F200-5E27-4789-9EF5-509E08358E3D}"/>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97B4A0AA-DC28-4DF0-9F32-71DE6C85B2EC}"/>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B0CE807A-3717-4B0E-AABA-D8059286289E}"/>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33 / 84</a:t>
            </a:r>
          </a:p>
        </p:txBody>
      </p:sp>
      <p:sp>
        <p:nvSpPr>
          <p:cNvPr id="6" name="left-title">
            <a:extLst xmlns:a="http://schemas.openxmlformats.org/drawingml/2006/main">
              <a:ext uri="{FF2B5EF4-FFF2-40B4-BE49-F238E27FC236}">
                <a16:creationId xmlns:a16="http://schemas.microsoft.com/office/drawing/2014/main" id="{CCCA48D8-C0F4-4F0C-945E-26719EF7F0CC}"/>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Ein Plan passt</a:t>
            </a:r>
          </a:p>
        </p:txBody>
      </p:sp>
      <p:sp>
        <p:nvSpPr>
          <p:cNvPr id="7" name="right-title">
            <a:extLst xmlns:a="http://schemas.openxmlformats.org/drawingml/2006/main">
              <a:ext uri="{FF2B5EF4-FFF2-40B4-BE49-F238E27FC236}">
                <a16:creationId xmlns:a16="http://schemas.microsoft.com/office/drawing/2014/main" id="{16981B79-1267-4800-AB46-B48137A3ED32}"/>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Mehrere Strategien nötig</a:t>
            </a:r>
          </a:p>
        </p:txBody>
      </p:sp>
      <p:sp>
        <p:nvSpPr>
          <p:cNvPr id="8" name="middle-rule">
            <a:extLst xmlns:a="http://schemas.openxmlformats.org/drawingml/2006/main">
              <a:ext uri="{FF2B5EF4-FFF2-40B4-BE49-F238E27FC236}">
                <a16:creationId xmlns:a16="http://schemas.microsoft.com/office/drawing/2014/main" id="{3A59C1B1-1172-4C4C-B70D-2E0F8943D4FE}"/>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3BA1C45C-BE98-4811-961C-910D63E52E2D}"/>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ähnliche Selektivität</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stabile Zugriffskosten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repräsentativer Compile-Wert</a:t>
            </a:r>
          </a:p>
        </p:txBody>
      </p:sp>
      <p:sp>
        <p:nvSpPr>
          <p:cNvPr id="10" name="right-points">
            <a:extLst xmlns:a="http://schemas.openxmlformats.org/drawingml/2006/main">
              <a:ext uri="{FF2B5EF4-FFF2-40B4-BE49-F238E27FC236}">
                <a16:creationId xmlns:a16="http://schemas.microsoft.com/office/drawing/2014/main" id="{4702991C-27A0-46FA-B650-CB938F654A4A}"/>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stark ungleich verteilte Werte</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Seek plus Lookup versus Scan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unterschiedliche Grants oder Joins</a:t>
            </a:r>
          </a:p>
        </p:txBody>
      </p:sp>
      <p:sp>
        <p:nvSpPr>
          <p:cNvPr id="11" name="conclusion-bg">
            <a:extLst xmlns:a="http://schemas.openxmlformats.org/drawingml/2006/main">
              <a:ext uri="{FF2B5EF4-FFF2-40B4-BE49-F238E27FC236}">
                <a16:creationId xmlns:a16="http://schemas.microsoft.com/office/drawing/2014/main" id="{BFBF920E-F360-415B-AB35-7C9263B07836}"/>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B120A7AE-24A8-40DC-8FDA-F193BBF18095}"/>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Mitigations reichen von Querydesign bis PSP – jeweils versionsabhängig.</a:t>
            </a:r>
          </a:p>
        </p:txBody>
      </p:sp>
    </p:spTree>
    <p:extLst>
      <p:ext uri="{BB962C8B-B14F-4D97-AF65-F5344CB8AC3E}">
        <p14:creationId xmlns:p14="http://schemas.microsoft.com/office/powerpoint/2010/main" val="1241126059"/>
      </p:ext>
    </p:extLst>
  </p:cSld>
</p:sld>
</file>

<file path=ppt/slides/slide3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DD7BF00F-BDE4-42DD-AF68-9A561F23F9B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2 · QUERY PROCESSING</a:t>
            </a:r>
          </a:p>
        </p:txBody>
      </p:sp>
      <p:sp>
        <p:nvSpPr>
          <p:cNvPr id="2" name="slide-title">
            <a:extLst xmlns:a="http://schemas.openxmlformats.org/drawingml/2006/main">
              <a:ext uri="{FF2B5EF4-FFF2-40B4-BE49-F238E27FC236}">
                <a16:creationId xmlns:a16="http://schemas.microsoft.com/office/drawing/2014/main" id="{74B6740B-140E-4777-A499-130908D4B421}"/>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Intelligent Query Processing erweitert den Werkzeugkasten stufenweise</a:t>
            </a:r>
          </a:p>
        </p:txBody>
      </p:sp>
      <p:sp>
        <p:nvSpPr>
          <p:cNvPr id="3" name="title-rule">
            <a:extLst xmlns:a="http://schemas.openxmlformats.org/drawingml/2006/main">
              <a:ext uri="{FF2B5EF4-FFF2-40B4-BE49-F238E27FC236}">
                <a16:creationId xmlns:a16="http://schemas.microsoft.com/office/drawing/2014/main" id="{3A65B89E-0338-4EFD-AAE5-2647B681B37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E38F2C4C-C0E3-4FE9-B695-11C75DEADDDB}"/>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4024DA0A-95D8-41F9-A9BC-3C8073389AF7}"/>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34 / 84</a:t>
            </a:r>
          </a:p>
        </p:txBody>
      </p:sp>
      <p:graphicFrame>
        <p:nvGraphicFramePr>
          <p:cNvPr id="12" name=""/>
          <p:cNvGraphicFramePr/>
          <p:nvPr/>
        </p:nvGraphicFramePr>
        <p:xfrm>
          <a:off xmlns:a="http://schemas.openxmlformats.org/drawingml/2006/main" x="609600" y="2171700"/>
          <a:ext xmlns:a="http://schemas.openxmlformats.org/drawingml/2006/main" cx="10668000" cy="2819400"/>
        </p:xfrm>
        <a:graphic xmlns:a="http://schemas.openxmlformats.org/drawingml/2006/main">
          <a:graphicData uri="http://schemas.openxmlformats.org/drawingml/2006/table">
            <a:tbl>
              <a:tblPr firstRow="1" bandRow="1"/>
              <a:tblGrid>
                <a:gridCol w="2800350"/>
                <a:gridCol w="3867150"/>
                <a:gridCol w="4000500"/>
              </a:tblGrid>
              <a:tr h="704850">
                <a:tc>
                  <a:txBody>
                    <a:bodyPr/>
                    <a:lstStyle/>
                    <a:p>
                      <a:r>
                        <a:rPr sz="1400" b="1">
                          <a:solidFill>
                            <a:srgbClr val="FFFFFF"/>
                          </a:solidFill>
                          <a:latin typeface="Aptos"/>
                          <a:ea typeface="Aptos"/>
                          <a:cs typeface="Aptos"/>
                        </a:rPr>
                        <a:t>Version / CL</a:t>
                      </a:r>
                    </a:p>
                  </a:txBody>
                  <a:tcPr marL="91440" marR="91440" marT="45720" marB="45720">
                    <a:solidFill>
                      <a:srgbClr val="0B1F33"/>
                    </a:solidFill>
                  </a:tcPr>
                </a:tc>
                <a:tc>
                  <a:txBody>
                    <a:bodyPr/>
                    <a:lstStyle/>
                    <a:p>
                      <a:r>
                        <a:rPr sz="1400" b="1">
                          <a:solidFill>
                            <a:srgbClr val="FFFFFF"/>
                          </a:solidFill>
                          <a:latin typeface="Aptos"/>
                          <a:ea typeface="Aptos"/>
                          <a:cs typeface="Aptos"/>
                        </a:rPr>
                        <a:t>Beispiele</a:t>
                      </a:r>
                    </a:p>
                  </a:txBody>
                  <a:tcPr marL="91440" marR="91440" marT="45720" marB="45720">
                    <a:solidFill>
                      <a:srgbClr val="0B1F33"/>
                    </a:solidFill>
                  </a:tcPr>
                </a:tc>
                <a:tc>
                  <a:txBody>
                    <a:bodyPr/>
                    <a:lstStyle/>
                    <a:p>
                      <a:r>
                        <a:rPr sz="1400" b="1">
                          <a:solidFill>
                            <a:srgbClr val="FFFFFF"/>
                          </a:solidFill>
                          <a:latin typeface="Aptos"/>
                          <a:ea typeface="Aptos"/>
                          <a:cs typeface="Aptos"/>
                        </a:rPr>
                        <a:t>zusätzliche Voraussetzungen</a:t>
                      </a:r>
                    </a:p>
                  </a:txBody>
                  <a:tcPr marL="91440" marR="91440" marT="45720" marB="45720">
                    <a:solidFill>
                      <a:srgbClr val="0B1F33"/>
                    </a:solidFill>
                  </a:tcPr>
                </a:tc>
              </a:tr>
              <a:tr h="704850">
                <a:tc>
                  <a:txBody>
                    <a:bodyPr>
                      <a:normAutofit/>
                    </a:bodyPr>
                    <a:lstStyle/>
                    <a:p>
                      <a:r>
                        <a:rPr sz="1200">
                          <a:solidFill>
                            <a:srgbClr val="243B53"/>
                          </a:solidFill>
                          <a:latin typeface="Aptos"/>
                          <a:ea typeface="Aptos"/>
                          <a:cs typeface="Aptos"/>
                        </a:rPr>
                        <a:t>2019 / CL 150</a:t>
                      </a:r>
                    </a:p>
                  </a:txBody>
                  <a:tcPr marL="91440" marR="91440" marT="45720" marB="45720">
                    <a:solidFill>
                      <a:srgbClr val="FFFFFF"/>
                    </a:solidFill>
                  </a:tcPr>
                </a:tc>
                <a:tc>
                  <a:txBody>
                    <a:bodyPr>
                      <a:normAutofit/>
                    </a:bodyPr>
                    <a:lstStyle/>
                    <a:p>
                      <a:r>
                        <a:rPr sz="1200">
                          <a:solidFill>
                            <a:srgbClr val="243B53"/>
                          </a:solidFill>
                          <a:latin typeface="Aptos"/>
                          <a:ea typeface="Aptos"/>
                          <a:cs typeface="Aptos"/>
                        </a:rPr>
                        <a:t>Batch Mode on Rowstore; Scalar UDF Inlining; Table Variable Deferred Compilation; Row-Mode-MGF</a:t>
                      </a:r>
                    </a:p>
                  </a:txBody>
                  <a:tcPr marL="91440" marR="91440" marT="45720" marB="45720">
                    <a:solidFill>
                      <a:srgbClr val="FFFFFF"/>
                    </a:solidFill>
                  </a:tcPr>
                </a:tc>
                <a:tc>
                  <a:txBody>
                    <a:bodyPr>
                      <a:normAutofit/>
                    </a:bodyPr>
                    <a:lstStyle/>
                    <a:p>
                      <a:r>
                        <a:rPr sz="1200">
                          <a:solidFill>
                            <a:srgbClr val="243B53"/>
                          </a:solidFill>
                          <a:latin typeface="Aptos"/>
                          <a:ea typeface="Aptos"/>
                          <a:cs typeface="Aptos"/>
                        </a:rPr>
                        <a:t>Query-/Feature-Eligibility; DB-scoped Configs</a:t>
                      </a:r>
                    </a:p>
                  </a:txBody>
                  <a:tcPr marL="91440" marR="91440" marT="45720" marB="45720">
                    <a:solidFill>
                      <a:srgbClr val="FFFFFF"/>
                    </a:solidFill>
                  </a:tcPr>
                </a:tc>
              </a:tr>
              <a:tr h="704850">
                <a:tc>
                  <a:txBody>
                    <a:bodyPr>
                      <a:normAutofit/>
                    </a:bodyPr>
                    <a:lstStyle/>
                    <a:p>
                      <a:r>
                        <a:rPr sz="1200">
                          <a:solidFill>
                            <a:srgbClr val="243B53"/>
                          </a:solidFill>
                          <a:latin typeface="Aptos"/>
                          <a:ea typeface="Aptos"/>
                          <a:cs typeface="Aptos"/>
                        </a:rPr>
                        <a:t>2022 / CL 140–160</a:t>
                      </a:r>
                    </a:p>
                  </a:txBody>
                  <a:tcPr marL="91440" marR="91440" marT="45720" marB="45720">
                    <a:solidFill>
                      <a:srgbClr val="EDF2F7"/>
                    </a:solidFill>
                  </a:tcPr>
                </a:tc>
                <a:tc>
                  <a:txBody>
                    <a:bodyPr>
                      <a:normAutofit/>
                    </a:bodyPr>
                    <a:lstStyle/>
                    <a:p>
                      <a:r>
                        <a:rPr sz="1200">
                          <a:solidFill>
                            <a:srgbClr val="243B53"/>
                          </a:solidFill>
                          <a:latin typeface="Aptos"/>
                          <a:ea typeface="Aptos"/>
                          <a:cs typeface="Aptos"/>
                        </a:rPr>
                        <a:t>CL 140: MGF-Persistenz/Perzentil; CL 160: PSP, CE- und DOP-Feedback</a:t>
                      </a:r>
                    </a:p>
                  </a:txBody>
                  <a:tcPr marL="91440" marR="91440" marT="45720" marB="45720">
                    <a:solidFill>
                      <a:srgbClr val="EDF2F7"/>
                    </a:solidFill>
                  </a:tcPr>
                </a:tc>
                <a:tc>
                  <a:txBody>
                    <a:bodyPr>
                      <a:normAutofit/>
                    </a:bodyPr>
                    <a:lstStyle/>
                    <a:p>
                      <a:r>
                        <a:rPr sz="1200">
                          <a:solidFill>
                            <a:srgbClr val="243B53"/>
                          </a:solidFill>
                          <a:latin typeface="Aptos"/>
                          <a:ea typeface="Aptos"/>
                          <a:cs typeface="Aptos"/>
                        </a:rPr>
                        <a:t>Query Store READ_WRITE für Feedback und Persistenz</a:t>
                      </a:r>
                    </a:p>
                  </a:txBody>
                  <a:tcPr marL="91440" marR="91440" marT="45720" marB="45720">
                    <a:solidFill>
                      <a:srgbClr val="EDF2F7"/>
                    </a:solidFill>
                  </a:tcPr>
                </a:tc>
              </a:tr>
              <a:tr h="704850">
                <a:tc>
                  <a:txBody>
                    <a:bodyPr>
                      <a:normAutofit/>
                    </a:bodyPr>
                    <a:lstStyle/>
                    <a:p>
                      <a:r>
                        <a:rPr sz="1200">
                          <a:solidFill>
                            <a:srgbClr val="243B53"/>
                          </a:solidFill>
                          <a:latin typeface="Aptos"/>
                          <a:ea typeface="Aptos"/>
                          <a:cs typeface="Aptos"/>
                        </a:rPr>
                        <a:t>2025 / CL 160–170</a:t>
                      </a:r>
                    </a:p>
                  </a:txBody>
                  <a:tcPr marL="91440" marR="91440" marT="45720" marB="45720">
                    <a:solidFill>
                      <a:srgbClr val="FFFFFF"/>
                    </a:solidFill>
                  </a:tcPr>
                </a:tc>
                <a:tc>
                  <a:txBody>
                    <a:bodyPr>
                      <a:normAutofit/>
                    </a:bodyPr>
                    <a:lstStyle/>
                    <a:p>
                      <a:r>
                        <a:rPr sz="1200">
                          <a:solidFill>
                            <a:srgbClr val="243B53"/>
                          </a:solidFill>
                          <a:latin typeface="Aptos"/>
                          <a:ea typeface="Aptos"/>
                          <a:cs typeface="Aptos"/>
                        </a:rPr>
                        <a:t>CL 160: CE-Feedback für Ausdrücke; CL 170: OPPO</a:t>
                      </a:r>
                    </a:p>
                  </a:txBody>
                  <a:tcPr marL="91440" marR="91440" marT="45720" marB="45720">
                    <a:solidFill>
                      <a:srgbClr val="FFFFFF"/>
                    </a:solidFill>
                  </a:tcPr>
                </a:tc>
                <a:tc>
                  <a:txBody>
                    <a:bodyPr>
                      <a:normAutofit/>
                    </a:bodyPr>
                    <a:lstStyle/>
                    <a:p>
                      <a:r>
                        <a:rPr sz="1200">
                          <a:solidFill>
                            <a:srgbClr val="243B53"/>
                          </a:solidFill>
                          <a:latin typeface="Aptos"/>
                          <a:ea typeface="Aptos"/>
                          <a:cs typeface="Aptos"/>
                        </a:rPr>
                        <a:t>OPPO-Konfiguration ON; Eligibility je Query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52912073"/>
      </p:ext>
    </p:extLst>
  </p:cSld>
</p:sld>
</file>

<file path=ppt/slides/slide35.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module">
            <a:extLst xmlns:a="http://schemas.openxmlformats.org/drawingml/2006/main">
              <a:ext uri="{FF2B5EF4-FFF2-40B4-BE49-F238E27FC236}">
                <a16:creationId xmlns:a16="http://schemas.microsoft.com/office/drawing/2014/main" id="{08653666-71E5-4CE0-8812-ED55439045EB}"/>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2 · WISSENSKONTROLLE</a:t>
            </a:r>
          </a:p>
        </p:txBody>
      </p:sp>
      <p:sp>
        <p:nvSpPr>
          <p:cNvPr id="2" name="question">
            <a:extLst xmlns:a="http://schemas.openxmlformats.org/drawingml/2006/main">
              <a:ext uri="{FF2B5EF4-FFF2-40B4-BE49-F238E27FC236}">
                <a16:creationId xmlns:a16="http://schemas.microsoft.com/office/drawing/2014/main" id="{30566BED-1815-4A8F-80AD-156D8FC6BF32}"/>
              </a:ext>
            </a:extLst>
          </p:cNvPr>
          <p:cNvSpPr>
            <a:spLocks xmlns:a="http://schemas.openxmlformats.org/drawingml/2006/main" noGrp="1"/>
          </p:cNvSpPr>
          <p:nvPr/>
        </p:nvSpPr>
        <p:spPr>
          <a:xfrm xmlns:a="http://schemas.openxmlformats.org/drawingml/2006/main">
            <a:off x="609600" y="1219200"/>
            <a:ext cx="990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Eine Hash-Join-Abfrage spillt: Welche Hypothese wird zuerst geprüft?</a:t>
            </a:r>
          </a:p>
        </p:txBody>
      </p:sp>
      <p:sp>
        <p:nvSpPr>
          <p:cNvPr id="3" name="question-rule">
            <a:extLst xmlns:a="http://schemas.openxmlformats.org/drawingml/2006/main">
              <a:ext uri="{FF2B5EF4-FFF2-40B4-BE49-F238E27FC236}">
                <a16:creationId xmlns:a16="http://schemas.microsoft.com/office/drawing/2014/main" id="{88361225-A8E7-43F6-8B8B-CB66A392FE50}"/>
              </a:ext>
            </a:extLst>
          </p:cNvPr>
          <p:cNvSpPr>
            <a:spLocks xmlns:a="http://schemas.openxmlformats.org/drawingml/2006/main" noGrp="1"/>
          </p:cNvSpPr>
          <p:nvPr/>
        </p:nvSpPr>
        <p:spPr>
          <a:xfrm xmlns:a="http://schemas.openxmlformats.org/drawingml/2006/main">
            <a:off x="609600" y="3048000"/>
            <a:ext cx="106680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4" name="prompt-num-0">
            <a:extLst xmlns:a="http://schemas.openxmlformats.org/drawingml/2006/main">
              <a:ext uri="{FF2B5EF4-FFF2-40B4-BE49-F238E27FC236}">
                <a16:creationId xmlns:a16="http://schemas.microsoft.com/office/drawing/2014/main" id="{AC1F9EDE-BF18-4206-9E8B-5FA70BAE4DA3}"/>
              </a:ext>
            </a:extLst>
          </p:cNvPr>
          <p:cNvSpPr>
            <a:spLocks xmlns:a="http://schemas.openxmlformats.org/drawingml/2006/main" noGrp="1"/>
          </p:cNvSpPr>
          <p:nvPr/>
        </p:nvSpPr>
        <p:spPr>
          <a:xfrm xmlns:a="http://schemas.openxmlformats.org/drawingml/2006/main">
            <a:off x="66675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xmlns:a="http://schemas.openxmlformats.org/drawingml/2006/main">
              <a:ext uri="{FF2B5EF4-FFF2-40B4-BE49-F238E27FC236}">
                <a16:creationId xmlns:a16="http://schemas.microsoft.com/office/drawing/2014/main" id="{E65AE3B8-97E8-4D6E-B261-547B632BADEA}"/>
              </a:ext>
            </a:extLst>
          </p:cNvPr>
          <p:cNvSpPr>
            <a:spLocks xmlns:a="http://schemas.openxmlformats.org/drawingml/2006/main" noGrp="1"/>
          </p:cNvSpPr>
          <p:nvPr/>
        </p:nvSpPr>
        <p:spPr>
          <a:xfrm xmlns:a="http://schemas.openxmlformats.org/drawingml/2006/main">
            <a:off x="125730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Estimated versus Actual Rows</a:t>
            </a:r>
          </a:p>
        </p:txBody>
      </p:sp>
      <p:sp>
        <p:nvSpPr>
          <p:cNvPr id="6" name="prompt-num-1">
            <a:extLst xmlns:a="http://schemas.openxmlformats.org/drawingml/2006/main">
              <a:ext uri="{FF2B5EF4-FFF2-40B4-BE49-F238E27FC236}">
                <a16:creationId xmlns:a16="http://schemas.microsoft.com/office/drawing/2014/main" id="{994D3DE5-AB53-410E-957E-72CD2B71613C}"/>
              </a:ext>
            </a:extLst>
          </p:cNvPr>
          <p:cNvSpPr>
            <a:spLocks xmlns:a="http://schemas.openxmlformats.org/drawingml/2006/main" noGrp="1"/>
          </p:cNvSpPr>
          <p:nvPr/>
        </p:nvSpPr>
        <p:spPr>
          <a:xfrm xmlns:a="http://schemas.openxmlformats.org/drawingml/2006/main">
            <a:off x="609600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xmlns:a="http://schemas.openxmlformats.org/drawingml/2006/main">
              <a:ext uri="{FF2B5EF4-FFF2-40B4-BE49-F238E27FC236}">
                <a16:creationId xmlns:a16="http://schemas.microsoft.com/office/drawing/2014/main" id="{08456757-9840-4F84-8579-4D6F4EFA007C}"/>
              </a:ext>
            </a:extLst>
          </p:cNvPr>
          <p:cNvSpPr>
            <a:spLocks xmlns:a="http://schemas.openxmlformats.org/drawingml/2006/main" noGrp="1"/>
          </p:cNvSpPr>
          <p:nvPr/>
        </p:nvSpPr>
        <p:spPr>
          <a:xfrm xmlns:a="http://schemas.openxmlformats.org/drawingml/2006/main">
            <a:off x="668655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Requested, Granted und Used Memory</a:t>
            </a:r>
          </a:p>
        </p:txBody>
      </p:sp>
      <p:sp>
        <p:nvSpPr>
          <p:cNvPr id="8" name="prompt-num-2">
            <a:extLst xmlns:a="http://schemas.openxmlformats.org/drawingml/2006/main">
              <a:ext uri="{FF2B5EF4-FFF2-40B4-BE49-F238E27FC236}">
                <a16:creationId xmlns:a16="http://schemas.microsoft.com/office/drawing/2014/main" id="{5261AE5F-4BBC-4DCA-83D3-1316A3C94CCB}"/>
              </a:ext>
            </a:extLst>
          </p:cNvPr>
          <p:cNvSpPr>
            <a:spLocks xmlns:a="http://schemas.openxmlformats.org/drawingml/2006/main" noGrp="1"/>
          </p:cNvSpPr>
          <p:nvPr/>
        </p:nvSpPr>
        <p:spPr>
          <a:xfrm xmlns:a="http://schemas.openxmlformats.org/drawingml/2006/main">
            <a:off x="66675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xmlns:a="http://schemas.openxmlformats.org/drawingml/2006/main">
              <a:ext uri="{FF2B5EF4-FFF2-40B4-BE49-F238E27FC236}">
                <a16:creationId xmlns:a16="http://schemas.microsoft.com/office/drawing/2014/main" id="{A41BD706-2F62-40BA-A644-8833FDE17256}"/>
              </a:ext>
            </a:extLst>
          </p:cNvPr>
          <p:cNvSpPr>
            <a:spLocks xmlns:a="http://schemas.openxmlformats.org/drawingml/2006/main" noGrp="1"/>
          </p:cNvSpPr>
          <p:nvPr/>
        </p:nvSpPr>
        <p:spPr>
          <a:xfrm xmlns:a="http://schemas.openxmlformats.org/drawingml/2006/main">
            <a:off x="125730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konkurrierende Grants</a:t>
            </a:r>
          </a:p>
        </p:txBody>
      </p:sp>
      <p:sp>
        <p:nvSpPr>
          <p:cNvPr id="10" name="prompt-num-3">
            <a:extLst xmlns:a="http://schemas.openxmlformats.org/drawingml/2006/main">
              <a:ext uri="{FF2B5EF4-FFF2-40B4-BE49-F238E27FC236}">
                <a16:creationId xmlns:a16="http://schemas.microsoft.com/office/drawing/2014/main" id="{7D6068E1-F7C3-4009-9ED4-7698546D50A5}"/>
              </a:ext>
            </a:extLst>
          </p:cNvPr>
          <p:cNvSpPr>
            <a:spLocks xmlns:a="http://schemas.openxmlformats.org/drawingml/2006/main" noGrp="1"/>
          </p:cNvSpPr>
          <p:nvPr/>
        </p:nvSpPr>
        <p:spPr>
          <a:xfrm xmlns:a="http://schemas.openxmlformats.org/drawingml/2006/main">
            <a:off x="609600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xmlns:a="http://schemas.openxmlformats.org/drawingml/2006/main">
              <a:ext uri="{FF2B5EF4-FFF2-40B4-BE49-F238E27FC236}">
                <a16:creationId xmlns:a16="http://schemas.microsoft.com/office/drawing/2014/main" id="{40DDD7AD-EDDC-4C41-8D4F-78E14F6CEBEA}"/>
              </a:ext>
            </a:extLst>
          </p:cNvPr>
          <p:cNvSpPr>
            <a:spLocks xmlns:a="http://schemas.openxmlformats.org/drawingml/2006/main" noGrp="1"/>
          </p:cNvSpPr>
          <p:nvPr/>
        </p:nvSpPr>
        <p:spPr>
          <a:xfrm xmlns:a="http://schemas.openxmlformats.org/drawingml/2006/main">
            <a:off x="668655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Row Width und TempDB-I/O</a:t>
            </a:r>
          </a:p>
        </p:txBody>
      </p:sp>
      <p:sp>
        <p:nvSpPr>
          <p:cNvPr id="12" name="question-footer">
            <a:extLst xmlns:a="http://schemas.openxmlformats.org/drawingml/2006/main">
              <a:ext uri="{FF2B5EF4-FFF2-40B4-BE49-F238E27FC236}">
                <a16:creationId xmlns:a16="http://schemas.microsoft.com/office/drawing/2014/main" id="{214E1337-7CE2-467A-AE0B-C1ADECC125B3}"/>
              </a:ext>
            </a:extLst>
          </p:cNvPr>
          <p:cNvSpPr>
            <a:spLocks xmlns:a="http://schemas.openxmlformats.org/drawingml/2006/main" noGrp="1"/>
          </p:cNvSpPr>
          <p:nvPr/>
        </p:nvSpPr>
        <p:spPr>
          <a:xfrm xmlns:a="http://schemas.openxmlformats.org/drawingml/2006/main">
            <a:off x="10287000" y="64389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35 / 84</a:t>
            </a:r>
          </a:p>
        </p:txBody>
      </p:sp>
    </p:spTree>
    <p:extLst>
      <p:ext uri="{BB962C8B-B14F-4D97-AF65-F5344CB8AC3E}">
        <p14:creationId xmlns:p14="http://schemas.microsoft.com/office/powerpoint/2010/main" val="1300978304"/>
      </p:ext>
    </p:extLst>
  </p:cSld>
</p:sld>
</file>

<file path=ppt/slides/slide36.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section-number">
            <a:extLst xmlns:a="http://schemas.openxmlformats.org/drawingml/2006/main">
              <a:ext uri="{FF2B5EF4-FFF2-40B4-BE49-F238E27FC236}">
                <a16:creationId xmlns:a16="http://schemas.microsoft.com/office/drawing/2014/main" id="{39C4A880-5ED6-40A8-B350-B31CCBA60975}"/>
              </a:ext>
            </a:extLst>
          </p:cNvPr>
          <p:cNvSpPr>
            <a:spLocks xmlns:a="http://schemas.openxmlformats.org/drawingml/2006/main" noGrp="1"/>
          </p:cNvSpPr>
          <p:nvPr/>
        </p:nvSpPr>
        <p:spPr>
          <a:xfrm xmlns:a="http://schemas.openxmlformats.org/drawingml/2006/main">
            <a:off x="628650" y="60960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03</a:t>
            </a:r>
          </a:p>
        </p:txBody>
      </p:sp>
      <p:sp>
        <p:nvSpPr>
          <p:cNvPr id="2" name="section-rule">
            <a:extLst xmlns:a="http://schemas.openxmlformats.org/drawingml/2006/main">
              <a:ext uri="{FF2B5EF4-FFF2-40B4-BE49-F238E27FC236}">
                <a16:creationId xmlns:a16="http://schemas.microsoft.com/office/drawing/2014/main" id="{44940723-1C2C-430D-B094-A0C2147AC055}"/>
              </a:ext>
            </a:extLst>
          </p:cNvPr>
          <p:cNvSpPr>
            <a:spLocks xmlns:a="http://schemas.openxmlformats.org/drawingml/2006/main" noGrp="1"/>
          </p:cNvSpPr>
          <p:nvPr/>
        </p:nvSpPr>
        <p:spPr>
          <a:xfrm xmlns:a="http://schemas.openxmlformats.org/drawingml/2006/main">
            <a:off x="628650" y="2228850"/>
            <a:ext cx="109347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3" name="section-title">
            <a:extLst xmlns:a="http://schemas.openxmlformats.org/drawingml/2006/main">
              <a:ext uri="{FF2B5EF4-FFF2-40B4-BE49-F238E27FC236}">
                <a16:creationId xmlns:a16="http://schemas.microsoft.com/office/drawing/2014/main" id="{B24C2822-C929-4C49-9C9C-38037C730A86}"/>
              </a:ext>
            </a:extLst>
          </p:cNvPr>
          <p:cNvSpPr>
            <a:spLocks xmlns:a="http://schemas.openxmlformats.org/drawingml/2006/main" noGrp="1"/>
          </p:cNvSpPr>
          <p:nvPr/>
        </p:nvSpPr>
        <p:spPr>
          <a:xfrm xmlns:a="http://schemas.openxmlformats.org/drawingml/2006/main">
            <a:off x="628650" y="27051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Query Patterns</a:t>
            </a:r>
          </a:p>
        </p:txBody>
      </p:sp>
      <p:sp>
        <p:nvSpPr>
          <p:cNvPr id="4" name="section-subtitle">
            <a:extLst xmlns:a="http://schemas.openxmlformats.org/drawingml/2006/main">
              <a:ext uri="{FF2B5EF4-FFF2-40B4-BE49-F238E27FC236}">
                <a16:creationId xmlns:a16="http://schemas.microsoft.com/office/drawing/2014/main" id="{0B7FE5A0-7CC0-4E71-ACA7-08C1EB16A4C6}"/>
              </a:ext>
            </a:extLst>
          </p:cNvPr>
          <p:cNvSpPr>
            <a:spLocks xmlns:a="http://schemas.openxmlformats.org/drawingml/2006/main" noGrp="1"/>
          </p:cNvSpPr>
          <p:nvPr/>
        </p:nvSpPr>
        <p:spPr>
          <a:xfrm xmlns:a="http://schemas.openxmlformats.org/drawingml/2006/main">
            <a:off x="628650" y="400050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Wie erweitert oder begrenzt T-SQL die möglichen Zugriffspfade?</a:t>
            </a:r>
          </a:p>
        </p:txBody>
      </p:sp>
      <p:sp>
        <p:nvSpPr>
          <p:cNvPr id="5" name="section-footer">
            <a:extLst xmlns:a="http://schemas.openxmlformats.org/drawingml/2006/main">
              <a:ext uri="{FF2B5EF4-FFF2-40B4-BE49-F238E27FC236}">
                <a16:creationId xmlns:a16="http://schemas.microsoft.com/office/drawing/2014/main" id="{DCFA4FD3-8C9B-44B3-AE3F-5A66A6D7C8B7}"/>
              </a:ext>
            </a:extLst>
          </p:cNvPr>
          <p:cNvSpPr>
            <a:spLocks xmlns:a="http://schemas.openxmlformats.org/drawingml/2006/main" noGrp="1"/>
          </p:cNvSpPr>
          <p:nvPr/>
        </p:nvSpPr>
        <p:spPr>
          <a:xfrm xmlns:a="http://schemas.openxmlformats.org/drawingml/2006/main">
            <a:off x="628650" y="64198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661615708"/>
      </p:ext>
    </p:extLst>
  </p:cSld>
</p:sld>
</file>

<file path=ppt/slides/slide3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DB634BA2-04FF-48AA-9E4D-069E15371A5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xmlns:a="http://schemas.openxmlformats.org/drawingml/2006/main">
              <a:ext uri="{FF2B5EF4-FFF2-40B4-BE49-F238E27FC236}">
                <a16:creationId xmlns:a16="http://schemas.microsoft.com/office/drawing/2014/main" id="{8343DC88-FE14-42CF-909A-289BAFD94014}"/>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SARGability hält die Indexspalte als Suchargument verfügbar</a:t>
            </a:r>
          </a:p>
        </p:txBody>
      </p:sp>
      <p:sp>
        <p:nvSpPr>
          <p:cNvPr id="3" name="title-rule">
            <a:extLst xmlns:a="http://schemas.openxmlformats.org/drawingml/2006/main">
              <a:ext uri="{FF2B5EF4-FFF2-40B4-BE49-F238E27FC236}">
                <a16:creationId xmlns:a16="http://schemas.microsoft.com/office/drawing/2014/main" id="{D7A8AD02-1894-4CBE-9BFA-436935FBFC63}"/>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0E5FA08E-4A75-4E4F-8D0B-F1E10AFC4485}"/>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87FB0D76-BF64-47D8-8046-0C2B0A01A172}"/>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37 / 84</a:t>
            </a:r>
          </a:p>
        </p:txBody>
      </p:sp>
      <p:sp>
        <p:nvSpPr>
          <p:cNvPr id="6" name="bad-label">
            <a:extLst xmlns:a="http://schemas.openxmlformats.org/drawingml/2006/main">
              <a:ext uri="{FF2B5EF4-FFF2-40B4-BE49-F238E27FC236}">
                <a16:creationId xmlns:a16="http://schemas.microsoft.com/office/drawing/2014/main" id="{043BC21B-806D-4135-984A-463D99ABE224}"/>
              </a:ext>
            </a:extLst>
          </p:cNvPr>
          <p:cNvSpPr>
            <a:spLocks xmlns:a="http://schemas.openxmlformats.org/drawingml/2006/main" noGrp="1"/>
          </p:cNvSpPr>
          <p:nvPr/>
        </p:nvSpPr>
        <p:spPr>
          <a:xfrm xmlns:a="http://schemas.openxmlformats.org/drawingml/2006/main">
            <a:off x="609600" y="21336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C94C4C"/>
                </a:solidFill>
                <a:latin typeface="Aptos"/>
                <a:ea typeface="Aptos"/>
                <a:cs typeface="Aptos"/>
              </a:defRPr>
            </a:pPr>
            <a:r>
              <a:rPr sz="1200" b="1" i="0">
                <a:solidFill>
                  <a:srgbClr val="C94C4C"/>
                </a:solidFill>
                <a:latin typeface="Aptos"/>
                <a:ea typeface="Aptos"/>
                <a:cs typeface="Aptos"/>
              </a:rPr>
              <a:t>UNGÜNSTIGES MUSTER</a:t>
            </a:r>
          </a:p>
        </p:txBody>
      </p:sp>
      <p:sp>
        <p:nvSpPr>
          <p:cNvPr id="7" name="bad-code-bg">
            <a:extLst xmlns:a="http://schemas.openxmlformats.org/drawingml/2006/main">
              <a:ext uri="{FF2B5EF4-FFF2-40B4-BE49-F238E27FC236}">
                <a16:creationId xmlns:a16="http://schemas.microsoft.com/office/drawing/2014/main" id="{1905E72D-88C5-48DA-AA55-9CB83A2FE5BE}"/>
              </a:ext>
            </a:extLst>
          </p:cNvPr>
          <p:cNvSpPr>
            <a:spLocks xmlns:a="http://schemas.openxmlformats.org/drawingml/2006/main" noGrp="1"/>
          </p:cNvSpPr>
          <p:nvPr/>
        </p:nvSpPr>
        <p:spPr>
          <a:xfrm xmlns:a="http://schemas.openxmlformats.org/drawingml/2006/main">
            <a:off x="609600" y="2495550"/>
            <a:ext cx="4762500" cy="1143000"/>
          </a:xfrm>
          <a:prstGeom xmlns:a="http://schemas.openxmlformats.org/drawingml/2006/main" prst="roundRect">
            <a:avLst>
              <a:gd name="adj" fmla="val 6667"/>
            </a:avLst>
          </a:prstGeom>
          <a:solidFill xmlns:a="http://schemas.openxmlformats.org/drawingml/2006/main">
            <a:srgbClr val="FFF1F1"/>
          </a:solidFill>
          <a:ln xmlns:a="http://schemas.openxmlformats.org/drawingml/2006/main" w="9525">
            <a:solidFill>
              <a:srgbClr val="F4C7C7"/>
            </a:solidFill>
            <a:prstDash val="solid"/>
          </a:ln>
        </p:spPr>
      </p:sp>
      <p:sp>
        <p:nvSpPr>
          <p:cNvPr id="8" name="bad-code">
            <a:extLst xmlns:a="http://schemas.openxmlformats.org/drawingml/2006/main">
              <a:ext uri="{FF2B5EF4-FFF2-40B4-BE49-F238E27FC236}">
                <a16:creationId xmlns:a16="http://schemas.microsoft.com/office/drawing/2014/main" id="{9390437C-C287-4ED2-B132-E243DAC6389C}"/>
              </a:ext>
            </a:extLst>
          </p:cNvPr>
          <p:cNvSpPr>
            <a:spLocks xmlns:a="http://schemas.openxmlformats.org/drawingml/2006/main" noGrp="1"/>
          </p:cNvSpPr>
          <p:nvPr/>
        </p:nvSpPr>
        <p:spPr>
          <a:xfrm xmlns:a="http://schemas.openxmlformats.org/drawingml/2006/main">
            <a:off x="838200" y="2724150"/>
            <a:ext cx="4305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8A2C2C"/>
                </a:solidFill>
                <a:latin typeface="Consolas"/>
                <a:ea typeface="Consolas"/>
                <a:cs typeface="Consolas"/>
              </a:defRPr>
            </a:pPr>
            <a:r>
              <a:rPr sz="1725" b="1" i="0">
                <a:solidFill>
                  <a:srgbClr val="8A2C2C"/>
                </a:solidFill>
                <a:latin typeface="Consolas"/>
                <a:ea typeface="Consolas"/>
                <a:cs typeface="Consolas"/>
              </a:rPr>
              <a:t>WHERE YEAR(OrderDate) = 2026</a:t>
            </a:r>
          </a:p>
        </p:txBody>
      </p:sp>
      <p:sp>
        <p:nvSpPr>
          <p:cNvPr id="9" name="good-label">
            <a:extLst xmlns:a="http://schemas.openxmlformats.org/drawingml/2006/main">
              <a:ext uri="{FF2B5EF4-FFF2-40B4-BE49-F238E27FC236}">
                <a16:creationId xmlns:a16="http://schemas.microsoft.com/office/drawing/2014/main" id="{82BB084B-E574-45C4-8141-BC1D182850AB}"/>
              </a:ext>
            </a:extLst>
          </p:cNvPr>
          <p:cNvSpPr>
            <a:spLocks xmlns:a="http://schemas.openxmlformats.org/drawingml/2006/main" noGrp="1"/>
          </p:cNvSpPr>
          <p:nvPr/>
        </p:nvSpPr>
        <p:spPr>
          <a:xfrm xmlns:a="http://schemas.openxmlformats.org/drawingml/2006/main">
            <a:off x="609600" y="39624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A9D8F"/>
                </a:solidFill>
                <a:latin typeface="Aptos"/>
                <a:ea typeface="Aptos"/>
                <a:cs typeface="Aptos"/>
              </a:defRPr>
            </a:pPr>
            <a:r>
              <a:rPr sz="1200" b="1" i="0">
                <a:solidFill>
                  <a:srgbClr val="2A9D8F"/>
                </a:solidFill>
                <a:latin typeface="Aptos"/>
                <a:ea typeface="Aptos"/>
                <a:cs typeface="Aptos"/>
              </a:rPr>
              <a:t>BEVORZUGTES MUSTER</a:t>
            </a:r>
          </a:p>
        </p:txBody>
      </p:sp>
      <p:sp>
        <p:nvSpPr>
          <p:cNvPr id="10" name="good-code-bg">
            <a:extLst xmlns:a="http://schemas.openxmlformats.org/drawingml/2006/main">
              <a:ext uri="{FF2B5EF4-FFF2-40B4-BE49-F238E27FC236}">
                <a16:creationId xmlns:a16="http://schemas.microsoft.com/office/drawing/2014/main" id="{60E98318-3AC2-4C2A-98EE-231CE4AACA14}"/>
              </a:ext>
            </a:extLst>
          </p:cNvPr>
          <p:cNvSpPr>
            <a:spLocks xmlns:a="http://schemas.openxmlformats.org/drawingml/2006/main" noGrp="1"/>
          </p:cNvSpPr>
          <p:nvPr/>
        </p:nvSpPr>
        <p:spPr>
          <a:xfrm xmlns:a="http://schemas.openxmlformats.org/drawingml/2006/main">
            <a:off x="609600" y="4324350"/>
            <a:ext cx="4762500" cy="1352550"/>
          </a:xfrm>
          <a:prstGeom xmlns:a="http://schemas.openxmlformats.org/drawingml/2006/main" prst="roundRect">
            <a:avLst>
              <a:gd name="adj" fmla="val 5634"/>
            </a:avLst>
          </a:prstGeom>
          <a:solidFill xmlns:a="http://schemas.openxmlformats.org/drawingml/2006/main">
            <a:srgbClr val="EAF8F2"/>
          </a:solidFill>
          <a:ln xmlns:a="http://schemas.openxmlformats.org/drawingml/2006/main" w="9525">
            <a:solidFill>
              <a:srgbClr val="B5DECE"/>
            </a:solidFill>
            <a:prstDash val="solid"/>
          </a:ln>
        </p:spPr>
      </p:sp>
      <p:sp>
        <p:nvSpPr>
          <p:cNvPr id="11" name="good-code">
            <a:extLst xmlns:a="http://schemas.openxmlformats.org/drawingml/2006/main">
              <a:ext uri="{FF2B5EF4-FFF2-40B4-BE49-F238E27FC236}">
                <a16:creationId xmlns:a16="http://schemas.microsoft.com/office/drawing/2014/main" id="{10C56CEA-C9F8-4AA7-8F93-EF6B11308C52}"/>
              </a:ext>
            </a:extLst>
          </p:cNvPr>
          <p:cNvSpPr>
            <a:spLocks xmlns:a="http://schemas.openxmlformats.org/drawingml/2006/main" noGrp="1"/>
          </p:cNvSpPr>
          <p:nvPr/>
        </p:nvSpPr>
        <p:spPr>
          <a:xfrm xmlns:a="http://schemas.openxmlformats.org/drawingml/2006/main">
            <a:off x="838200" y="4514850"/>
            <a:ext cx="4305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76B50"/>
                </a:solidFill>
                <a:latin typeface="Consolas"/>
                <a:ea typeface="Consolas"/>
                <a:cs typeface="Consolas"/>
              </a:defRPr>
            </a:pPr>
            <a:r>
              <a:rPr sz="1725" b="1" i="0">
                <a:solidFill>
                  <a:srgbClr val="176B50"/>
                </a:solidFill>
                <a:latin typeface="Consolas"/>
                <a:ea typeface="Consolas"/>
                <a:cs typeface="Consolas"/>
              </a:rPr>
              <a:t>WHERE OrderDate &gt;= '20260101'</a:t>
            </a:r>
          </a:p>
          <a:p xmlns:a="http://schemas.openxmlformats.org/drawingml/2006/main">
            <a:pPr algn="l">
              <a:lnSpc>
                <a:spcPct val="105000"/>
              </a:lnSpc>
              <a:buNone/>
              <a:defRPr sz="1725" b="1" i="0">
                <a:solidFill>
                  <a:srgbClr val="176B50"/>
                </a:solidFill>
                <a:latin typeface="Consolas"/>
                <a:ea typeface="Consolas"/>
                <a:cs typeface="Consolas"/>
              </a:defRPr>
            </a:pPr>
            <a:r>
              <a:rPr sz="1725" b="1" i="0">
                <a:solidFill>
                  <a:srgbClr val="176B50"/>
                </a:solidFill>
                <a:latin typeface="Consolas"/>
                <a:ea typeface="Consolas"/>
                <a:cs typeface="Consolas"/>
              </a:rPr>
              <a:t>  AND OrderDate &lt;  '20270101'</a:t>
            </a:r>
          </a:p>
        </p:txBody>
      </p:sp>
      <p:sp>
        <p:nvSpPr>
          <p:cNvPr id="12" name="code-points">
            <a:extLst xmlns:a="http://schemas.openxmlformats.org/drawingml/2006/main">
              <a:ext uri="{FF2B5EF4-FFF2-40B4-BE49-F238E27FC236}">
                <a16:creationId xmlns:a16="http://schemas.microsoft.com/office/drawing/2014/main" id="{1435D143-8561-4C80-BE9C-9A6BD7302B39}"/>
              </a:ext>
            </a:extLst>
          </p:cNvPr>
          <p:cNvSpPr>
            <a:spLocks xmlns:a="http://schemas.openxmlformats.org/drawingml/2006/main" noGrp="1"/>
          </p:cNvSpPr>
          <p:nvPr/>
        </p:nvSpPr>
        <p:spPr>
          <a:xfrm xmlns:a="http://schemas.openxmlformats.org/drawingml/2006/main">
            <a:off x="6057900" y="2419350"/>
            <a:ext cx="52197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Funktion auf der Indexspalte kann einen Seek verhindern</a:t>
            </a:r>
          </a:p>
          <a:p xmlns:a="http://schemas.openxmlformats.org/drawingml/2006/main">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Bereichsgrenzen sind typstabil und eindeutig</a:t>
            </a:r>
          </a:p>
          <a:p xmlns:a="http://schemas.openxmlformats.org/drawingml/2006/main">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Seek ist trotzdem nur bei passender Selektivität sinnvoll</a:t>
            </a:r>
          </a:p>
        </p:txBody>
      </p:sp>
    </p:spTree>
    <p:extLst>
      <p:ext uri="{BB962C8B-B14F-4D97-AF65-F5344CB8AC3E}">
        <p14:creationId xmlns:p14="http://schemas.microsoft.com/office/powerpoint/2010/main" val="1159552607"/>
      </p:ext>
    </p:extLst>
  </p:cSld>
</p:sld>
</file>

<file path=ppt/slides/slide3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F408DFA5-325F-4087-ABA4-38EB2DEEE8A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xmlns:a="http://schemas.openxmlformats.org/drawingml/2006/main">
              <a:ext uri="{FF2B5EF4-FFF2-40B4-BE49-F238E27FC236}">
                <a16:creationId xmlns:a16="http://schemas.microsoft.com/office/drawing/2014/main" id="{0343219B-8A24-4009-94A0-6A3DC19893A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Implicit Conversion wird kritisch, wenn die Indexseite konvertiert werden muss</a:t>
            </a:r>
          </a:p>
        </p:txBody>
      </p:sp>
      <p:sp>
        <p:nvSpPr>
          <p:cNvPr id="3" name="title-rule">
            <a:extLst xmlns:a="http://schemas.openxmlformats.org/drawingml/2006/main">
              <a:ext uri="{FF2B5EF4-FFF2-40B4-BE49-F238E27FC236}">
                <a16:creationId xmlns:a16="http://schemas.microsoft.com/office/drawing/2014/main" id="{F136CFCE-1B95-4DC0-B77B-021077C52191}"/>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3F155820-E2ED-4144-95DA-921F3D80E95E}"/>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6F034E97-B3C1-4B0B-83D4-B764D57A2F1D}"/>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38 / 84</a:t>
            </a:r>
          </a:p>
        </p:txBody>
      </p:sp>
      <p:sp>
        <p:nvSpPr>
          <p:cNvPr id="6" name="left-title">
            <a:extLst xmlns:a="http://schemas.openxmlformats.org/drawingml/2006/main">
              <a:ext uri="{FF2B5EF4-FFF2-40B4-BE49-F238E27FC236}">
                <a16:creationId xmlns:a16="http://schemas.microsoft.com/office/drawing/2014/main" id="{4B1B8859-2DEA-42CB-A1DF-EFB57B9F7B66}"/>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günstiger</a:t>
            </a:r>
          </a:p>
        </p:txBody>
      </p:sp>
      <p:sp>
        <p:nvSpPr>
          <p:cNvPr id="7" name="right-title">
            <a:extLst xmlns:a="http://schemas.openxmlformats.org/drawingml/2006/main">
              <a:ext uri="{FF2B5EF4-FFF2-40B4-BE49-F238E27FC236}">
                <a16:creationId xmlns:a16="http://schemas.microsoft.com/office/drawing/2014/main" id="{1E255F50-804D-4BAE-BE4B-625ADB9730B7}"/>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kritischer</a:t>
            </a:r>
          </a:p>
        </p:txBody>
      </p:sp>
      <p:sp>
        <p:nvSpPr>
          <p:cNvPr id="8" name="middle-rule">
            <a:extLst xmlns:a="http://schemas.openxmlformats.org/drawingml/2006/main">
              <a:ext uri="{FF2B5EF4-FFF2-40B4-BE49-F238E27FC236}">
                <a16:creationId xmlns:a16="http://schemas.microsoft.com/office/drawing/2014/main" id="{9FF10BB4-2DED-41E6-858F-482895101EF7}"/>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69F60D6D-F3D5-4653-BD62-367A6AE3C1FF}"/>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Parameter zum Spaltentyp konvertierbar</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keine Funktion auf dem Indexschlüssel</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Plan Warning fehlt</a:t>
            </a:r>
          </a:p>
        </p:txBody>
      </p:sp>
      <p:sp>
        <p:nvSpPr>
          <p:cNvPr id="10" name="right-points">
            <a:extLst xmlns:a="http://schemas.openxmlformats.org/drawingml/2006/main">
              <a:ext uri="{FF2B5EF4-FFF2-40B4-BE49-F238E27FC236}">
                <a16:creationId xmlns:a16="http://schemas.microsoft.com/office/drawing/2014/main" id="{B2CE8EFB-9CC7-48B0-B5A1-5C92F88A1147}"/>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Spalte wird pro Row konvertiert</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Seek-Prädikat wird unbrauchbar</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Schätzung und CPU können leiden</a:t>
            </a:r>
          </a:p>
        </p:txBody>
      </p:sp>
      <p:sp>
        <p:nvSpPr>
          <p:cNvPr id="11" name="conclusion-bg">
            <a:extLst xmlns:a="http://schemas.openxmlformats.org/drawingml/2006/main">
              <a:ext uri="{FF2B5EF4-FFF2-40B4-BE49-F238E27FC236}">
                <a16:creationId xmlns:a16="http://schemas.microsoft.com/office/drawing/2014/main" id="{DB778CF3-06DD-4D7A-9122-9FCCC7A9336C}"/>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68892F92-1F1B-43FA-87F3-76E7441429C3}"/>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Datentypen über Tabellen-, Parameter- und Anwendungsschicht ausrichten.</a:t>
            </a:r>
          </a:p>
        </p:txBody>
      </p:sp>
    </p:spTree>
    <p:extLst>
      <p:ext uri="{BB962C8B-B14F-4D97-AF65-F5344CB8AC3E}">
        <p14:creationId xmlns:p14="http://schemas.microsoft.com/office/powerpoint/2010/main" val="1100193607"/>
      </p:ext>
    </p:extLst>
  </p:cSld>
</p:sld>
</file>

<file path=ppt/slides/slide3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8860D52F-EC18-4C3F-9D59-EA79F436B1E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xmlns:a="http://schemas.openxmlformats.org/drawingml/2006/main">
              <a:ext uri="{FF2B5EF4-FFF2-40B4-BE49-F238E27FC236}">
                <a16:creationId xmlns:a16="http://schemas.microsoft.com/office/drawing/2014/main" id="{11E8BE10-528C-40A2-A03D-4E588C8E901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Halboffene Datumsintervalle vermeiden Präzisions- und Tagesendefehler</a:t>
            </a:r>
          </a:p>
        </p:txBody>
      </p:sp>
      <p:sp>
        <p:nvSpPr>
          <p:cNvPr id="3" name="title-rule">
            <a:extLst xmlns:a="http://schemas.openxmlformats.org/drawingml/2006/main">
              <a:ext uri="{FF2B5EF4-FFF2-40B4-BE49-F238E27FC236}">
                <a16:creationId xmlns:a16="http://schemas.microsoft.com/office/drawing/2014/main" id="{3C7A979E-C1FA-48FB-B04F-512CE1DC42F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D956BE6E-035F-4A16-98D2-72B28A2D63CD}"/>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2CA678E0-2414-409C-9D2D-C9A1E58C39F0}"/>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39 / 84</a:t>
            </a:r>
          </a:p>
        </p:txBody>
      </p:sp>
      <p:sp>
        <p:nvSpPr>
          <p:cNvPr id="6" name="bad-label">
            <a:extLst xmlns:a="http://schemas.openxmlformats.org/drawingml/2006/main">
              <a:ext uri="{FF2B5EF4-FFF2-40B4-BE49-F238E27FC236}">
                <a16:creationId xmlns:a16="http://schemas.microsoft.com/office/drawing/2014/main" id="{B9E9FEE7-A217-4691-95A8-F2EAA1417F3B}"/>
              </a:ext>
            </a:extLst>
          </p:cNvPr>
          <p:cNvSpPr>
            <a:spLocks xmlns:a="http://schemas.openxmlformats.org/drawingml/2006/main" noGrp="1"/>
          </p:cNvSpPr>
          <p:nvPr/>
        </p:nvSpPr>
        <p:spPr>
          <a:xfrm xmlns:a="http://schemas.openxmlformats.org/drawingml/2006/main">
            <a:off x="609600" y="21336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C94C4C"/>
                </a:solidFill>
                <a:latin typeface="Aptos"/>
                <a:ea typeface="Aptos"/>
                <a:cs typeface="Aptos"/>
              </a:defRPr>
            </a:pPr>
            <a:r>
              <a:rPr sz="1200" b="1" i="0">
                <a:solidFill>
                  <a:srgbClr val="C94C4C"/>
                </a:solidFill>
                <a:latin typeface="Aptos"/>
                <a:ea typeface="Aptos"/>
                <a:cs typeface="Aptos"/>
              </a:rPr>
              <a:t>UNGÜNSTIGES MUSTER</a:t>
            </a:r>
          </a:p>
        </p:txBody>
      </p:sp>
      <p:sp>
        <p:nvSpPr>
          <p:cNvPr id="7" name="bad-code-bg">
            <a:extLst xmlns:a="http://schemas.openxmlformats.org/drawingml/2006/main">
              <a:ext uri="{FF2B5EF4-FFF2-40B4-BE49-F238E27FC236}">
                <a16:creationId xmlns:a16="http://schemas.microsoft.com/office/drawing/2014/main" id="{8BAA2FA0-4B95-4C1A-8596-E318CCD132E1}"/>
              </a:ext>
            </a:extLst>
          </p:cNvPr>
          <p:cNvSpPr>
            <a:spLocks xmlns:a="http://schemas.openxmlformats.org/drawingml/2006/main" noGrp="1"/>
          </p:cNvSpPr>
          <p:nvPr/>
        </p:nvSpPr>
        <p:spPr>
          <a:xfrm xmlns:a="http://schemas.openxmlformats.org/drawingml/2006/main">
            <a:off x="609600" y="2495550"/>
            <a:ext cx="4762500" cy="1143000"/>
          </a:xfrm>
          <a:prstGeom xmlns:a="http://schemas.openxmlformats.org/drawingml/2006/main" prst="roundRect">
            <a:avLst>
              <a:gd name="adj" fmla="val 6667"/>
            </a:avLst>
          </a:prstGeom>
          <a:solidFill xmlns:a="http://schemas.openxmlformats.org/drawingml/2006/main">
            <a:srgbClr val="FFF1F1"/>
          </a:solidFill>
          <a:ln xmlns:a="http://schemas.openxmlformats.org/drawingml/2006/main" w="9525">
            <a:solidFill>
              <a:srgbClr val="F4C7C7"/>
            </a:solidFill>
            <a:prstDash val="solid"/>
          </a:ln>
        </p:spPr>
      </p:sp>
      <p:sp>
        <p:nvSpPr>
          <p:cNvPr id="8" name="bad-code">
            <a:extLst xmlns:a="http://schemas.openxmlformats.org/drawingml/2006/main">
              <a:ext uri="{FF2B5EF4-FFF2-40B4-BE49-F238E27FC236}">
                <a16:creationId xmlns:a16="http://schemas.microsoft.com/office/drawing/2014/main" id="{18D04D14-8AEF-404E-ABC4-C4223047808B}"/>
              </a:ext>
            </a:extLst>
          </p:cNvPr>
          <p:cNvSpPr>
            <a:spLocks xmlns:a="http://schemas.openxmlformats.org/drawingml/2006/main" noGrp="1"/>
          </p:cNvSpPr>
          <p:nvPr/>
        </p:nvSpPr>
        <p:spPr>
          <a:xfrm xmlns:a="http://schemas.openxmlformats.org/drawingml/2006/main">
            <a:off x="838200" y="2724150"/>
            <a:ext cx="4305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8A2C2C"/>
                </a:solidFill>
                <a:latin typeface="Consolas"/>
                <a:ea typeface="Consolas"/>
                <a:cs typeface="Consolas"/>
              </a:defRPr>
            </a:pPr>
            <a:r>
              <a:rPr sz="1725" b="1" i="0">
                <a:solidFill>
                  <a:srgbClr val="8A2C2C"/>
                </a:solidFill>
                <a:latin typeface="Consolas"/>
                <a:ea typeface="Consolas"/>
                <a:cs typeface="Consolas"/>
              </a:rPr>
              <a:t>WHERE EventTime BETWEEN @From AND '2026-07-23 23:59:59.997'</a:t>
            </a:r>
          </a:p>
        </p:txBody>
      </p:sp>
      <p:sp>
        <p:nvSpPr>
          <p:cNvPr id="9" name="good-label">
            <a:extLst xmlns:a="http://schemas.openxmlformats.org/drawingml/2006/main">
              <a:ext uri="{FF2B5EF4-FFF2-40B4-BE49-F238E27FC236}">
                <a16:creationId xmlns:a16="http://schemas.microsoft.com/office/drawing/2014/main" id="{C72835AC-E14D-4B86-8FEA-15E2A6918AAE}"/>
              </a:ext>
            </a:extLst>
          </p:cNvPr>
          <p:cNvSpPr>
            <a:spLocks xmlns:a="http://schemas.openxmlformats.org/drawingml/2006/main" noGrp="1"/>
          </p:cNvSpPr>
          <p:nvPr/>
        </p:nvSpPr>
        <p:spPr>
          <a:xfrm xmlns:a="http://schemas.openxmlformats.org/drawingml/2006/main">
            <a:off x="609600" y="39624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A9D8F"/>
                </a:solidFill>
                <a:latin typeface="Aptos"/>
                <a:ea typeface="Aptos"/>
                <a:cs typeface="Aptos"/>
              </a:defRPr>
            </a:pPr>
            <a:r>
              <a:rPr sz="1200" b="1" i="0">
                <a:solidFill>
                  <a:srgbClr val="2A9D8F"/>
                </a:solidFill>
                <a:latin typeface="Aptos"/>
                <a:ea typeface="Aptos"/>
                <a:cs typeface="Aptos"/>
              </a:rPr>
              <a:t>BEVORZUGTES MUSTER</a:t>
            </a:r>
          </a:p>
        </p:txBody>
      </p:sp>
      <p:sp>
        <p:nvSpPr>
          <p:cNvPr id="10" name="good-code-bg">
            <a:extLst xmlns:a="http://schemas.openxmlformats.org/drawingml/2006/main">
              <a:ext uri="{FF2B5EF4-FFF2-40B4-BE49-F238E27FC236}">
                <a16:creationId xmlns:a16="http://schemas.microsoft.com/office/drawing/2014/main" id="{F75A8646-5D50-4C2B-A50E-99997A81F199}"/>
              </a:ext>
            </a:extLst>
          </p:cNvPr>
          <p:cNvSpPr>
            <a:spLocks xmlns:a="http://schemas.openxmlformats.org/drawingml/2006/main" noGrp="1"/>
          </p:cNvSpPr>
          <p:nvPr/>
        </p:nvSpPr>
        <p:spPr>
          <a:xfrm xmlns:a="http://schemas.openxmlformats.org/drawingml/2006/main">
            <a:off x="609600" y="4324350"/>
            <a:ext cx="4762500" cy="1352550"/>
          </a:xfrm>
          <a:prstGeom xmlns:a="http://schemas.openxmlformats.org/drawingml/2006/main" prst="roundRect">
            <a:avLst>
              <a:gd name="adj" fmla="val 5634"/>
            </a:avLst>
          </a:prstGeom>
          <a:solidFill xmlns:a="http://schemas.openxmlformats.org/drawingml/2006/main">
            <a:srgbClr val="EAF8F2"/>
          </a:solidFill>
          <a:ln xmlns:a="http://schemas.openxmlformats.org/drawingml/2006/main" w="9525">
            <a:solidFill>
              <a:srgbClr val="B5DECE"/>
            </a:solidFill>
            <a:prstDash val="solid"/>
          </a:ln>
        </p:spPr>
      </p:sp>
      <p:sp>
        <p:nvSpPr>
          <p:cNvPr id="11" name="good-code">
            <a:extLst xmlns:a="http://schemas.openxmlformats.org/drawingml/2006/main">
              <a:ext uri="{FF2B5EF4-FFF2-40B4-BE49-F238E27FC236}">
                <a16:creationId xmlns:a16="http://schemas.microsoft.com/office/drawing/2014/main" id="{728949F2-5844-4284-8C33-D6ACDB9B79A1}"/>
              </a:ext>
            </a:extLst>
          </p:cNvPr>
          <p:cNvSpPr>
            <a:spLocks xmlns:a="http://schemas.openxmlformats.org/drawingml/2006/main" noGrp="1"/>
          </p:cNvSpPr>
          <p:nvPr/>
        </p:nvSpPr>
        <p:spPr>
          <a:xfrm xmlns:a="http://schemas.openxmlformats.org/drawingml/2006/main">
            <a:off x="838200" y="4514850"/>
            <a:ext cx="4305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76B50"/>
                </a:solidFill>
                <a:latin typeface="Consolas"/>
                <a:ea typeface="Consolas"/>
                <a:cs typeface="Consolas"/>
              </a:defRPr>
            </a:pPr>
            <a:r>
              <a:rPr sz="1725" b="1" i="0">
                <a:solidFill>
                  <a:srgbClr val="176B50"/>
                </a:solidFill>
                <a:latin typeface="Consolas"/>
                <a:ea typeface="Consolas"/>
                <a:cs typeface="Consolas"/>
              </a:rPr>
              <a:t>WHERE EventTime &gt;= @From</a:t>
            </a:r>
          </a:p>
          <a:p xmlns:a="http://schemas.openxmlformats.org/drawingml/2006/main">
            <a:pPr algn="l">
              <a:lnSpc>
                <a:spcPct val="105000"/>
              </a:lnSpc>
              <a:buNone/>
              <a:defRPr sz="1725" b="1" i="0">
                <a:solidFill>
                  <a:srgbClr val="176B50"/>
                </a:solidFill>
                <a:latin typeface="Consolas"/>
                <a:ea typeface="Consolas"/>
                <a:cs typeface="Consolas"/>
              </a:defRPr>
            </a:pPr>
            <a:r>
              <a:rPr sz="1725" b="1" i="0">
                <a:solidFill>
                  <a:srgbClr val="176B50"/>
                </a:solidFill>
                <a:latin typeface="Consolas"/>
                <a:ea typeface="Consolas"/>
                <a:cs typeface="Consolas"/>
              </a:rPr>
              <a:t>  AND EventTime &lt;  DATEADD(day, 1, @Date)</a:t>
            </a:r>
          </a:p>
        </p:txBody>
      </p:sp>
      <p:sp>
        <p:nvSpPr>
          <p:cNvPr id="12" name="code-points">
            <a:extLst xmlns:a="http://schemas.openxmlformats.org/drawingml/2006/main">
              <a:ext uri="{FF2B5EF4-FFF2-40B4-BE49-F238E27FC236}">
                <a16:creationId xmlns:a16="http://schemas.microsoft.com/office/drawing/2014/main" id="{003FE4F2-ABF8-4D79-9211-C084A7DC4C0D}"/>
              </a:ext>
            </a:extLst>
          </p:cNvPr>
          <p:cNvSpPr>
            <a:spLocks xmlns:a="http://schemas.openxmlformats.org/drawingml/2006/main" noGrp="1"/>
          </p:cNvSpPr>
          <p:nvPr/>
        </p:nvSpPr>
        <p:spPr>
          <a:xfrm xmlns:a="http://schemas.openxmlformats.org/drawingml/2006/main">
            <a:off x="6057900" y="2419350"/>
            <a:ext cx="52197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funktioniert über unterschiedliche Zeitpräzisionen</a:t>
            </a:r>
          </a:p>
          <a:p xmlns:a="http://schemas.openxmlformats.org/drawingml/2006/main">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vermeidet versteckte letzte Millisekunden</a:t>
            </a:r>
          </a:p>
          <a:p xmlns:a="http://schemas.openxmlformats.org/drawingml/2006/main">
            <a:pPr marL="24" indent="-14">
              <a:lnSpc>
                <a:spcPct val="112000"/>
              </a:lnSpc>
              <a:spcAft>
                <a:spcPts val="20"/>
              </a:spcAft>
              <a:buNone/>
              <a:defRPr sz="1800">
                <a:solidFill>
                  <a:srgbClr val="243B53"/>
                </a:solidFill>
                <a:latin typeface="Aptos"/>
                <a:ea typeface="Aptos"/>
                <a:cs typeface="Aptos"/>
              </a:defRPr>
            </a:pPr>
            <a:r>
              <a:rPr sz="1800">
                <a:solidFill>
                  <a:srgbClr val="243B53"/>
                </a:solidFill>
                <a:latin typeface="Aptos"/>
                <a:ea typeface="Aptos"/>
                <a:cs typeface="Aptos"/>
              </a:rPr>
              <a:t>bleibt als Range Predicate nutzbar</a:t>
            </a:r>
          </a:p>
        </p:txBody>
      </p:sp>
    </p:spTree>
    <p:extLst>
      <p:ext uri="{BB962C8B-B14F-4D97-AF65-F5344CB8AC3E}">
        <p14:creationId xmlns:p14="http://schemas.microsoft.com/office/powerpoint/2010/main" val="2065056510"/>
      </p:ext>
    </p:extLst>
  </p:cSld>
</p:sld>
</file>

<file path=ppt/slides/slide4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F993E43C-F304-4E8D-BC5D-626F700348D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xmlns:a="http://schemas.openxmlformats.org/drawingml/2006/main">
              <a:ext uri="{FF2B5EF4-FFF2-40B4-BE49-F238E27FC236}">
                <a16:creationId xmlns:a16="http://schemas.microsoft.com/office/drawing/2014/main" id="{11390F30-BEBA-4340-9CB9-7D4E97313727}"/>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Optionale Parameter benötigen eine Strategie für unterschiedliche Selektivität</a:t>
            </a:r>
          </a:p>
        </p:txBody>
      </p:sp>
      <p:sp>
        <p:nvSpPr>
          <p:cNvPr id="3" name="title-rule">
            <a:extLst xmlns:a="http://schemas.openxmlformats.org/drawingml/2006/main">
              <a:ext uri="{FF2B5EF4-FFF2-40B4-BE49-F238E27FC236}">
                <a16:creationId xmlns:a16="http://schemas.microsoft.com/office/drawing/2014/main" id="{5EA694E9-4D56-4969-A3F6-37947FDEA698}"/>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2E44F11E-B426-4031-A7B3-66AF0CB363B3}"/>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5854E8F9-5AAD-400F-9FAE-71F47A2B5340}"/>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40 / 84</a:t>
            </a:r>
          </a:p>
        </p:txBody>
      </p:sp>
      <p:sp>
        <p:nvSpPr>
          <p:cNvPr id="6" name="left-title">
            <a:extLst xmlns:a="http://schemas.openxmlformats.org/drawingml/2006/main">
              <a:ext uri="{FF2B5EF4-FFF2-40B4-BE49-F238E27FC236}">
                <a16:creationId xmlns:a16="http://schemas.microsoft.com/office/drawing/2014/main" id="{444C9187-4BEA-436A-8671-6E8A3DA86E4F}"/>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klassisches Muster</a:t>
            </a:r>
          </a:p>
        </p:txBody>
      </p:sp>
      <p:sp>
        <p:nvSpPr>
          <p:cNvPr id="7" name="right-title">
            <a:extLst xmlns:a="http://schemas.openxmlformats.org/drawingml/2006/main">
              <a:ext uri="{FF2B5EF4-FFF2-40B4-BE49-F238E27FC236}">
                <a16:creationId xmlns:a16="http://schemas.microsoft.com/office/drawing/2014/main" id="{32D84F2D-1A1A-4363-ABDB-3C5D5E6BE1D1}"/>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Optionen</a:t>
            </a:r>
          </a:p>
        </p:txBody>
      </p:sp>
      <p:sp>
        <p:nvSpPr>
          <p:cNvPr id="8" name="middle-rule">
            <a:extLst xmlns:a="http://schemas.openxmlformats.org/drawingml/2006/main">
              <a:ext uri="{FF2B5EF4-FFF2-40B4-BE49-F238E27FC236}">
                <a16:creationId xmlns:a16="http://schemas.microsoft.com/office/drawing/2014/main" id="{0F8A3406-3017-4BB9-8141-CC70D528321B}"/>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DB91CB32-E66F-4298-B968-AF784DB5B0A2}"/>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WHERE Col = @p OR @p IS NULL</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eine Form muss Seek und Scan abdecken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Parameter Sensitivity möglich</a:t>
            </a:r>
          </a:p>
        </p:txBody>
      </p:sp>
      <p:sp>
        <p:nvSpPr>
          <p:cNvPr id="10" name="right-points">
            <a:extLst xmlns:a="http://schemas.openxmlformats.org/drawingml/2006/main">
              <a:ext uri="{FF2B5EF4-FFF2-40B4-BE49-F238E27FC236}">
                <a16:creationId xmlns:a16="http://schemas.microsoft.com/office/drawing/2014/main" id="{6E5A29D8-C16E-4EFA-8135-1F0112BDB8D8}"/>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parameterisierte Dynamic SQL</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gezieltes RECOMPILE</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SQL Server 2025: OPPO bei CL 170</a:t>
            </a:r>
          </a:p>
        </p:txBody>
      </p:sp>
      <p:sp>
        <p:nvSpPr>
          <p:cNvPr id="11" name="conclusion-bg">
            <a:extLst xmlns:a="http://schemas.openxmlformats.org/drawingml/2006/main">
              <a:ext uri="{FF2B5EF4-FFF2-40B4-BE49-F238E27FC236}">
                <a16:creationId xmlns:a16="http://schemas.microsoft.com/office/drawing/2014/main" id="{C59B679E-664B-4DF6-A20A-952A4C2278E7}"/>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CEF8F979-57C8-4A09-ADBD-653453189C88}"/>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OPPO erzeugt Varianten für geeignete optionale Prädikate – nicht für jedes dynamische Suchproblem.</a:t>
            </a:r>
          </a:p>
        </p:txBody>
      </p:sp>
    </p:spTree>
    <p:extLst>
      <p:ext uri="{BB962C8B-B14F-4D97-AF65-F5344CB8AC3E}">
        <p14:creationId xmlns:p14="http://schemas.microsoft.com/office/powerpoint/2010/main" val="327382097"/>
      </p:ext>
    </p:extLst>
  </p:cSld>
</p:sld>
</file>

<file path=ppt/slides/slide4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4769B3DD-2737-41F9-9FE1-B5012807E59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xmlns:a="http://schemas.openxmlformats.org/drawingml/2006/main">
              <a:ext uri="{FF2B5EF4-FFF2-40B4-BE49-F238E27FC236}">
                <a16:creationId xmlns:a16="http://schemas.microsoft.com/office/drawing/2014/main" id="{158154DD-E08E-40D8-B0FC-1063EDB55EF0}"/>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32"/>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 CTE ist eine Namens- und Strukturierungshilfe – keine Materialisierungsgarantie</a:t>
            </a:r>
          </a:p>
        </p:txBody>
      </p:sp>
      <p:sp>
        <p:nvSpPr>
          <p:cNvPr id="3" name="title-rule">
            <a:extLst xmlns:a="http://schemas.openxmlformats.org/drawingml/2006/main">
              <a:ext uri="{FF2B5EF4-FFF2-40B4-BE49-F238E27FC236}">
                <a16:creationId xmlns:a16="http://schemas.microsoft.com/office/drawing/2014/main" id="{80E600C7-33C3-4379-8C40-B870CC07726A}"/>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D462FE3F-C400-4819-913F-9224A154A1A4}"/>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5DD801D5-CDF0-48CC-B053-FB6B394CECBF}"/>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41 / 84</a:t>
            </a:r>
          </a:p>
        </p:txBody>
      </p:sp>
      <p:sp>
        <p:nvSpPr>
          <p:cNvPr id="6" name="lead">
            <a:extLst xmlns:a="http://schemas.openxmlformats.org/drawingml/2006/main">
              <a:ext uri="{FF2B5EF4-FFF2-40B4-BE49-F238E27FC236}">
                <a16:creationId xmlns:a16="http://schemas.microsoft.com/office/drawing/2014/main" id="{554C448B-F9DE-4FA8-8482-F558E3998CCA}"/>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Der Optimizer kann die Definition einbetten, mehrfach auswerten oder über Spool/Worktable zwischenspeichern.</a:t>
            </a:r>
          </a:p>
        </p:txBody>
      </p:sp>
      <p:sp>
        <p:nvSpPr>
          <p:cNvPr id="7" name="lead-accent">
            <a:extLst xmlns:a="http://schemas.openxmlformats.org/drawingml/2006/main">
              <a:ext uri="{FF2B5EF4-FFF2-40B4-BE49-F238E27FC236}">
                <a16:creationId xmlns:a16="http://schemas.microsoft.com/office/drawing/2014/main" id="{EC7111C4-83F2-430B-8F76-4418D727A7F8}"/>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8EF64665-C41B-43EC-923A-05A572EF1542}"/>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Plan und tatsächliche Ausführungsanzahl entscheiden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Mehrfachreferenzen können wiederholte Arbeit verursachen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Temp Table trennt Phasen und erzeugt Statistiken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Rekursion benötigt Abbruch, Wachstumskontrolle und geeignete Evidenz</a:t>
            </a:r>
          </a:p>
        </p:txBody>
      </p:sp>
    </p:spTree>
    <p:extLst>
      <p:ext uri="{BB962C8B-B14F-4D97-AF65-F5344CB8AC3E}">
        <p14:creationId xmlns:p14="http://schemas.microsoft.com/office/powerpoint/2010/main" val="885801400"/>
      </p:ext>
    </p:extLst>
  </p:cSld>
</p:sld>
</file>

<file path=ppt/slides/slide4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2FAB78BF-526B-46D0-B3FE-8FFC4851F58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xmlns:a="http://schemas.openxmlformats.org/drawingml/2006/main">
              <a:ext uri="{FF2B5EF4-FFF2-40B4-BE49-F238E27FC236}">
                <a16:creationId xmlns:a16="http://schemas.microsoft.com/office/drawing/2014/main" id="{965E804C-62E0-4E14-81F1-956F56F6EA46}"/>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Temp Table und Table Variable haben unterschiedliche Optimizer-Eigenschaften</a:t>
            </a:r>
          </a:p>
        </p:txBody>
      </p:sp>
      <p:sp>
        <p:nvSpPr>
          <p:cNvPr id="3" name="title-rule">
            <a:extLst xmlns:a="http://schemas.openxmlformats.org/drawingml/2006/main">
              <a:ext uri="{FF2B5EF4-FFF2-40B4-BE49-F238E27FC236}">
                <a16:creationId xmlns:a16="http://schemas.microsoft.com/office/drawing/2014/main" id="{AE933AAB-96B7-4C19-8EA3-FD73C883464D}"/>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14232FD0-7BD5-497A-ADDB-7C430D90F9AD}"/>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636BBA92-95FA-4285-B261-1024D499A521}"/>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42 / 84</a:t>
            </a:r>
          </a:p>
        </p:txBody>
      </p:sp>
      <p:graphicFrame>
        <p:nvGraphicFramePr>
          <p:cNvPr id="12" name=""/>
          <p:cNvGraphicFramePr/>
          <p:nvPr/>
        </p:nvGraphicFramePr>
        <p:xfrm>
          <a:off xmlns:a="http://schemas.openxmlformats.org/drawingml/2006/main" x="609600" y="2171700"/>
          <a:ext xmlns:a="http://schemas.openxmlformats.org/drawingml/2006/main" cx="10668000" cy="3524250"/>
        </p:xfrm>
        <a:graphic xmlns:a="http://schemas.openxmlformats.org/drawingml/2006/main">
          <a:graphicData uri="http://schemas.openxmlformats.org/drawingml/2006/table">
            <a:tbl>
              <a:tblPr firstRow="1" bandRow="1"/>
              <a:tblGrid>
                <a:gridCol w="2800350"/>
                <a:gridCol w="3867150"/>
                <a:gridCol w="4000500"/>
              </a:tblGrid>
              <a:tr h="704850">
                <a:tc>
                  <a:txBody>
                    <a:bodyPr/>
                    <a:lstStyle/>
                    <a:p>
                      <a:r>
                        <a:rPr sz="1400" b="1">
                          <a:solidFill>
                            <a:srgbClr val="FFFFFF"/>
                          </a:solidFill>
                          <a:latin typeface="Aptos"/>
                          <a:ea typeface="Aptos"/>
                          <a:cs typeface="Aptos"/>
                        </a:rPr>
                        <a:t>Eigenschaft</a:t>
                      </a:r>
                    </a:p>
                  </a:txBody>
                  <a:tcPr marL="91440" marR="91440" marT="45720" marB="45720">
                    <a:solidFill>
                      <a:srgbClr val="0B1F33"/>
                    </a:solidFill>
                  </a:tcPr>
                </a:tc>
                <a:tc>
                  <a:txBody>
                    <a:bodyPr/>
                    <a:lstStyle/>
                    <a:p>
                      <a:r>
                        <a:rPr sz="1400" b="1">
                          <a:solidFill>
                            <a:srgbClr val="FFFFFF"/>
                          </a:solidFill>
                          <a:latin typeface="Aptos"/>
                          <a:ea typeface="Aptos"/>
                          <a:cs typeface="Aptos"/>
                        </a:rPr>
                        <a:t>#Temp Table</a:t>
                      </a:r>
                    </a:p>
                  </a:txBody>
                  <a:tcPr marL="91440" marR="91440" marT="45720" marB="45720">
                    <a:solidFill>
                      <a:srgbClr val="0B1F33"/>
                    </a:solidFill>
                  </a:tcPr>
                </a:tc>
                <a:tc>
                  <a:txBody>
                    <a:bodyPr/>
                    <a:lstStyle/>
                    <a:p>
                      <a:r>
                        <a:rPr sz="1400" b="1">
                          <a:solidFill>
                            <a:srgbClr val="FFFFFF"/>
                          </a:solidFill>
                          <a:latin typeface="Aptos"/>
                          <a:ea typeface="Aptos"/>
                          <a:cs typeface="Aptos"/>
                        </a:rPr>
                        <a:t>@Table Variable</a:t>
                      </a:r>
                    </a:p>
                  </a:txBody>
                  <a:tcPr marL="91440" marR="91440" marT="45720" marB="45720">
                    <a:solidFill>
                      <a:srgbClr val="0B1F33"/>
                    </a:solidFill>
                  </a:tcPr>
                </a:tc>
              </a:tr>
              <a:tr h="704850">
                <a:tc>
                  <a:txBody>
                    <a:bodyPr>
                      <a:normAutofit/>
                    </a:bodyPr>
                    <a:lstStyle/>
                    <a:p>
                      <a:r>
                        <a:rPr sz="1230">
                          <a:solidFill>
                            <a:srgbClr val="243B53"/>
                          </a:solidFill>
                          <a:latin typeface="Aptos"/>
                          <a:ea typeface="Aptos"/>
                          <a:cs typeface="Aptos"/>
                        </a:rPr>
                        <a:t>Statistiken</a:t>
                      </a:r>
                    </a:p>
                  </a:txBody>
                  <a:tcPr marL="91440" marR="91440" marT="45720" marB="45720">
                    <a:solidFill>
                      <a:srgbClr val="FFFFFF"/>
                    </a:solidFill>
                  </a:tcPr>
                </a:tc>
                <a:tc>
                  <a:txBody>
                    <a:bodyPr>
                      <a:normAutofit/>
                    </a:bodyPr>
                    <a:lstStyle/>
                    <a:p>
                      <a:r>
                        <a:rPr sz="1230">
                          <a:solidFill>
                            <a:srgbClr val="243B53"/>
                          </a:solidFill>
                          <a:latin typeface="Aptos"/>
                          <a:ea typeface="Aptos"/>
                          <a:cs typeface="Aptos"/>
                        </a:rPr>
                        <a:t>Spaltenstatistiken und Histogramme möglich</a:t>
                      </a:r>
                    </a:p>
                  </a:txBody>
                  <a:tcPr marL="91440" marR="91440" marT="45720" marB="45720">
                    <a:solidFill>
                      <a:srgbClr val="FFFFFF"/>
                    </a:solidFill>
                  </a:tcPr>
                </a:tc>
                <a:tc>
                  <a:txBody>
                    <a:bodyPr>
                      <a:normAutofit/>
                    </a:bodyPr>
                    <a:lstStyle/>
                    <a:p>
                      <a:r>
                        <a:rPr sz="1230">
                          <a:solidFill>
                            <a:srgbClr val="243B53"/>
                          </a:solidFill>
                          <a:latin typeface="Aptos"/>
                          <a:ea typeface="Aptos"/>
                          <a:cs typeface="Aptos"/>
                        </a:rPr>
                        <a:t>keine klassischen Spaltenstatistiken oder Histogramme</a:t>
                      </a:r>
                    </a:p>
                  </a:txBody>
                  <a:tcPr marL="91440" marR="91440" marT="45720" marB="45720">
                    <a:solidFill>
                      <a:srgbClr val="FFFFFF"/>
                    </a:solidFill>
                  </a:tcPr>
                </a:tc>
              </a:tr>
              <a:tr h="704850">
                <a:tc>
                  <a:txBody>
                    <a:bodyPr>
                      <a:normAutofit/>
                    </a:bodyPr>
                    <a:lstStyle/>
                    <a:p>
                      <a:r>
                        <a:rPr sz="1230">
                          <a:solidFill>
                            <a:srgbClr val="243B53"/>
                          </a:solidFill>
                          <a:latin typeface="Aptos"/>
                          <a:ea typeface="Aptos"/>
                          <a:cs typeface="Aptos"/>
                        </a:rPr>
                        <a:t>Erstkompilierung</a:t>
                      </a:r>
                    </a:p>
                  </a:txBody>
                  <a:tcPr marL="91440" marR="91440" marT="45720" marB="45720">
                    <a:solidFill>
                      <a:srgbClr val="EDF2F7"/>
                    </a:solidFill>
                  </a:tcPr>
                </a:tc>
                <a:tc>
                  <a:txBody>
                    <a:bodyPr>
                      <a:normAutofit/>
                    </a:bodyPr>
                    <a:lstStyle/>
                    <a:p>
                      <a:r>
                        <a:rPr sz="1230">
                          <a:solidFill>
                            <a:srgbClr val="243B53"/>
                          </a:solidFill>
                          <a:latin typeface="Aptos"/>
                          <a:ea typeface="Aptos"/>
                          <a:cs typeface="Aptos"/>
                        </a:rPr>
                        <a:t>nach Befüllungsphase oder Recompile mit aktueller Kardinalität möglich</a:t>
                      </a:r>
                    </a:p>
                  </a:txBody>
                  <a:tcPr marL="91440" marR="91440" marT="45720" marB="45720">
                    <a:solidFill>
                      <a:srgbClr val="EDF2F7"/>
                    </a:solidFill>
                  </a:tcPr>
                </a:tc>
                <a:tc>
                  <a:txBody>
                    <a:bodyPr>
                      <a:normAutofit/>
                    </a:bodyPr>
                    <a:lstStyle/>
                    <a:p>
                      <a:r>
                        <a:rPr sz="1230">
                          <a:solidFill>
                            <a:srgbClr val="243B53"/>
                          </a:solidFill>
                          <a:latin typeface="Aptos"/>
                          <a:ea typeface="Aptos"/>
                          <a:cs typeface="Aptos"/>
                        </a:rPr>
                        <a:t>ab CL 150: Zeilenzahl bei erster Kompilierung</a:t>
                      </a:r>
                    </a:p>
                  </a:txBody>
                  <a:tcPr marL="91440" marR="91440" marT="45720" marB="45720">
                    <a:solidFill>
                      <a:srgbClr val="EDF2F7"/>
                    </a:solidFill>
                  </a:tcPr>
                </a:tc>
              </a:tr>
              <a:tr h="704850">
                <a:tc>
                  <a:txBody>
                    <a:bodyPr>
                      <a:normAutofit/>
                    </a:bodyPr>
                    <a:lstStyle/>
                    <a:p>
                      <a:r>
                        <a:rPr sz="1230">
                          <a:solidFill>
                            <a:srgbClr val="243B53"/>
                          </a:solidFill>
                          <a:latin typeface="Aptos"/>
                          <a:ea typeface="Aptos"/>
                          <a:cs typeface="Aptos"/>
                        </a:rPr>
                        <a:t>Planwiederverwendung</a:t>
                      </a:r>
                    </a:p>
                  </a:txBody>
                  <a:tcPr marL="91440" marR="91440" marT="45720" marB="45720">
                    <a:solidFill>
                      <a:srgbClr val="FFFFFF"/>
                    </a:solidFill>
                  </a:tcPr>
                </a:tc>
                <a:tc>
                  <a:txBody>
                    <a:bodyPr>
                      <a:normAutofit/>
                    </a:bodyPr>
                    <a:lstStyle/>
                    <a:p>
                      <a:r>
                        <a:rPr sz="1230">
                          <a:solidFill>
                            <a:srgbClr val="243B53"/>
                          </a:solidFill>
                          <a:latin typeface="Aptos"/>
                          <a:ea typeface="Aptos"/>
                          <a:cs typeface="Aptos"/>
                        </a:rPr>
                        <a:t>Statistik- oder Schemaänderung kann Recompile auslösen</a:t>
                      </a:r>
                    </a:p>
                  </a:txBody>
                  <a:tcPr marL="91440" marR="91440" marT="45720" marB="45720">
                    <a:solidFill>
                      <a:srgbClr val="FFFFFF"/>
                    </a:solidFill>
                  </a:tcPr>
                </a:tc>
                <a:tc>
                  <a:txBody>
                    <a:bodyPr>
                      <a:normAutofit/>
                    </a:bodyPr>
                    <a:lstStyle/>
                    <a:p>
                      <a:r>
                        <a:rPr sz="1230">
                          <a:solidFill>
                            <a:srgbClr val="243B53"/>
                          </a:solidFill>
                          <a:latin typeface="Aptos"/>
                          <a:ea typeface="Aptos"/>
                          <a:cs typeface="Aptos"/>
                        </a:rPr>
                        <a:t>Plan kann auf erster Zeilenzahl beruhen; Verteilung bleibt unsichtbar</a:t>
                      </a:r>
                    </a:p>
                  </a:txBody>
                  <a:tcPr marL="91440" marR="91440" marT="45720" marB="45720">
                    <a:solidFill>
                      <a:srgbClr val="FFFFFF"/>
                    </a:solidFill>
                  </a:tcPr>
                </a:tc>
              </a:tr>
              <a:tr h="704850">
                <a:tc>
                  <a:txBody>
                    <a:bodyPr>
                      <a:normAutofit/>
                    </a:bodyPr>
                    <a:lstStyle/>
                    <a:p>
                      <a:r>
                        <a:rPr sz="1230">
                          <a:solidFill>
                            <a:srgbClr val="243B53"/>
                          </a:solidFill>
                          <a:latin typeface="Aptos"/>
                          <a:ea typeface="Aptos"/>
                          <a:cs typeface="Aptos"/>
                        </a:rPr>
                        <a:t>Entscheidung</a:t>
                      </a:r>
                    </a:p>
                  </a:txBody>
                  <a:tcPr marL="91440" marR="91440" marT="45720" marB="45720">
                    <a:solidFill>
                      <a:srgbClr val="EDF2F7"/>
                    </a:solidFill>
                  </a:tcPr>
                </a:tc>
                <a:tc>
                  <a:txBody>
                    <a:bodyPr>
                      <a:normAutofit/>
                    </a:bodyPr>
                    <a:lstStyle/>
                    <a:p>
                      <a:r>
                        <a:rPr sz="1230">
                          <a:solidFill>
                            <a:srgbClr val="243B53"/>
                          </a:solidFill>
                          <a:latin typeface="Aptos"/>
                          <a:ea typeface="Aptos"/>
                          <a:cs typeface="Aptos"/>
                        </a:rPr>
                        <a:t>bei schwankender Menge oder verteilungsabhängiger Optimierung prüfen</a:t>
                      </a:r>
                    </a:p>
                  </a:txBody>
                  <a:tcPr marL="91440" marR="91440" marT="45720" marB="45720">
                    <a:solidFill>
                      <a:srgbClr val="EDF2F7"/>
                    </a:solidFill>
                  </a:tcPr>
                </a:tc>
                <a:tc>
                  <a:txBody>
                    <a:bodyPr>
                      <a:normAutofit/>
                    </a:bodyPr>
                    <a:lstStyle/>
                    <a:p>
                      <a:r>
                        <a:rPr sz="1230">
                          <a:solidFill>
                            <a:srgbClr val="243B53"/>
                          </a:solidFill>
                          <a:latin typeface="Aptos"/>
                          <a:ea typeface="Aptos"/>
                          <a:cs typeface="Aptos"/>
                        </a:rPr>
                        <a:t>nicht pauschal „klein“; Plan und Messung entscheiden</a:t>
                      </a:r>
                    </a:p>
                  </a:txBody>
                  <a:tcPr marL="91440" marR="91440" marT="45720" marB="45720">
                    <a:solidFill>
                      <a:srgbClr val="EDF2F7"/>
                    </a:solidFill>
                  </a:tcPr>
                </a:tc>
              </a:tr>
            </a:tbl>
          </a:graphicData>
        </a:graphic>
      </p:graphicFrame>
    </p:spTree>
    <p:extLst>
      <p:ext uri="{BB962C8B-B14F-4D97-AF65-F5344CB8AC3E}">
        <p14:creationId xmlns:p14="http://schemas.microsoft.com/office/powerpoint/2010/main" val="1772808604"/>
      </p:ext>
    </p:extLst>
  </p:cSld>
</p:sld>
</file>

<file path=ppt/slides/slide4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8A76BCB8-FA34-473A-8575-89F0A139191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xmlns:a="http://schemas.openxmlformats.org/drawingml/2006/main">
              <a:ext uri="{FF2B5EF4-FFF2-40B4-BE49-F238E27FC236}">
                <a16:creationId xmlns:a16="http://schemas.microsoft.com/office/drawing/2014/main" id="{D82EDB75-7E75-4CD1-AA0E-9484AF7BE9D3}"/>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400" b="1" i="0">
                <a:solidFill>
                  <a:srgbClr val="102A43"/>
                </a:solidFill>
                <a:latin typeface="Aptos"/>
                <a:ea typeface="Aptos"/>
                <a:cs typeface="Aptos"/>
              </a:defRPr>
            </a:pPr>
            <a:r>
              <a:rPr sz="3400" b="1" i="0">
                <a:solidFill>
                  <a:srgbClr val="102A43"/>
                </a:solidFill>
                <a:latin typeface="Aptos"/>
                <a:ea typeface="Aptos"/>
                <a:cs typeface="Aptos"/>
              </a:rPr>
              <a:t>Optimizer-Integration hängt von Funktionsform und Eligibility ab</a:t>
            </a:r>
          </a:p>
        </p:txBody>
      </p:sp>
      <p:sp>
        <p:nvSpPr>
          <p:cNvPr id="3" name="title-rule">
            <a:extLst xmlns:a="http://schemas.openxmlformats.org/drawingml/2006/main">
              <a:ext uri="{FF2B5EF4-FFF2-40B4-BE49-F238E27FC236}">
                <a16:creationId xmlns:a16="http://schemas.microsoft.com/office/drawing/2014/main" id="{DFCE9B76-E04B-4C3F-8159-3BC041694248}"/>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084BFC0E-637B-4F86-B7F7-5EE70577450C}"/>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6FB4E9EB-CA41-428C-8BB0-FD5E9097C7DF}"/>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43 / 84</a:t>
            </a:r>
          </a:p>
        </p:txBody>
      </p:sp>
      <p:sp>
        <p:nvSpPr>
          <p:cNvPr id="6" name="left-title">
            <a:extLst xmlns:a="http://schemas.openxmlformats.org/drawingml/2006/main">
              <a:ext uri="{FF2B5EF4-FFF2-40B4-BE49-F238E27FC236}">
                <a16:creationId xmlns:a16="http://schemas.microsoft.com/office/drawing/2014/main" id="{4C2E4754-39EC-4012-962D-8DA31AB6D881}"/>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00" b="1" i="0">
                <a:solidFill>
                  <a:srgbClr val="007C83"/>
                </a:solidFill>
                <a:latin typeface="Aptos"/>
                <a:ea typeface="Aptos"/>
                <a:cs typeface="Aptos"/>
              </a:defRPr>
            </a:pPr>
            <a:r>
              <a:rPr sz="2000" b="1" i="0">
                <a:solidFill>
                  <a:srgbClr val="007C83"/>
                </a:solidFill>
                <a:latin typeface="Aptos"/>
                <a:ea typeface="Aptos"/>
                <a:cs typeface="Aptos"/>
              </a:rPr>
              <a:t>relational sichtbar</a:t>
            </a:r>
          </a:p>
        </p:txBody>
      </p:sp>
      <p:sp>
        <p:nvSpPr>
          <p:cNvPr id="7" name="right-title">
            <a:extLst xmlns:a="http://schemas.openxmlformats.org/drawingml/2006/main">
              <a:ext uri="{FF2B5EF4-FFF2-40B4-BE49-F238E27FC236}">
                <a16:creationId xmlns:a16="http://schemas.microsoft.com/office/drawing/2014/main" id="{52CF9F54-78AB-49B2-BD48-CD6F0312E5BE}"/>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00" b="1" i="0">
                <a:solidFill>
                  <a:srgbClr val="F4A261"/>
                </a:solidFill>
                <a:latin typeface="Aptos"/>
                <a:ea typeface="Aptos"/>
                <a:cs typeface="Aptos"/>
              </a:defRPr>
            </a:pPr>
            <a:r>
              <a:rPr sz="2000" b="1" i="0">
                <a:solidFill>
                  <a:srgbClr val="F4A261"/>
                </a:solidFill>
                <a:latin typeface="Aptos"/>
                <a:ea typeface="Aptos"/>
                <a:cs typeface="Aptos"/>
              </a:rPr>
              <a:t>begrenzte Sichtbarkeit</a:t>
            </a:r>
          </a:p>
        </p:txBody>
      </p:sp>
      <p:sp>
        <p:nvSpPr>
          <p:cNvPr id="8" name="middle-rule">
            <a:extLst xmlns:a="http://schemas.openxmlformats.org/drawingml/2006/main">
              <a:ext uri="{FF2B5EF4-FFF2-40B4-BE49-F238E27FC236}">
                <a16:creationId xmlns:a16="http://schemas.microsoft.com/office/drawing/2014/main" id="{C4DF8C46-7F68-410B-ADE9-6BF8149CFFC8}"/>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3BD39BB9-E2EE-489F-B22B-32E6D96B1D61}"/>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Inline TVF: Ausdruck wird in die aufrufende Query integriert</a:t>
            </a:r>
          </a:p>
          <a:p xmlns:a="http://schemas.openxmlformats.org/drawingml/2006/main">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Scalar UDF Inlining ab CL 150 – nur bei geeigneter Definition und Aufrufstelle</a:t>
            </a:r>
          </a:p>
          <a:p xmlns:a="http://schemas.openxmlformats.org/drawingml/2006/main">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Bei erfolgreichem Inlining enthält der Plan keinen UDF-Operator</a:t>
            </a:r>
          </a:p>
        </p:txBody>
      </p:sp>
      <p:sp>
        <p:nvSpPr>
          <p:cNvPr id="10" name="right-points">
            <a:extLst xmlns:a="http://schemas.openxmlformats.org/drawingml/2006/main">
              <a:ext uri="{FF2B5EF4-FFF2-40B4-BE49-F238E27FC236}">
                <a16:creationId xmlns:a16="http://schemas.microsoft.com/office/drawing/2014/main" id="{6BD131CA-2E2D-4D56-A07D-C59D682357EA}"/>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MSTVF materialisiert eine Rückgabetabelle ohne Spaltenstatistiken</a:t>
            </a:r>
          </a:p>
          <a:p xmlns:a="http://schemas.openxmlformats.org/drawingml/2006/main">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Interleaved Execution ab CL 140 kann bei geeigneten Leseabfragen die erste Kardinalität übernehmen</a:t>
            </a:r>
          </a:p>
          <a:p xmlns:a="http://schemas.openxmlformats.org/drawingml/2006/main">
            <a:pPr marL="24" indent="-14">
              <a:lnSpc>
                <a:spcPct val="112000"/>
              </a:lnSpc>
              <a:spcAft>
                <a:spcPts val="16"/>
              </a:spcAft>
              <a:buNone/>
              <a:defRPr sz="1550">
                <a:solidFill>
                  <a:srgbClr val="243B53"/>
                </a:solidFill>
                <a:latin typeface="Aptos"/>
                <a:ea typeface="Aptos"/>
                <a:cs typeface="Aptos"/>
              </a:defRPr>
            </a:pPr>
            <a:r>
              <a:rPr sz="1550">
                <a:solidFill>
                  <a:srgbClr val="243B53"/>
                </a:solidFill>
                <a:latin typeface="Aptos"/>
                <a:ea typeface="Aptos"/>
                <a:cs typeface="Aptos"/>
              </a:rPr>
              <a:t>Nicht inlinebare Scalar UDF: iterative Ausführung und verborgene Kosten möglich</a:t>
            </a:r>
          </a:p>
        </p:txBody>
      </p:sp>
      <p:sp>
        <p:nvSpPr>
          <p:cNvPr id="11" name="conclusion-bg">
            <a:extLst xmlns:a="http://schemas.openxmlformats.org/drawingml/2006/main">
              <a:ext uri="{FF2B5EF4-FFF2-40B4-BE49-F238E27FC236}">
                <a16:creationId xmlns:a16="http://schemas.microsoft.com/office/drawing/2014/main" id="{64575AE0-9248-40A5-B2EC-4136109AF8B3}"/>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A74B05CE-0847-4C40-B4B8-CA21587E6E0D}"/>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50" b="1" i="0">
                <a:solidFill>
                  <a:srgbClr val="FFFFFF"/>
                </a:solidFill>
                <a:latin typeface="Aptos"/>
                <a:ea typeface="Aptos"/>
                <a:cs typeface="Aptos"/>
              </a:defRPr>
            </a:pPr>
            <a:r>
              <a:rPr sz="1550" b="1" i="0">
                <a:solidFill>
                  <a:srgbClr val="FFFFFF"/>
                </a:solidFill>
                <a:latin typeface="Aptos"/>
                <a:ea typeface="Aptos"/>
                <a:cs typeface="Aptos"/>
              </a:rPr>
              <a:t>is_inlineable ist nur ein Hinweis: Actual Plan und Voraussetzungen entscheiden.</a:t>
            </a:r>
          </a:p>
        </p:txBody>
      </p:sp>
    </p:spTree>
    <p:extLst>
      <p:ext uri="{BB962C8B-B14F-4D97-AF65-F5344CB8AC3E}">
        <p14:creationId xmlns:p14="http://schemas.microsoft.com/office/powerpoint/2010/main" val="1267954733"/>
      </p:ext>
    </p:extLst>
  </p:cSld>
</p:sld>
</file>

<file path=ppt/slides/slide4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62601014-A6B7-4A28-AA39-06705BDE227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xmlns:a="http://schemas.openxmlformats.org/drawingml/2006/main">
              <a:ext uri="{FF2B5EF4-FFF2-40B4-BE49-F238E27FC236}">
                <a16:creationId xmlns:a16="http://schemas.microsoft.com/office/drawing/2014/main" id="{00D61008-1C3D-4B37-A839-5C55999D3C04}"/>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Partition Elimination reduziert nur dann Arbeit, wenn der Partition Key ableitbar ist</a:t>
            </a:r>
          </a:p>
        </p:txBody>
      </p:sp>
      <p:sp>
        <p:nvSpPr>
          <p:cNvPr id="3" name="title-rule">
            <a:extLst xmlns:a="http://schemas.openxmlformats.org/drawingml/2006/main">
              <a:ext uri="{FF2B5EF4-FFF2-40B4-BE49-F238E27FC236}">
                <a16:creationId xmlns:a16="http://schemas.microsoft.com/office/drawing/2014/main" id="{21FD100E-DB40-4A04-82B3-E12DC4C4AAA6}"/>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02D33CFB-CD4F-40CD-AED6-2D48889807DB}"/>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507BA86C-5C07-4E00-83DC-BEF48F27187B}"/>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44 / 84</a:t>
            </a:r>
          </a:p>
        </p:txBody>
      </p:sp>
      <p:sp>
        <p:nvSpPr>
          <p:cNvPr id="6" name="lead">
            <a:extLst xmlns:a="http://schemas.openxmlformats.org/drawingml/2006/main">
              <a:ext uri="{FF2B5EF4-FFF2-40B4-BE49-F238E27FC236}">
                <a16:creationId xmlns:a16="http://schemas.microsoft.com/office/drawing/2014/main" id="{EE2427C4-987C-46D2-932D-D6D59726A3AA}"/>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Die Query muss statisch oder dynamisch erkennen lassen, welche Partitionen relevant sind.</a:t>
            </a:r>
          </a:p>
        </p:txBody>
      </p:sp>
      <p:sp>
        <p:nvSpPr>
          <p:cNvPr id="7" name="lead-accent">
            <a:extLst xmlns:a="http://schemas.openxmlformats.org/drawingml/2006/main">
              <a:ext uri="{FF2B5EF4-FFF2-40B4-BE49-F238E27FC236}">
                <a16:creationId xmlns:a16="http://schemas.microsoft.com/office/drawing/2014/main" id="{9AE2E6F1-1A36-4F7E-924C-62545D2192D6}"/>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4A0CA832-E657-4AA4-89BF-2DDCA501B2E5}"/>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Prädikat auf kompatiblem Partition Key</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keine verdeckende Konvertierung oder ungeeignete Funktion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Actual Plan und Partition-Range-Eigenschaften prüfen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Partitionierung bleibt primär Management und Datenlebenszyklus</a:t>
            </a:r>
          </a:p>
        </p:txBody>
      </p:sp>
    </p:spTree>
    <p:extLst>
      <p:ext uri="{BB962C8B-B14F-4D97-AF65-F5344CB8AC3E}">
        <p14:creationId xmlns:p14="http://schemas.microsoft.com/office/powerpoint/2010/main" val="1099886790"/>
      </p:ext>
    </p:extLst>
  </p:cSld>
</p:sld>
</file>

<file path=ppt/slides/slide4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DE01ACB0-F582-467A-945D-ECE839D61EA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xmlns:a="http://schemas.openxmlformats.org/drawingml/2006/main">
              <a:ext uri="{FF2B5EF4-FFF2-40B4-BE49-F238E27FC236}">
                <a16:creationId xmlns:a16="http://schemas.microsoft.com/office/drawing/2014/main" id="{86D8BC28-8C00-417B-A0D2-A2BF0FFD2B1B}"/>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43"/>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Remote Queries sind nur dann effizient, wenn Filter und Joins tatsächlich remote ausgeführt werden</a:t>
            </a:r>
          </a:p>
        </p:txBody>
      </p:sp>
      <p:sp>
        <p:nvSpPr>
          <p:cNvPr id="3" name="title-rule">
            <a:extLst xmlns:a="http://schemas.openxmlformats.org/drawingml/2006/main">
              <a:ext uri="{FF2B5EF4-FFF2-40B4-BE49-F238E27FC236}">
                <a16:creationId xmlns:a16="http://schemas.microsoft.com/office/drawing/2014/main" id="{3DA07C60-9161-4708-8C3C-E1DD04224454}"/>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971D24BC-14C3-43DD-8B1E-48D0877D828A}"/>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E25C07B2-ADA3-42D9-8DC5-88DA040EEB22}"/>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45 / 84</a:t>
            </a:r>
          </a:p>
        </p:txBody>
      </p:sp>
      <p:sp>
        <p:nvSpPr>
          <p:cNvPr id="6" name="left-title">
            <a:extLst xmlns:a="http://schemas.openxmlformats.org/drawingml/2006/main">
              <a:ext uri="{FF2B5EF4-FFF2-40B4-BE49-F238E27FC236}">
                <a16:creationId xmlns:a16="http://schemas.microsoft.com/office/drawing/2014/main" id="{8AEB363C-531A-41D2-B12E-DDFC4F2FCF76}"/>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gewünschtes Verhalten</a:t>
            </a:r>
          </a:p>
        </p:txBody>
      </p:sp>
      <p:sp>
        <p:nvSpPr>
          <p:cNvPr id="7" name="right-title">
            <a:extLst xmlns:a="http://schemas.openxmlformats.org/drawingml/2006/main">
              <a:ext uri="{FF2B5EF4-FFF2-40B4-BE49-F238E27FC236}">
                <a16:creationId xmlns:a16="http://schemas.microsoft.com/office/drawing/2014/main" id="{E649336A-59A8-48FF-B422-C67BD4A0413F}"/>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Risiko</a:t>
            </a:r>
          </a:p>
        </p:txBody>
      </p:sp>
      <p:sp>
        <p:nvSpPr>
          <p:cNvPr id="8" name="middle-rule">
            <a:extLst xmlns:a="http://schemas.openxmlformats.org/drawingml/2006/main">
              <a:ext uri="{FF2B5EF4-FFF2-40B4-BE49-F238E27FC236}">
                <a16:creationId xmlns:a16="http://schemas.microsoft.com/office/drawing/2014/main" id="{C14E7CE4-1B1E-4684-A234-5121ED9D0CB6}"/>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10DEDA05-DD6E-4DC6-BB6D-DDB1B5C1E5D5}"/>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Predicate Pushdown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kleines Resultset über das Netzwerk</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Remote Query im Plan nachvollziehbar</a:t>
            </a:r>
          </a:p>
        </p:txBody>
      </p:sp>
      <p:sp>
        <p:nvSpPr>
          <p:cNvPr id="10" name="right-points">
            <a:extLst xmlns:a="http://schemas.openxmlformats.org/drawingml/2006/main">
              <a:ext uri="{FF2B5EF4-FFF2-40B4-BE49-F238E27FC236}">
                <a16:creationId xmlns:a16="http://schemas.microsoft.com/office/drawing/2014/main" id="{9543A1E3-40F0-4F5F-BB68-637216AF765B}"/>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große Datenmenge lokal gefiltert</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Provider- und Collationgrenzen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zeilenweiser Roundtrip</a:t>
            </a:r>
          </a:p>
        </p:txBody>
      </p:sp>
      <p:sp>
        <p:nvSpPr>
          <p:cNvPr id="11" name="conclusion-bg">
            <a:extLst xmlns:a="http://schemas.openxmlformats.org/drawingml/2006/main">
              <a:ext uri="{FF2B5EF4-FFF2-40B4-BE49-F238E27FC236}">
                <a16:creationId xmlns:a16="http://schemas.microsoft.com/office/drawing/2014/main" id="{EE552A24-B0B9-4006-BFE2-C4CF4B5360A5}"/>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C684A994-5B68-4B3D-A7D6-E07EBA11CA05}"/>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Nicht aus Syntax auf Pushdown schließen – Plan und Netzwerkmengen messen.</a:t>
            </a:r>
          </a:p>
        </p:txBody>
      </p:sp>
    </p:spTree>
    <p:extLst>
      <p:ext uri="{BB962C8B-B14F-4D97-AF65-F5344CB8AC3E}">
        <p14:creationId xmlns:p14="http://schemas.microsoft.com/office/powerpoint/2010/main" val="349744189"/>
      </p:ext>
    </p:extLst>
  </p:cSld>
</p:sld>
</file>

<file path=ppt/slides/slide4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C491C796-9C3E-4560-B5EA-73661663406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3 · QUERY PATTERNS</a:t>
            </a:r>
          </a:p>
        </p:txBody>
      </p:sp>
      <p:sp>
        <p:nvSpPr>
          <p:cNvPr id="2" name="slide-title">
            <a:extLst xmlns:a="http://schemas.openxmlformats.org/drawingml/2006/main">
              <a:ext uri="{FF2B5EF4-FFF2-40B4-BE49-F238E27FC236}">
                <a16:creationId xmlns:a16="http://schemas.microsoft.com/office/drawing/2014/main" id="{BBCB976E-8832-4B71-8B44-942B12B0BF8E}"/>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Datenmodell und Datentypen bestimmen die Obergrenze jeder späteren Optimierung</a:t>
            </a:r>
          </a:p>
        </p:txBody>
      </p:sp>
      <p:sp>
        <p:nvSpPr>
          <p:cNvPr id="3" name="title-rule">
            <a:extLst xmlns:a="http://schemas.openxmlformats.org/drawingml/2006/main">
              <a:ext uri="{FF2B5EF4-FFF2-40B4-BE49-F238E27FC236}">
                <a16:creationId xmlns:a16="http://schemas.microsoft.com/office/drawing/2014/main" id="{0B546083-ECDA-4273-A893-69BA148376AF}"/>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0BBCD30B-1C00-44DC-BCA0-8869F927AA34}"/>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69D8F02D-94EE-45A8-8176-FB8C7B54A564}"/>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46 / 84</a:t>
            </a:r>
          </a:p>
        </p:txBody>
      </p:sp>
      <p:sp>
        <p:nvSpPr>
          <p:cNvPr id="6" name="lead">
            <a:extLst xmlns:a="http://schemas.openxmlformats.org/drawingml/2006/main">
              <a:ext uri="{FF2B5EF4-FFF2-40B4-BE49-F238E27FC236}">
                <a16:creationId xmlns:a16="http://schemas.microsoft.com/office/drawing/2014/main" id="{FCF7A621-C761-4B98-AEE4-2027322A7066}"/>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Schlüsselbreite, NULLability, Stringtypen und Normalisierung wirken auf Rows, Indizes, Joins und Grants.</a:t>
            </a:r>
          </a:p>
        </p:txBody>
      </p:sp>
      <p:sp>
        <p:nvSpPr>
          <p:cNvPr id="7" name="lead-accent">
            <a:extLst xmlns:a="http://schemas.openxmlformats.org/drawingml/2006/main">
              <a:ext uri="{FF2B5EF4-FFF2-40B4-BE49-F238E27FC236}">
                <a16:creationId xmlns:a16="http://schemas.microsoft.com/office/drawing/2014/main" id="{DD221E6A-2348-49B2-A76A-00845CD4F1B5}"/>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A3A43633-0AE1-4FDF-B411-735DEA3029BE}"/>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kleinster fachlich korrekter Datentyp</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gleiche Typen an Join- und Filtergrenzen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Constraints als Daten- und Optimizervertrag</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berechnete Werte nur mit klarer Persistenz- und Indexstrategie</a:t>
            </a:r>
          </a:p>
        </p:txBody>
      </p:sp>
    </p:spTree>
    <p:extLst>
      <p:ext uri="{BB962C8B-B14F-4D97-AF65-F5344CB8AC3E}">
        <p14:creationId xmlns:p14="http://schemas.microsoft.com/office/powerpoint/2010/main" val="2041464664"/>
      </p:ext>
    </p:extLst>
  </p:cSld>
</p:sld>
</file>

<file path=ppt/slides/slide47.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module">
            <a:extLst xmlns:a="http://schemas.openxmlformats.org/drawingml/2006/main">
              <a:ext uri="{FF2B5EF4-FFF2-40B4-BE49-F238E27FC236}">
                <a16:creationId xmlns:a16="http://schemas.microsoft.com/office/drawing/2014/main" id="{A662741A-CF77-4BBA-A890-77A86041DBFD}"/>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3 · WISSENSKONTROLLE</a:t>
            </a:r>
          </a:p>
        </p:txBody>
      </p:sp>
      <p:sp>
        <p:nvSpPr>
          <p:cNvPr id="2" name="question">
            <a:extLst xmlns:a="http://schemas.openxmlformats.org/drawingml/2006/main">
              <a:ext uri="{FF2B5EF4-FFF2-40B4-BE49-F238E27FC236}">
                <a16:creationId xmlns:a16="http://schemas.microsoft.com/office/drawing/2014/main" id="{C5C7477D-29D0-4297-926A-9626D633C2CB}"/>
              </a:ext>
            </a:extLst>
          </p:cNvPr>
          <p:cNvSpPr>
            <a:spLocks xmlns:a="http://schemas.openxmlformats.org/drawingml/2006/main" noGrp="1"/>
          </p:cNvSpPr>
          <p:nvPr/>
        </p:nvSpPr>
        <p:spPr>
          <a:xfrm xmlns:a="http://schemas.openxmlformats.org/drawingml/2006/main">
            <a:off x="609600" y="1219200"/>
            <a:ext cx="990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Warum kann ein 'sargables' Prädikat trotzdem zu einem Scan führen?</a:t>
            </a:r>
          </a:p>
        </p:txBody>
      </p:sp>
      <p:sp>
        <p:nvSpPr>
          <p:cNvPr id="3" name="question-rule">
            <a:extLst xmlns:a="http://schemas.openxmlformats.org/drawingml/2006/main">
              <a:ext uri="{FF2B5EF4-FFF2-40B4-BE49-F238E27FC236}">
                <a16:creationId xmlns:a16="http://schemas.microsoft.com/office/drawing/2014/main" id="{9042CC7E-F7CC-4F46-80A8-BFB7A0C74FA4}"/>
              </a:ext>
            </a:extLst>
          </p:cNvPr>
          <p:cNvSpPr>
            <a:spLocks xmlns:a="http://schemas.openxmlformats.org/drawingml/2006/main" noGrp="1"/>
          </p:cNvSpPr>
          <p:nvPr/>
        </p:nvSpPr>
        <p:spPr>
          <a:xfrm xmlns:a="http://schemas.openxmlformats.org/drawingml/2006/main">
            <a:off x="609600" y="3048000"/>
            <a:ext cx="106680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4" name="prompt-num-0">
            <a:extLst xmlns:a="http://schemas.openxmlformats.org/drawingml/2006/main">
              <a:ext uri="{FF2B5EF4-FFF2-40B4-BE49-F238E27FC236}">
                <a16:creationId xmlns:a16="http://schemas.microsoft.com/office/drawing/2014/main" id="{B984CCD8-F78F-4B27-9081-001BFC544B8B}"/>
              </a:ext>
            </a:extLst>
          </p:cNvPr>
          <p:cNvSpPr>
            <a:spLocks xmlns:a="http://schemas.openxmlformats.org/drawingml/2006/main" noGrp="1"/>
          </p:cNvSpPr>
          <p:nvPr/>
        </p:nvSpPr>
        <p:spPr>
          <a:xfrm xmlns:a="http://schemas.openxmlformats.org/drawingml/2006/main">
            <a:off x="66675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xmlns:a="http://schemas.openxmlformats.org/drawingml/2006/main">
              <a:ext uri="{FF2B5EF4-FFF2-40B4-BE49-F238E27FC236}">
                <a16:creationId xmlns:a16="http://schemas.microsoft.com/office/drawing/2014/main" id="{533D639C-D006-4DCC-918B-872CBB190BD5}"/>
              </a:ext>
            </a:extLst>
          </p:cNvPr>
          <p:cNvSpPr>
            <a:spLocks xmlns:a="http://schemas.openxmlformats.org/drawingml/2006/main" noGrp="1"/>
          </p:cNvSpPr>
          <p:nvPr/>
        </p:nvSpPr>
        <p:spPr>
          <a:xfrm xmlns:a="http://schemas.openxmlformats.org/drawingml/2006/main">
            <a:off x="125730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geringe Selektivität</a:t>
            </a:r>
          </a:p>
        </p:txBody>
      </p:sp>
      <p:sp>
        <p:nvSpPr>
          <p:cNvPr id="6" name="prompt-num-1">
            <a:extLst xmlns:a="http://schemas.openxmlformats.org/drawingml/2006/main">
              <a:ext uri="{FF2B5EF4-FFF2-40B4-BE49-F238E27FC236}">
                <a16:creationId xmlns:a16="http://schemas.microsoft.com/office/drawing/2014/main" id="{8C06E1AD-8B43-43CE-82F8-002698C258D6}"/>
              </a:ext>
            </a:extLst>
          </p:cNvPr>
          <p:cNvSpPr>
            <a:spLocks xmlns:a="http://schemas.openxmlformats.org/drawingml/2006/main" noGrp="1"/>
          </p:cNvSpPr>
          <p:nvPr/>
        </p:nvSpPr>
        <p:spPr>
          <a:xfrm xmlns:a="http://schemas.openxmlformats.org/drawingml/2006/main">
            <a:off x="609600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xmlns:a="http://schemas.openxmlformats.org/drawingml/2006/main">
              <a:ext uri="{FF2B5EF4-FFF2-40B4-BE49-F238E27FC236}">
                <a16:creationId xmlns:a16="http://schemas.microsoft.com/office/drawing/2014/main" id="{798BB786-9C21-492A-B0EA-16B7CDE86DF1}"/>
              </a:ext>
            </a:extLst>
          </p:cNvPr>
          <p:cNvSpPr>
            <a:spLocks xmlns:a="http://schemas.openxmlformats.org/drawingml/2006/main" noGrp="1"/>
          </p:cNvSpPr>
          <p:nvPr/>
        </p:nvSpPr>
        <p:spPr>
          <a:xfrm xmlns:a="http://schemas.openxmlformats.org/drawingml/2006/main">
            <a:off x="668655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Lookup-Kosten</a:t>
            </a:r>
          </a:p>
        </p:txBody>
      </p:sp>
      <p:sp>
        <p:nvSpPr>
          <p:cNvPr id="8" name="prompt-num-2">
            <a:extLst xmlns:a="http://schemas.openxmlformats.org/drawingml/2006/main">
              <a:ext uri="{FF2B5EF4-FFF2-40B4-BE49-F238E27FC236}">
                <a16:creationId xmlns:a16="http://schemas.microsoft.com/office/drawing/2014/main" id="{8AA5D672-48E9-4233-BD8F-9C20F209D877}"/>
              </a:ext>
            </a:extLst>
          </p:cNvPr>
          <p:cNvSpPr>
            <a:spLocks xmlns:a="http://schemas.openxmlformats.org/drawingml/2006/main" noGrp="1"/>
          </p:cNvSpPr>
          <p:nvPr/>
        </p:nvSpPr>
        <p:spPr>
          <a:xfrm xmlns:a="http://schemas.openxmlformats.org/drawingml/2006/main">
            <a:off x="66675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xmlns:a="http://schemas.openxmlformats.org/drawingml/2006/main">
              <a:ext uri="{FF2B5EF4-FFF2-40B4-BE49-F238E27FC236}">
                <a16:creationId xmlns:a16="http://schemas.microsoft.com/office/drawing/2014/main" id="{3A429B29-A273-4A8D-8CDC-FCAC0C14785D}"/>
              </a:ext>
            </a:extLst>
          </p:cNvPr>
          <p:cNvSpPr>
            <a:spLocks xmlns:a="http://schemas.openxmlformats.org/drawingml/2006/main" noGrp="1"/>
          </p:cNvSpPr>
          <p:nvPr/>
        </p:nvSpPr>
        <p:spPr>
          <a:xfrm xmlns:a="http://schemas.openxmlformats.org/drawingml/2006/main">
            <a:off x="125730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fehlende Coverage</a:t>
            </a:r>
          </a:p>
        </p:txBody>
      </p:sp>
      <p:sp>
        <p:nvSpPr>
          <p:cNvPr id="10" name="prompt-num-3">
            <a:extLst xmlns:a="http://schemas.openxmlformats.org/drawingml/2006/main">
              <a:ext uri="{FF2B5EF4-FFF2-40B4-BE49-F238E27FC236}">
                <a16:creationId xmlns:a16="http://schemas.microsoft.com/office/drawing/2014/main" id="{3C624CDE-6AAA-4196-815E-71CFE9041D3A}"/>
              </a:ext>
            </a:extLst>
          </p:cNvPr>
          <p:cNvSpPr>
            <a:spLocks xmlns:a="http://schemas.openxmlformats.org/drawingml/2006/main" noGrp="1"/>
          </p:cNvSpPr>
          <p:nvPr/>
        </p:nvSpPr>
        <p:spPr>
          <a:xfrm xmlns:a="http://schemas.openxmlformats.org/drawingml/2006/main">
            <a:off x="609600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xmlns:a="http://schemas.openxmlformats.org/drawingml/2006/main">
              <a:ext uri="{FF2B5EF4-FFF2-40B4-BE49-F238E27FC236}">
                <a16:creationId xmlns:a16="http://schemas.microsoft.com/office/drawing/2014/main" id="{95539D6A-585F-461C-B809-C64D7843E42B}"/>
              </a:ext>
            </a:extLst>
          </p:cNvPr>
          <p:cNvSpPr>
            <a:spLocks xmlns:a="http://schemas.openxmlformats.org/drawingml/2006/main" noGrp="1"/>
          </p:cNvSpPr>
          <p:nvPr/>
        </p:nvSpPr>
        <p:spPr>
          <a:xfrm xmlns:a="http://schemas.openxmlformats.org/drawingml/2006/main">
            <a:off x="668655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Kardinalitäts- oder Kostenentscheidung</a:t>
            </a:r>
          </a:p>
        </p:txBody>
      </p:sp>
      <p:sp>
        <p:nvSpPr>
          <p:cNvPr id="12" name="question-footer">
            <a:extLst xmlns:a="http://schemas.openxmlformats.org/drawingml/2006/main">
              <a:ext uri="{FF2B5EF4-FFF2-40B4-BE49-F238E27FC236}">
                <a16:creationId xmlns:a16="http://schemas.microsoft.com/office/drawing/2014/main" id="{CE185D9E-93EC-44CC-B022-0DC6F327CA5E}"/>
              </a:ext>
            </a:extLst>
          </p:cNvPr>
          <p:cNvSpPr>
            <a:spLocks xmlns:a="http://schemas.openxmlformats.org/drawingml/2006/main" noGrp="1"/>
          </p:cNvSpPr>
          <p:nvPr/>
        </p:nvSpPr>
        <p:spPr>
          <a:xfrm xmlns:a="http://schemas.openxmlformats.org/drawingml/2006/main">
            <a:off x="10287000" y="64389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47 / 84</a:t>
            </a:r>
          </a:p>
        </p:txBody>
      </p:sp>
    </p:spTree>
    <p:extLst>
      <p:ext uri="{BB962C8B-B14F-4D97-AF65-F5344CB8AC3E}">
        <p14:creationId xmlns:p14="http://schemas.microsoft.com/office/powerpoint/2010/main" val="904239536"/>
      </p:ext>
    </p:extLst>
  </p:cSld>
</p:sld>
</file>

<file path=ppt/slides/slide48.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section-number">
            <a:extLst xmlns:a="http://schemas.openxmlformats.org/drawingml/2006/main">
              <a:ext uri="{FF2B5EF4-FFF2-40B4-BE49-F238E27FC236}">
                <a16:creationId xmlns:a16="http://schemas.microsoft.com/office/drawing/2014/main" id="{790A064D-EFD1-40A0-A3D0-28B5967C3415}"/>
              </a:ext>
            </a:extLst>
          </p:cNvPr>
          <p:cNvSpPr>
            <a:spLocks xmlns:a="http://schemas.openxmlformats.org/drawingml/2006/main" noGrp="1"/>
          </p:cNvSpPr>
          <p:nvPr/>
        </p:nvSpPr>
        <p:spPr>
          <a:xfrm xmlns:a="http://schemas.openxmlformats.org/drawingml/2006/main">
            <a:off x="628650" y="60960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04</a:t>
            </a:r>
          </a:p>
        </p:txBody>
      </p:sp>
      <p:sp>
        <p:nvSpPr>
          <p:cNvPr id="2" name="section-rule">
            <a:extLst xmlns:a="http://schemas.openxmlformats.org/drawingml/2006/main">
              <a:ext uri="{FF2B5EF4-FFF2-40B4-BE49-F238E27FC236}">
                <a16:creationId xmlns:a16="http://schemas.microsoft.com/office/drawing/2014/main" id="{AF111ABC-0789-4C8B-AAFE-104C73F3BCA4}"/>
              </a:ext>
            </a:extLst>
          </p:cNvPr>
          <p:cNvSpPr>
            <a:spLocks xmlns:a="http://schemas.openxmlformats.org/drawingml/2006/main" noGrp="1"/>
          </p:cNvSpPr>
          <p:nvPr/>
        </p:nvSpPr>
        <p:spPr>
          <a:xfrm xmlns:a="http://schemas.openxmlformats.org/drawingml/2006/main">
            <a:off x="628650" y="2228850"/>
            <a:ext cx="109347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3" name="section-title">
            <a:extLst xmlns:a="http://schemas.openxmlformats.org/drawingml/2006/main">
              <a:ext uri="{FF2B5EF4-FFF2-40B4-BE49-F238E27FC236}">
                <a16:creationId xmlns:a16="http://schemas.microsoft.com/office/drawing/2014/main" id="{074F93B1-9A2E-4B0D-A378-D1A8A89A26F6}"/>
              </a:ext>
            </a:extLst>
          </p:cNvPr>
          <p:cNvSpPr>
            <a:spLocks xmlns:a="http://schemas.openxmlformats.org/drawingml/2006/main" noGrp="1"/>
          </p:cNvSpPr>
          <p:nvPr/>
        </p:nvSpPr>
        <p:spPr>
          <a:xfrm xmlns:a="http://schemas.openxmlformats.org/drawingml/2006/main">
            <a:off x="628650" y="27051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82"/>
          </a:bodyPr>
          <a:lstStyle xmlns:a="http://schemas.openxmlformats.org/drawingml/2006/main"/>
          <a:p xmlns:a="http://schemas.openxmlformats.org/drawingml/2006/main">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Rowstore- und Columnstore-Indizes</a:t>
            </a:r>
          </a:p>
        </p:txBody>
      </p:sp>
      <p:sp>
        <p:nvSpPr>
          <p:cNvPr id="4" name="section-subtitle">
            <a:extLst xmlns:a="http://schemas.openxmlformats.org/drawingml/2006/main">
              <a:ext uri="{FF2B5EF4-FFF2-40B4-BE49-F238E27FC236}">
                <a16:creationId xmlns:a16="http://schemas.microsoft.com/office/drawing/2014/main" id="{034E8374-5A04-473E-A9D5-9609D290D780}"/>
              </a:ext>
            </a:extLst>
          </p:cNvPr>
          <p:cNvSpPr>
            <a:spLocks xmlns:a="http://schemas.openxmlformats.org/drawingml/2006/main" noGrp="1"/>
          </p:cNvSpPr>
          <p:nvPr/>
        </p:nvSpPr>
        <p:spPr>
          <a:xfrm xmlns:a="http://schemas.openxmlformats.org/drawingml/2006/main">
            <a:off x="628650" y="400050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Welche Zugriffspfade beschleunigen Reads, ohne Writes und Betriebskosten zu ignorieren?</a:t>
            </a:r>
          </a:p>
        </p:txBody>
      </p:sp>
      <p:sp>
        <p:nvSpPr>
          <p:cNvPr id="5" name="section-footer">
            <a:extLst xmlns:a="http://schemas.openxmlformats.org/drawingml/2006/main">
              <a:ext uri="{FF2B5EF4-FFF2-40B4-BE49-F238E27FC236}">
                <a16:creationId xmlns:a16="http://schemas.microsoft.com/office/drawing/2014/main" id="{50B11077-7390-46EE-A8AF-29D475163B90}"/>
              </a:ext>
            </a:extLst>
          </p:cNvPr>
          <p:cNvSpPr>
            <a:spLocks xmlns:a="http://schemas.openxmlformats.org/drawingml/2006/main" noGrp="1"/>
          </p:cNvSpPr>
          <p:nvPr/>
        </p:nvSpPr>
        <p:spPr>
          <a:xfrm xmlns:a="http://schemas.openxmlformats.org/drawingml/2006/main">
            <a:off x="628650" y="64198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61730463"/>
      </p:ext>
    </p:extLst>
  </p:cSld>
</p:sld>
</file>

<file path=ppt/slides/slide4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8EAC4242-642F-4D19-8980-DFCF447EC74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7DD274DD-1F99-46C2-81AA-BBF34488A054}"/>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Heap und Clustered Index unterscheiden sich im Row Locator und in der Ordnung</a:t>
            </a:r>
          </a:p>
        </p:txBody>
      </p:sp>
      <p:sp>
        <p:nvSpPr>
          <p:cNvPr id="3" name="title-rule">
            <a:extLst xmlns:a="http://schemas.openxmlformats.org/drawingml/2006/main">
              <a:ext uri="{FF2B5EF4-FFF2-40B4-BE49-F238E27FC236}">
                <a16:creationId xmlns:a16="http://schemas.microsoft.com/office/drawing/2014/main" id="{FBA4FC7A-1A43-4D57-9067-6D73FF888D4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7739E957-9E79-4A0F-9153-DDFF7DE5B511}"/>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757E0F5B-BC79-49FC-986A-30C1852485B4}"/>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49 / 84</a:t>
            </a:r>
          </a:p>
        </p:txBody>
      </p:sp>
      <p:sp>
        <p:nvSpPr>
          <p:cNvPr id="6" name="left-title">
            <a:extLst xmlns:a="http://schemas.openxmlformats.org/drawingml/2006/main">
              <a:ext uri="{FF2B5EF4-FFF2-40B4-BE49-F238E27FC236}">
                <a16:creationId xmlns:a16="http://schemas.microsoft.com/office/drawing/2014/main" id="{AD015E3E-755B-48C2-B7A5-BC26A920BEF3}"/>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Heap</a:t>
            </a:r>
          </a:p>
        </p:txBody>
      </p:sp>
      <p:sp>
        <p:nvSpPr>
          <p:cNvPr id="7" name="right-title">
            <a:extLst xmlns:a="http://schemas.openxmlformats.org/drawingml/2006/main">
              <a:ext uri="{FF2B5EF4-FFF2-40B4-BE49-F238E27FC236}">
                <a16:creationId xmlns:a16="http://schemas.microsoft.com/office/drawing/2014/main" id="{7D949FB4-F674-4F7C-A013-133FE193F277}"/>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Clustered Index</a:t>
            </a:r>
          </a:p>
        </p:txBody>
      </p:sp>
      <p:sp>
        <p:nvSpPr>
          <p:cNvPr id="8" name="middle-rule">
            <a:extLst xmlns:a="http://schemas.openxmlformats.org/drawingml/2006/main">
              <a:ext uri="{FF2B5EF4-FFF2-40B4-BE49-F238E27FC236}">
                <a16:creationId xmlns:a16="http://schemas.microsoft.com/office/drawing/2014/main" id="{6C83C2D0-7830-4079-BA3C-7D94506C39D0}"/>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00BDA715-05FB-4FCC-B26F-B75AB4A05686}"/>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keine B+Tree-Ordnung der Datenpages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RID als Locator für Nonclustered Index</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Forwarded Records bei Row-Vergrößerung möglich</a:t>
            </a:r>
          </a:p>
        </p:txBody>
      </p:sp>
      <p:sp>
        <p:nvSpPr>
          <p:cNvPr id="10" name="right-points">
            <a:extLst xmlns:a="http://schemas.openxmlformats.org/drawingml/2006/main">
              <a:ext uri="{FF2B5EF4-FFF2-40B4-BE49-F238E27FC236}">
                <a16:creationId xmlns:a16="http://schemas.microsoft.com/office/drawing/2014/main" id="{E9E62343-97C1-46C4-BDAD-6FC33BD380FE}"/>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Leaf Level enthält alle Datenzeilen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Clustering Key ist Locator in Nonclustered Indexes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genau ein Clustered Index je Tabelle</a:t>
            </a:r>
          </a:p>
        </p:txBody>
      </p:sp>
      <p:sp>
        <p:nvSpPr>
          <p:cNvPr id="11" name="conclusion-bg">
            <a:extLst xmlns:a="http://schemas.openxmlformats.org/drawingml/2006/main">
              <a:ext uri="{FF2B5EF4-FFF2-40B4-BE49-F238E27FC236}">
                <a16:creationId xmlns:a16="http://schemas.microsoft.com/office/drawing/2014/main" id="{8350A813-4A12-46CE-B2EC-07A1682356C5}"/>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313EC871-A90C-428B-8FF1-BE7F34486CEC}"/>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Ein Heap ist nicht automatisch langsam; Zugriffsmuster und DML-Verhalten entscheiden.</a:t>
            </a:r>
          </a:p>
        </p:txBody>
      </p:sp>
    </p:spTree>
    <p:extLst>
      <p:ext uri="{BB962C8B-B14F-4D97-AF65-F5344CB8AC3E}">
        <p14:creationId xmlns:p14="http://schemas.microsoft.com/office/powerpoint/2010/main" val="196542843"/>
      </p:ext>
    </p:extLst>
  </p:cSld>
</p:sld>
</file>

<file path=ppt/slides/slide5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2AE37653-A24A-407A-86BC-41DFC97227D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6ECFB4F8-E6CD-493A-A2A9-40070BCB625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Rowstore-Indizes sind B+Trees mit Root, Intermediate und Leaf Level</a:t>
            </a:r>
          </a:p>
        </p:txBody>
      </p:sp>
      <p:sp>
        <p:nvSpPr>
          <p:cNvPr id="3" name="title-rule">
            <a:extLst xmlns:a="http://schemas.openxmlformats.org/drawingml/2006/main">
              <a:ext uri="{FF2B5EF4-FFF2-40B4-BE49-F238E27FC236}">
                <a16:creationId xmlns:a16="http://schemas.microsoft.com/office/drawing/2014/main" id="{75FB8E5D-FA5A-4720-BD62-86DB96A7BB75}"/>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5D6C55C6-F875-46B6-922C-65B243FE1662}"/>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4E411061-1A86-45DD-8326-410EA8F67750}"/>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50 / 84</a:t>
            </a:r>
          </a:p>
        </p:txBody>
      </p:sp>
      <p:sp>
        <p:nvSpPr>
          <p:cNvPr id="6" name="bt-root">
            <a:extLst xmlns:a="http://schemas.openxmlformats.org/drawingml/2006/main">
              <a:ext uri="{FF2B5EF4-FFF2-40B4-BE49-F238E27FC236}">
                <a16:creationId xmlns:a16="http://schemas.microsoft.com/office/drawing/2014/main" id="{CB6E1BBC-0AC4-4F25-895B-C22886B14BB8}"/>
              </a:ext>
            </a:extLst>
          </p:cNvPr>
          <p:cNvSpPr>
            <a:spLocks xmlns:a="http://schemas.openxmlformats.org/drawingml/2006/main" noGrp="1"/>
          </p:cNvSpPr>
          <p:nvPr/>
        </p:nvSpPr>
        <p:spPr>
          <a:xfrm xmlns:a="http://schemas.openxmlformats.org/drawingml/2006/main">
            <a:off x="4953000" y="2209800"/>
            <a:ext cx="2286000" cy="704850"/>
          </a:xfrm>
          <a:prstGeom xmlns:a="http://schemas.openxmlformats.org/drawingml/2006/main" prst="roundRect">
            <a:avLst>
              <a:gd name="adj" fmla="val 10811"/>
            </a:avLst>
          </a:prstGeom>
          <a:solidFill xmlns:a="http://schemas.openxmlformats.org/drawingml/2006/main">
            <a:srgbClr val="0B1F33"/>
          </a:solidFill>
          <a:ln xmlns:a="http://schemas.openxmlformats.org/drawingml/2006/main" w="9525">
            <a:solidFill>
              <a:srgbClr val="D9E2EC"/>
            </a:solidFill>
            <a:prstDash val="solid"/>
          </a:ln>
        </p:spPr>
      </p:sp>
      <p:sp>
        <p:nvSpPr>
          <p:cNvPr id="7" name="bt-root-text">
            <a:extLst xmlns:a="http://schemas.openxmlformats.org/drawingml/2006/main">
              <a:ext uri="{FF2B5EF4-FFF2-40B4-BE49-F238E27FC236}">
                <a16:creationId xmlns:a16="http://schemas.microsoft.com/office/drawing/2014/main" id="{227AFA28-93A2-4282-B549-3A7BAAD083FD}"/>
              </a:ext>
            </a:extLst>
          </p:cNvPr>
          <p:cNvSpPr>
            <a:spLocks xmlns:a="http://schemas.openxmlformats.org/drawingml/2006/main" noGrp="1"/>
          </p:cNvSpPr>
          <p:nvPr/>
        </p:nvSpPr>
        <p:spPr>
          <a:xfrm xmlns:a="http://schemas.openxmlformats.org/drawingml/2006/main">
            <a:off x="5086350" y="2324100"/>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Root</a:t>
            </a:r>
          </a:p>
        </p:txBody>
      </p:sp>
      <p:sp>
        <p:nvSpPr>
          <p:cNvPr id="8" name="bt-mid1">
            <a:extLst xmlns:a="http://schemas.openxmlformats.org/drawingml/2006/main">
              <a:ext uri="{FF2B5EF4-FFF2-40B4-BE49-F238E27FC236}">
                <a16:creationId xmlns:a16="http://schemas.microsoft.com/office/drawing/2014/main" id="{9D9680D0-6993-4A8D-B5C1-4F991C2A70FF}"/>
              </a:ext>
            </a:extLst>
          </p:cNvPr>
          <p:cNvSpPr>
            <a:spLocks xmlns:a="http://schemas.openxmlformats.org/drawingml/2006/main" noGrp="1"/>
          </p:cNvSpPr>
          <p:nvPr/>
        </p:nvSpPr>
        <p:spPr>
          <a:xfrm xmlns:a="http://schemas.openxmlformats.org/drawingml/2006/main">
            <a:off x="2457450" y="3429000"/>
            <a:ext cx="2095500" cy="704850"/>
          </a:xfrm>
          <a:prstGeom xmlns:a="http://schemas.openxmlformats.org/drawingml/2006/main" prst="roundRect">
            <a:avLst>
              <a:gd name="adj" fmla="val 10811"/>
            </a:avLst>
          </a:prstGeom>
          <a:solidFill xmlns:a="http://schemas.openxmlformats.org/drawingml/2006/main">
            <a:srgbClr val="EAF4F4"/>
          </a:solidFill>
          <a:ln xmlns:a="http://schemas.openxmlformats.org/drawingml/2006/main" w="9525">
            <a:solidFill>
              <a:srgbClr val="D9E2EC"/>
            </a:solidFill>
            <a:prstDash val="solid"/>
          </a:ln>
        </p:spPr>
      </p:sp>
      <p:sp>
        <p:nvSpPr>
          <p:cNvPr id="9" name="bt-mid1-text">
            <a:extLst xmlns:a="http://schemas.openxmlformats.org/drawingml/2006/main">
              <a:ext uri="{FF2B5EF4-FFF2-40B4-BE49-F238E27FC236}">
                <a16:creationId xmlns:a16="http://schemas.microsoft.com/office/drawing/2014/main" id="{555C035E-52CF-4A24-A991-77F946FB6A44}"/>
              </a:ext>
            </a:extLst>
          </p:cNvPr>
          <p:cNvSpPr>
            <a:spLocks xmlns:a="http://schemas.openxmlformats.org/drawingml/2006/main" noGrp="1"/>
          </p:cNvSpPr>
          <p:nvPr/>
        </p:nvSpPr>
        <p:spPr>
          <a:xfrm xmlns:a="http://schemas.openxmlformats.org/drawingml/2006/main">
            <a:off x="2590800" y="3543300"/>
            <a:ext cx="1828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Intermediate</a:t>
            </a:r>
          </a:p>
        </p:txBody>
      </p:sp>
      <p:sp>
        <p:nvSpPr>
          <p:cNvPr id="10" name="bt-mid2">
            <a:extLst xmlns:a="http://schemas.openxmlformats.org/drawingml/2006/main">
              <a:ext uri="{FF2B5EF4-FFF2-40B4-BE49-F238E27FC236}">
                <a16:creationId xmlns:a16="http://schemas.microsoft.com/office/drawing/2014/main" id="{3C14E36F-036E-4940-808D-B835005967F4}"/>
              </a:ext>
            </a:extLst>
          </p:cNvPr>
          <p:cNvSpPr>
            <a:spLocks xmlns:a="http://schemas.openxmlformats.org/drawingml/2006/main" noGrp="1"/>
          </p:cNvSpPr>
          <p:nvPr/>
        </p:nvSpPr>
        <p:spPr>
          <a:xfrm xmlns:a="http://schemas.openxmlformats.org/drawingml/2006/main">
            <a:off x="7639050" y="3429000"/>
            <a:ext cx="2095500" cy="704850"/>
          </a:xfrm>
          <a:prstGeom xmlns:a="http://schemas.openxmlformats.org/drawingml/2006/main" prst="roundRect">
            <a:avLst>
              <a:gd name="adj" fmla="val 10811"/>
            </a:avLst>
          </a:prstGeom>
          <a:solidFill xmlns:a="http://schemas.openxmlformats.org/drawingml/2006/main">
            <a:srgbClr val="EAF4F4"/>
          </a:solidFill>
          <a:ln xmlns:a="http://schemas.openxmlformats.org/drawingml/2006/main" w="9525">
            <a:solidFill>
              <a:srgbClr val="D9E2EC"/>
            </a:solidFill>
            <a:prstDash val="solid"/>
          </a:ln>
        </p:spPr>
      </p:sp>
      <p:sp>
        <p:nvSpPr>
          <p:cNvPr id="11" name="bt-mid2-text">
            <a:extLst xmlns:a="http://schemas.openxmlformats.org/drawingml/2006/main">
              <a:ext uri="{FF2B5EF4-FFF2-40B4-BE49-F238E27FC236}">
                <a16:creationId xmlns:a16="http://schemas.microsoft.com/office/drawing/2014/main" id="{ED4AD514-004B-43B0-B7ED-F0CBE820E4E8}"/>
              </a:ext>
            </a:extLst>
          </p:cNvPr>
          <p:cNvSpPr>
            <a:spLocks xmlns:a="http://schemas.openxmlformats.org/drawingml/2006/main" noGrp="1"/>
          </p:cNvSpPr>
          <p:nvPr/>
        </p:nvSpPr>
        <p:spPr>
          <a:xfrm xmlns:a="http://schemas.openxmlformats.org/drawingml/2006/main">
            <a:off x="7772400" y="3543300"/>
            <a:ext cx="1828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Intermediate</a:t>
            </a:r>
          </a:p>
        </p:txBody>
      </p:sp>
      <p:sp>
        <p:nvSpPr>
          <p:cNvPr id="12" name="bt-leaf1">
            <a:extLst xmlns:a="http://schemas.openxmlformats.org/drawingml/2006/main">
              <a:ext uri="{FF2B5EF4-FFF2-40B4-BE49-F238E27FC236}">
                <a16:creationId xmlns:a16="http://schemas.microsoft.com/office/drawing/2014/main" id="{3EF30927-58CB-414E-9E3E-9216721D16BB}"/>
              </a:ext>
            </a:extLst>
          </p:cNvPr>
          <p:cNvSpPr>
            <a:spLocks xmlns:a="http://schemas.openxmlformats.org/drawingml/2006/main" noGrp="1"/>
          </p:cNvSpPr>
          <p:nvPr/>
        </p:nvSpPr>
        <p:spPr>
          <a:xfrm xmlns:a="http://schemas.openxmlformats.org/drawingml/2006/main">
            <a:off x="876300" y="4762500"/>
            <a:ext cx="1809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9E2EC"/>
            </a:solidFill>
            <a:prstDash val="solid"/>
          </a:ln>
        </p:spPr>
      </p:sp>
      <p:sp>
        <p:nvSpPr>
          <p:cNvPr id="13" name="bt-leaf1-text">
            <a:extLst xmlns:a="http://schemas.openxmlformats.org/drawingml/2006/main">
              <a:ext uri="{FF2B5EF4-FFF2-40B4-BE49-F238E27FC236}">
                <a16:creationId xmlns:a16="http://schemas.microsoft.com/office/drawing/2014/main" id="{E3D9958F-432C-48C8-B91C-1591019F9CBC}"/>
              </a:ext>
            </a:extLst>
          </p:cNvPr>
          <p:cNvSpPr>
            <a:spLocks xmlns:a="http://schemas.openxmlformats.org/drawingml/2006/main" noGrp="1"/>
          </p:cNvSpPr>
          <p:nvPr/>
        </p:nvSpPr>
        <p:spPr>
          <a:xfrm xmlns:a="http://schemas.openxmlformats.org/drawingml/2006/main">
            <a:off x="1009650" y="487680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Leaf Pages</a:t>
            </a:r>
          </a:p>
        </p:txBody>
      </p:sp>
      <p:sp>
        <p:nvSpPr>
          <p:cNvPr id="14" name="bt-leaf2">
            <a:extLst xmlns:a="http://schemas.openxmlformats.org/drawingml/2006/main">
              <a:ext uri="{FF2B5EF4-FFF2-40B4-BE49-F238E27FC236}">
                <a16:creationId xmlns:a16="http://schemas.microsoft.com/office/drawing/2014/main" id="{76D18D03-18B7-4F85-8BC5-BA3E1704E6CF}"/>
              </a:ext>
            </a:extLst>
          </p:cNvPr>
          <p:cNvSpPr>
            <a:spLocks xmlns:a="http://schemas.openxmlformats.org/drawingml/2006/main" noGrp="1"/>
          </p:cNvSpPr>
          <p:nvPr/>
        </p:nvSpPr>
        <p:spPr>
          <a:xfrm xmlns:a="http://schemas.openxmlformats.org/drawingml/2006/main">
            <a:off x="3295650" y="4762500"/>
            <a:ext cx="1809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9E2EC"/>
            </a:solidFill>
            <a:prstDash val="solid"/>
          </a:ln>
        </p:spPr>
      </p:sp>
      <p:sp>
        <p:nvSpPr>
          <p:cNvPr id="15" name="bt-leaf2-text">
            <a:extLst xmlns:a="http://schemas.openxmlformats.org/drawingml/2006/main">
              <a:ext uri="{FF2B5EF4-FFF2-40B4-BE49-F238E27FC236}">
                <a16:creationId xmlns:a16="http://schemas.microsoft.com/office/drawing/2014/main" id="{8900707F-3CB2-4695-8348-905A64101B40}"/>
              </a:ext>
            </a:extLst>
          </p:cNvPr>
          <p:cNvSpPr>
            <a:spLocks xmlns:a="http://schemas.openxmlformats.org/drawingml/2006/main" noGrp="1"/>
          </p:cNvSpPr>
          <p:nvPr/>
        </p:nvSpPr>
        <p:spPr>
          <a:xfrm xmlns:a="http://schemas.openxmlformats.org/drawingml/2006/main">
            <a:off x="3429000" y="487680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Leaf Pages</a:t>
            </a:r>
          </a:p>
        </p:txBody>
      </p:sp>
      <p:sp>
        <p:nvSpPr>
          <p:cNvPr id="16" name="bt-leaf3">
            <a:extLst xmlns:a="http://schemas.openxmlformats.org/drawingml/2006/main">
              <a:ext uri="{FF2B5EF4-FFF2-40B4-BE49-F238E27FC236}">
                <a16:creationId xmlns:a16="http://schemas.microsoft.com/office/drawing/2014/main" id="{876F1041-9A46-4818-B06B-116C4EFE99D9}"/>
              </a:ext>
            </a:extLst>
          </p:cNvPr>
          <p:cNvSpPr>
            <a:spLocks xmlns:a="http://schemas.openxmlformats.org/drawingml/2006/main" noGrp="1"/>
          </p:cNvSpPr>
          <p:nvPr/>
        </p:nvSpPr>
        <p:spPr>
          <a:xfrm xmlns:a="http://schemas.openxmlformats.org/drawingml/2006/main">
            <a:off x="7086600" y="4762500"/>
            <a:ext cx="1809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9E2EC"/>
            </a:solidFill>
            <a:prstDash val="solid"/>
          </a:ln>
        </p:spPr>
      </p:sp>
      <p:sp>
        <p:nvSpPr>
          <p:cNvPr id="17" name="bt-leaf3-text">
            <a:extLst xmlns:a="http://schemas.openxmlformats.org/drawingml/2006/main">
              <a:ext uri="{FF2B5EF4-FFF2-40B4-BE49-F238E27FC236}">
                <a16:creationId xmlns:a16="http://schemas.microsoft.com/office/drawing/2014/main" id="{AEED4AD7-1190-4FD0-94EB-CFF457C96AA6}"/>
              </a:ext>
            </a:extLst>
          </p:cNvPr>
          <p:cNvSpPr>
            <a:spLocks xmlns:a="http://schemas.openxmlformats.org/drawingml/2006/main" noGrp="1"/>
          </p:cNvSpPr>
          <p:nvPr/>
        </p:nvSpPr>
        <p:spPr>
          <a:xfrm xmlns:a="http://schemas.openxmlformats.org/drawingml/2006/main">
            <a:off x="7219950" y="487680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Leaf Pages</a:t>
            </a:r>
          </a:p>
        </p:txBody>
      </p:sp>
      <p:sp>
        <p:nvSpPr>
          <p:cNvPr id="18" name="bt-leaf4">
            <a:extLst xmlns:a="http://schemas.openxmlformats.org/drawingml/2006/main">
              <a:ext uri="{FF2B5EF4-FFF2-40B4-BE49-F238E27FC236}">
                <a16:creationId xmlns:a16="http://schemas.microsoft.com/office/drawing/2014/main" id="{E66897CD-26DC-4CB0-885E-48395C148100}"/>
              </a:ext>
            </a:extLst>
          </p:cNvPr>
          <p:cNvSpPr>
            <a:spLocks xmlns:a="http://schemas.openxmlformats.org/drawingml/2006/main" noGrp="1"/>
          </p:cNvSpPr>
          <p:nvPr/>
        </p:nvSpPr>
        <p:spPr>
          <a:xfrm xmlns:a="http://schemas.openxmlformats.org/drawingml/2006/main">
            <a:off x="9505950" y="4762500"/>
            <a:ext cx="1809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9E2EC"/>
            </a:solidFill>
            <a:prstDash val="solid"/>
          </a:ln>
        </p:spPr>
      </p:sp>
      <p:sp>
        <p:nvSpPr>
          <p:cNvPr id="19" name="bt-leaf4-text">
            <a:extLst xmlns:a="http://schemas.openxmlformats.org/drawingml/2006/main">
              <a:ext uri="{FF2B5EF4-FFF2-40B4-BE49-F238E27FC236}">
                <a16:creationId xmlns:a16="http://schemas.microsoft.com/office/drawing/2014/main" id="{89B0BABB-9D5D-46CD-A10A-2201FB46E482}"/>
              </a:ext>
            </a:extLst>
          </p:cNvPr>
          <p:cNvSpPr>
            <a:spLocks xmlns:a="http://schemas.openxmlformats.org/drawingml/2006/main" noGrp="1"/>
          </p:cNvSpPr>
          <p:nvPr/>
        </p:nvSpPr>
        <p:spPr>
          <a:xfrm xmlns:a="http://schemas.openxmlformats.org/drawingml/2006/main">
            <a:off x="9639300" y="487680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Leaf Pages</a:t>
            </a:r>
          </a:p>
        </p:txBody>
      </p:sp>
      <p:cxnSp>
        <p:nvCxnSpPr>
          <p:cNvPr id="45" name=""/>
          <p:cNvCxnSpPr>
            <a:stCxn xmlns:a="http://schemas.openxmlformats.org/drawingml/2006/main" id="6" idx="2"/>
            <a:endCxn xmlns:a="http://schemas.openxmlformats.org/drawingml/2006/main" id="8" idx="0"/>
          </p:cNvCxnSpPr>
          <p:nvPr/>
        </p:nvCxnSpPr>
        <p:spPr>
          <a:xfrm xmlns:a="http://schemas.openxmlformats.org/drawingml/2006/main" flipH="1">
            <a:off x="3505200" y="2914650"/>
            <a:ext cx="2590800" cy="51435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46" name=""/>
          <p:cNvCxnSpPr>
            <a:stCxn xmlns:a="http://schemas.openxmlformats.org/drawingml/2006/main" id="6" idx="2"/>
            <a:endCxn xmlns:a="http://schemas.openxmlformats.org/drawingml/2006/main" id="10" idx="0"/>
          </p:cNvCxnSpPr>
          <p:nvPr/>
        </p:nvCxnSpPr>
        <p:spPr>
          <a:xfrm xmlns:a="http://schemas.openxmlformats.org/drawingml/2006/main">
            <a:off x="6096000" y="2914650"/>
            <a:ext cx="2590800" cy="51435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47" name=""/>
          <p:cNvCxnSpPr>
            <a:stCxn xmlns:a="http://schemas.openxmlformats.org/drawingml/2006/main" id="8" idx="2"/>
            <a:endCxn xmlns:a="http://schemas.openxmlformats.org/drawingml/2006/main" id="12" idx="0"/>
          </p:cNvCxnSpPr>
          <p:nvPr/>
        </p:nvCxnSpPr>
        <p:spPr>
          <a:xfrm xmlns:a="http://schemas.openxmlformats.org/drawingml/2006/main" flipH="1">
            <a:off x="1781175" y="4133850"/>
            <a:ext cx="1724025" cy="62865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48" name=""/>
          <p:cNvCxnSpPr>
            <a:stCxn xmlns:a="http://schemas.openxmlformats.org/drawingml/2006/main" id="8" idx="2"/>
            <a:endCxn xmlns:a="http://schemas.openxmlformats.org/drawingml/2006/main" id="14" idx="0"/>
          </p:cNvCxnSpPr>
          <p:nvPr/>
        </p:nvCxnSpPr>
        <p:spPr>
          <a:xfrm xmlns:a="http://schemas.openxmlformats.org/drawingml/2006/main">
            <a:off x="3505200" y="4133850"/>
            <a:ext cx="695325" cy="62865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49" name=""/>
          <p:cNvCxnSpPr>
            <a:stCxn xmlns:a="http://schemas.openxmlformats.org/drawingml/2006/main" id="10" idx="2"/>
            <a:endCxn xmlns:a="http://schemas.openxmlformats.org/drawingml/2006/main" id="16" idx="0"/>
          </p:cNvCxnSpPr>
          <p:nvPr/>
        </p:nvCxnSpPr>
        <p:spPr>
          <a:xfrm xmlns:a="http://schemas.openxmlformats.org/drawingml/2006/main" flipH="1">
            <a:off x="7991475" y="4133850"/>
            <a:ext cx="695325" cy="62865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50" name=""/>
          <p:cNvCxnSpPr>
            <a:stCxn xmlns:a="http://schemas.openxmlformats.org/drawingml/2006/main" id="10" idx="2"/>
            <a:endCxn xmlns:a="http://schemas.openxmlformats.org/drawingml/2006/main" id="18" idx="0"/>
          </p:cNvCxnSpPr>
          <p:nvPr/>
        </p:nvCxnSpPr>
        <p:spPr>
          <a:xfrm xmlns:a="http://schemas.openxmlformats.org/drawingml/2006/main">
            <a:off x="8686800" y="4133850"/>
            <a:ext cx="1724025" cy="62865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Tree>
    <p:extLst>
      <p:ext uri="{BB962C8B-B14F-4D97-AF65-F5344CB8AC3E}">
        <p14:creationId xmlns:p14="http://schemas.microsoft.com/office/powerpoint/2010/main" val="134441472"/>
      </p:ext>
    </p:extLst>
  </p:cSld>
</p:sld>
</file>

<file path=ppt/slides/slide5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7355AB19-5C97-495F-8CCC-02F466ACE62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60C9835B-CCCE-4991-8062-1FC625953C9C}"/>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Der Nonclustered Row Locator bestimmt Lookup-Kosten und Indexbreite</a:t>
            </a:r>
          </a:p>
        </p:txBody>
      </p:sp>
      <p:sp>
        <p:nvSpPr>
          <p:cNvPr id="3" name="title-rule">
            <a:extLst xmlns:a="http://schemas.openxmlformats.org/drawingml/2006/main">
              <a:ext uri="{FF2B5EF4-FFF2-40B4-BE49-F238E27FC236}">
                <a16:creationId xmlns:a16="http://schemas.microsoft.com/office/drawing/2014/main" id="{1240064D-6568-4257-91FF-AD4929D46F20}"/>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1268772C-7A31-4047-BF35-03593AD4444F}"/>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D0C1FFA4-452E-4122-938F-ABFF328E19A6}"/>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51 / 84</a:t>
            </a:r>
          </a:p>
        </p:txBody>
      </p:sp>
      <p:sp>
        <p:nvSpPr>
          <p:cNvPr id="6" name="rl-nci">
            <a:extLst xmlns:a="http://schemas.openxmlformats.org/drawingml/2006/main">
              <a:ext uri="{FF2B5EF4-FFF2-40B4-BE49-F238E27FC236}">
                <a16:creationId xmlns:a16="http://schemas.microsoft.com/office/drawing/2014/main" id="{8CFCAD9B-C720-46AE-8A89-F9662A3EE296}"/>
              </a:ext>
            </a:extLst>
          </p:cNvPr>
          <p:cNvSpPr>
            <a:spLocks xmlns:a="http://schemas.openxmlformats.org/drawingml/2006/main" noGrp="1"/>
          </p:cNvSpPr>
          <p:nvPr/>
        </p:nvSpPr>
        <p:spPr>
          <a:xfrm xmlns:a="http://schemas.openxmlformats.org/drawingml/2006/main">
            <a:off x="4857750" y="2381250"/>
            <a:ext cx="2476500" cy="1066800"/>
          </a:xfrm>
          <a:prstGeom xmlns:a="http://schemas.openxmlformats.org/drawingml/2006/main" prst="roundRect">
            <a:avLst>
              <a:gd name="adj" fmla="val 7143"/>
            </a:avLst>
          </a:prstGeom>
          <a:solidFill xmlns:a="http://schemas.openxmlformats.org/drawingml/2006/main">
            <a:srgbClr val="EAF4F4"/>
          </a:solidFill>
          <a:ln xmlns:a="http://schemas.openxmlformats.org/drawingml/2006/main" w="9525">
            <a:solidFill>
              <a:srgbClr val="D9E2EC"/>
            </a:solidFill>
            <a:prstDash val="solid"/>
          </a:ln>
        </p:spPr>
      </p:sp>
      <p:sp>
        <p:nvSpPr>
          <p:cNvPr id="7" name="rl-nci-text">
            <a:extLst xmlns:a="http://schemas.openxmlformats.org/drawingml/2006/main">
              <a:ext uri="{FF2B5EF4-FFF2-40B4-BE49-F238E27FC236}">
                <a16:creationId xmlns:a16="http://schemas.microsoft.com/office/drawing/2014/main" id="{79945B5A-7343-49F2-A866-3C52EA89D4AC}"/>
              </a:ext>
            </a:extLst>
          </p:cNvPr>
          <p:cNvSpPr>
            <a:spLocks xmlns:a="http://schemas.openxmlformats.org/drawingml/2006/main" noGrp="1"/>
          </p:cNvSpPr>
          <p:nvPr/>
        </p:nvSpPr>
        <p:spPr>
          <a:xfrm xmlns:a="http://schemas.openxmlformats.org/drawingml/2006/main">
            <a:off x="4991100" y="2495550"/>
            <a:ext cx="2209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Nonclustered Index</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Key + Locator</a:t>
            </a:r>
          </a:p>
        </p:txBody>
      </p:sp>
      <p:sp>
        <p:nvSpPr>
          <p:cNvPr id="8" name="rl-heap">
            <a:extLst xmlns:a="http://schemas.openxmlformats.org/drawingml/2006/main">
              <a:ext uri="{FF2B5EF4-FFF2-40B4-BE49-F238E27FC236}">
                <a16:creationId xmlns:a16="http://schemas.microsoft.com/office/drawing/2014/main" id="{B0D636AA-5485-4D7F-9B2B-4ED21FA42A1D}"/>
              </a:ext>
            </a:extLst>
          </p:cNvPr>
          <p:cNvSpPr>
            <a:spLocks xmlns:a="http://schemas.openxmlformats.org/drawingml/2006/main" noGrp="1"/>
          </p:cNvSpPr>
          <p:nvPr/>
        </p:nvSpPr>
        <p:spPr>
          <a:xfrm xmlns:a="http://schemas.openxmlformats.org/drawingml/2006/main">
            <a:off x="1485900" y="4476750"/>
            <a:ext cx="2857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C"/>
            </a:solidFill>
            <a:prstDash val="solid"/>
          </a:ln>
        </p:spPr>
      </p:sp>
      <p:sp>
        <p:nvSpPr>
          <p:cNvPr id="9" name="rl-heap-text">
            <a:extLst xmlns:a="http://schemas.openxmlformats.org/drawingml/2006/main">
              <a:ext uri="{FF2B5EF4-FFF2-40B4-BE49-F238E27FC236}">
                <a16:creationId xmlns:a16="http://schemas.microsoft.com/office/drawing/2014/main" id="{06427CE3-14F9-4CEF-A105-8F9E17A53F60}"/>
              </a:ext>
            </a:extLst>
          </p:cNvPr>
          <p:cNvSpPr>
            <a:spLocks xmlns:a="http://schemas.openxmlformats.org/drawingml/2006/main" noGrp="1"/>
          </p:cNvSpPr>
          <p:nvPr/>
        </p:nvSpPr>
        <p:spPr>
          <a:xfrm xmlns:a="http://schemas.openxmlformats.org/drawingml/2006/main">
            <a:off x="1619250" y="4591050"/>
            <a:ext cx="2590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Heap</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RID = File:Page:Slot</a:t>
            </a:r>
          </a:p>
        </p:txBody>
      </p:sp>
      <p:sp>
        <p:nvSpPr>
          <p:cNvPr id="10" name="rl-clustered">
            <a:extLst xmlns:a="http://schemas.openxmlformats.org/drawingml/2006/main">
              <a:ext uri="{FF2B5EF4-FFF2-40B4-BE49-F238E27FC236}">
                <a16:creationId xmlns:a16="http://schemas.microsoft.com/office/drawing/2014/main" id="{63278187-663F-49CF-8932-4DD7EDB1D338}"/>
              </a:ext>
            </a:extLst>
          </p:cNvPr>
          <p:cNvSpPr>
            <a:spLocks xmlns:a="http://schemas.openxmlformats.org/drawingml/2006/main" noGrp="1"/>
          </p:cNvSpPr>
          <p:nvPr/>
        </p:nvSpPr>
        <p:spPr>
          <a:xfrm xmlns:a="http://schemas.openxmlformats.org/drawingml/2006/main">
            <a:off x="7848600" y="4476750"/>
            <a:ext cx="2857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C"/>
            </a:solidFill>
            <a:prstDash val="solid"/>
          </a:ln>
        </p:spPr>
      </p:sp>
      <p:sp>
        <p:nvSpPr>
          <p:cNvPr id="11" name="rl-clustered-text">
            <a:extLst xmlns:a="http://schemas.openxmlformats.org/drawingml/2006/main">
              <a:ext uri="{FF2B5EF4-FFF2-40B4-BE49-F238E27FC236}">
                <a16:creationId xmlns:a16="http://schemas.microsoft.com/office/drawing/2014/main" id="{F325A6D9-47F2-4AB6-8510-9D337AFDA0C0}"/>
              </a:ext>
            </a:extLst>
          </p:cNvPr>
          <p:cNvSpPr>
            <a:spLocks xmlns:a="http://schemas.openxmlformats.org/drawingml/2006/main" noGrp="1"/>
          </p:cNvSpPr>
          <p:nvPr/>
        </p:nvSpPr>
        <p:spPr>
          <a:xfrm xmlns:a="http://schemas.openxmlformats.org/drawingml/2006/main">
            <a:off x="7981950" y="4591050"/>
            <a:ext cx="2590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Clustered Table</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Clustering Key</a:t>
            </a:r>
          </a:p>
        </p:txBody>
      </p:sp>
      <p:cxnSp>
        <p:nvCxnSpPr>
          <p:cNvPr id="26" name=""/>
          <p:cNvCxnSpPr>
            <a:stCxn xmlns:a="http://schemas.openxmlformats.org/drawingml/2006/main" id="6" idx="2"/>
            <a:endCxn xmlns:a="http://schemas.openxmlformats.org/drawingml/2006/main" id="8" idx="0"/>
          </p:cNvCxnSpPr>
          <p:nvPr/>
        </p:nvCxnSpPr>
        <p:spPr>
          <a:xfrm xmlns:a="http://schemas.openxmlformats.org/drawingml/2006/main" flipH="1">
            <a:off x="2914650" y="3448050"/>
            <a:ext cx="3181350" cy="1028700"/>
          </a:xfrm>
          <a:prstGeom xmlns:a="http://schemas.openxmlformats.org/drawingml/2006/main" prst="straightConnector1">
            <a:avLst/>
          </a:prstGeom>
          <a:ln xmlns:a="http://schemas.openxmlformats.org/drawingml/2006/main" w="28575">
            <a:solidFill>
              <a:srgbClr val="F4A261"/>
            </a:solidFill>
            <a:prstDash val="solid"/>
            <a:headEnd type="arrow" w="med" len="med"/>
          </a:ln>
        </p:spPr>
      </p:cxnSp>
      <p:cxnSp>
        <p:nvCxnSpPr>
          <p:cNvPr id="27" name=""/>
          <p:cNvCxnSpPr>
            <a:stCxn xmlns:a="http://schemas.openxmlformats.org/drawingml/2006/main" id="6" idx="2"/>
            <a:endCxn xmlns:a="http://schemas.openxmlformats.org/drawingml/2006/main" id="10" idx="0"/>
          </p:cNvCxnSpPr>
          <p:nvPr/>
        </p:nvCxnSpPr>
        <p:spPr>
          <a:xfrm xmlns:a="http://schemas.openxmlformats.org/drawingml/2006/main">
            <a:off x="6096000" y="3448050"/>
            <a:ext cx="3181350" cy="102870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14" name="rl-caption">
            <a:extLst xmlns:a="http://schemas.openxmlformats.org/drawingml/2006/main">
              <a:ext uri="{FF2B5EF4-FFF2-40B4-BE49-F238E27FC236}">
                <a16:creationId xmlns:a16="http://schemas.microsoft.com/office/drawing/2014/main" id="{535AB44E-4C25-4B8F-9F6B-AAE3D8CF7D59}"/>
              </a:ext>
            </a:extLst>
          </p:cNvPr>
          <p:cNvSpPr>
            <a:spLocks xmlns:a="http://schemas.openxmlformats.org/drawingml/2006/main" noGrp="1"/>
          </p:cNvSpPr>
          <p:nvPr/>
        </p:nvSpPr>
        <p:spPr>
          <a:xfrm xmlns:a="http://schemas.openxmlformats.org/drawingml/2006/main">
            <a:off x="3238500" y="375285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62"/>
          </a:bodyPr>
          <a:lstStyle xmlns:a="http://schemas.openxmlformats.org/drawingml/2006/main"/>
          <a:p xmlns:a="http://schemas.openxmlformats.org/drawingml/2006/main">
            <a:pPr algn="ctr">
              <a:lnSpc>
                <a:spcPct val="105000"/>
              </a:lnSpc>
              <a:buNone/>
              <a:defRPr sz="1875" b="1" i="0">
                <a:solidFill>
                  <a:srgbClr val="102A43"/>
                </a:solidFill>
                <a:latin typeface="Aptos"/>
                <a:ea typeface="Aptos"/>
                <a:cs typeface="Aptos"/>
              </a:defRPr>
            </a:pPr>
            <a:r>
              <a:rPr sz="1875" b="1" i="0">
                <a:solidFill>
                  <a:srgbClr val="102A43"/>
                </a:solidFill>
                <a:latin typeface="Aptos"/>
                <a:ea typeface="Aptos"/>
                <a:cs typeface="Aptos"/>
              </a:rPr>
              <a:t>Lookup-Ziel hängt von der Base-Table-Struktur ab.</a:t>
            </a:r>
          </a:p>
        </p:txBody>
      </p:sp>
    </p:spTree>
    <p:extLst>
      <p:ext uri="{BB962C8B-B14F-4D97-AF65-F5344CB8AC3E}">
        <p14:creationId xmlns:p14="http://schemas.microsoft.com/office/powerpoint/2010/main" val="1080640391"/>
      </p:ext>
    </p:extLst>
  </p:cSld>
</p:sld>
</file>

<file path=ppt/slides/slide5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B5BC55F4-658D-4968-8DD8-BDE416BA2F9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B4335C4C-0A5F-4A4A-A10D-68A1A4F41EF6}"/>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Die Key-Reihenfolge folgt Zugriff, Range und Sortierung – nicht nur Selektivität</a:t>
            </a:r>
          </a:p>
        </p:txBody>
      </p:sp>
      <p:sp>
        <p:nvSpPr>
          <p:cNvPr id="3" name="title-rule">
            <a:extLst xmlns:a="http://schemas.openxmlformats.org/drawingml/2006/main">
              <a:ext uri="{FF2B5EF4-FFF2-40B4-BE49-F238E27FC236}">
                <a16:creationId xmlns:a16="http://schemas.microsoft.com/office/drawing/2014/main" id="{1AEE3C47-5BC4-411A-9D7D-9FA666F1CFDD}"/>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673B6ACB-1222-46BD-9A1F-1B533EF1ECCA}"/>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304667DF-DA17-4B0D-AEEC-5FF64910806F}"/>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52 / 84</a:t>
            </a:r>
          </a:p>
        </p:txBody>
      </p:sp>
      <p:sp>
        <p:nvSpPr>
          <p:cNvPr id="6" name="lead">
            <a:extLst xmlns:a="http://schemas.openxmlformats.org/drawingml/2006/main">
              <a:ext uri="{FF2B5EF4-FFF2-40B4-BE49-F238E27FC236}">
                <a16:creationId xmlns:a16="http://schemas.microsoft.com/office/drawing/2014/main" id="{111EB67A-2A15-4EF3-9835-6D4EAD5C17DB}"/>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Ein Composite Index kann nur seine führenden Keypräfixe direkt als geordneten Suchraum nutzen.</a:t>
            </a:r>
          </a:p>
        </p:txBody>
      </p:sp>
      <p:sp>
        <p:nvSpPr>
          <p:cNvPr id="7" name="lead-accent">
            <a:extLst xmlns:a="http://schemas.openxmlformats.org/drawingml/2006/main">
              <a:ext uri="{FF2B5EF4-FFF2-40B4-BE49-F238E27FC236}">
                <a16:creationId xmlns:a16="http://schemas.microsoft.com/office/drawing/2014/main" id="{102B12F4-CF24-440A-A5B2-251CE62AB325}"/>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CFB08631-6E74-4308-809C-B0AE729C4841}"/>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Equality-Spalten typischerweise vor Range-Spalten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ORDER BY und Join-Reihenfolge können relevant sein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INCLUDE beeinflusst Coverage, nicht Key-Sortierung</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ein Index kann mehrere wichtige Query Patterns bedienen</a:t>
            </a:r>
          </a:p>
        </p:txBody>
      </p:sp>
    </p:spTree>
    <p:extLst>
      <p:ext uri="{BB962C8B-B14F-4D97-AF65-F5344CB8AC3E}">
        <p14:creationId xmlns:p14="http://schemas.microsoft.com/office/powerpoint/2010/main" val="336373176"/>
      </p:ext>
    </p:extLst>
  </p:cSld>
</p:sld>
</file>

<file path=ppt/slides/slide5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4784350D-9EB9-4139-9BEF-931D49C737A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176F39CE-94FE-4A8B-8FE5-7292CBB1DF25}"/>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INCLUDE und Filter reduzieren unterschiedliche Kosten</a:t>
            </a:r>
          </a:p>
        </p:txBody>
      </p:sp>
      <p:sp>
        <p:nvSpPr>
          <p:cNvPr id="3" name="title-rule">
            <a:extLst xmlns:a="http://schemas.openxmlformats.org/drawingml/2006/main">
              <a:ext uri="{FF2B5EF4-FFF2-40B4-BE49-F238E27FC236}">
                <a16:creationId xmlns:a16="http://schemas.microsoft.com/office/drawing/2014/main" id="{DFACC0F8-650A-464E-8938-16E59202025A}"/>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33D6D913-77C7-42D6-B89E-D46A4B2A0F58}"/>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0681AA53-D5D2-4E37-887B-3B6EAB0E0E9F}"/>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53 / 84</a:t>
            </a:r>
          </a:p>
        </p:txBody>
      </p:sp>
      <p:sp>
        <p:nvSpPr>
          <p:cNvPr id="6" name="left-title">
            <a:extLst xmlns:a="http://schemas.openxmlformats.org/drawingml/2006/main">
              <a:ext uri="{FF2B5EF4-FFF2-40B4-BE49-F238E27FC236}">
                <a16:creationId xmlns:a16="http://schemas.microsoft.com/office/drawing/2014/main" id="{8C6B7CC2-2C1B-438F-91E0-9579B3E2D112}"/>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INCLUDE</a:t>
            </a:r>
          </a:p>
        </p:txBody>
      </p:sp>
      <p:sp>
        <p:nvSpPr>
          <p:cNvPr id="7" name="right-title">
            <a:extLst xmlns:a="http://schemas.openxmlformats.org/drawingml/2006/main">
              <a:ext uri="{FF2B5EF4-FFF2-40B4-BE49-F238E27FC236}">
                <a16:creationId xmlns:a16="http://schemas.microsoft.com/office/drawing/2014/main" id="{06928F02-A69F-4F63-B8A6-FC9C6DF7FEAF}"/>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Filtered Index</a:t>
            </a:r>
          </a:p>
        </p:txBody>
      </p:sp>
      <p:sp>
        <p:nvSpPr>
          <p:cNvPr id="8" name="middle-rule">
            <a:extLst xmlns:a="http://schemas.openxmlformats.org/drawingml/2006/main">
              <a:ext uri="{FF2B5EF4-FFF2-40B4-BE49-F238E27FC236}">
                <a16:creationId xmlns:a16="http://schemas.microsoft.com/office/drawing/2014/main" id="{BC566253-8634-4CBE-9BBB-F057C59B033F}"/>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5DE334FD-40C3-4171-BE19-66D983AF1D14}"/>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zusätzliche Leaf-Spalten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vermeidet Lookups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verbreitert Leaf Level und Writes</a:t>
            </a:r>
          </a:p>
        </p:txBody>
      </p:sp>
      <p:sp>
        <p:nvSpPr>
          <p:cNvPr id="10" name="right-points">
            <a:extLst xmlns:a="http://schemas.openxmlformats.org/drawingml/2006/main">
              <a:ext uri="{FF2B5EF4-FFF2-40B4-BE49-F238E27FC236}">
                <a16:creationId xmlns:a16="http://schemas.microsoft.com/office/drawing/2014/main" id="{497C7B2A-3FFF-4FFC-AFF8-C764666A0697}"/>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enthält nur qualifizierte Rows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kleiner und selektiver</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Query-Prädikat muss Filter logisch implizieren</a:t>
            </a:r>
          </a:p>
        </p:txBody>
      </p:sp>
      <p:sp>
        <p:nvSpPr>
          <p:cNvPr id="11" name="conclusion-bg">
            <a:extLst xmlns:a="http://schemas.openxmlformats.org/drawingml/2006/main">
              <a:ext uri="{FF2B5EF4-FFF2-40B4-BE49-F238E27FC236}">
                <a16:creationId xmlns:a16="http://schemas.microsoft.com/office/drawing/2014/main" id="{2146889E-5EA7-4165-8182-FB685CF49808}"/>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33B7B717-57AA-47F8-9DC9-2FA173401DEF}"/>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Coverage wird gegen Speicher-, Log- und Wartungskosten abgewogen.</a:t>
            </a:r>
          </a:p>
        </p:txBody>
      </p:sp>
    </p:spTree>
    <p:extLst>
      <p:ext uri="{BB962C8B-B14F-4D97-AF65-F5344CB8AC3E}">
        <p14:creationId xmlns:p14="http://schemas.microsoft.com/office/powerpoint/2010/main" val="115915685"/>
      </p:ext>
    </p:extLst>
  </p:cSld>
</p:sld>
</file>

<file path=ppt/slides/slide5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F3C3C9A6-D28B-4184-89B3-FF556B1A1BF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2A839A28-5F84-44BC-9B77-852037BA534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Mit wachsender Trefferzahl kann ein Scan günstiger als viele Lookups werden</a:t>
            </a:r>
          </a:p>
        </p:txBody>
      </p:sp>
      <p:sp>
        <p:nvSpPr>
          <p:cNvPr id="3" name="title-rule">
            <a:extLst xmlns:a="http://schemas.openxmlformats.org/drawingml/2006/main">
              <a:ext uri="{FF2B5EF4-FFF2-40B4-BE49-F238E27FC236}">
                <a16:creationId xmlns:a16="http://schemas.microsoft.com/office/drawing/2014/main" id="{2E2E53EC-6C0B-4F33-867A-E84894503690}"/>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CEDFBA61-7681-4894-9CC8-5981E966E2E2}"/>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C55DBE42-54CD-4DE7-9675-D572A04159DC}"/>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54 / 84</a:t>
            </a:r>
          </a:p>
        </p:txBody>
      </p:sp>
      <p:sp>
        <p:nvSpPr>
          <p:cNvPr id="6" name="tip-axis-x">
            <a:extLst xmlns:a="http://schemas.openxmlformats.org/drawingml/2006/main">
              <a:ext uri="{FF2B5EF4-FFF2-40B4-BE49-F238E27FC236}">
                <a16:creationId xmlns:a16="http://schemas.microsoft.com/office/drawing/2014/main" id="{D4968FB9-0DF2-410C-ABB7-7A6B4D9E53D3}"/>
              </a:ext>
            </a:extLst>
          </p:cNvPr>
          <p:cNvSpPr>
            <a:spLocks xmlns:a="http://schemas.openxmlformats.org/drawingml/2006/main" noGrp="1"/>
          </p:cNvSpPr>
          <p:nvPr/>
        </p:nvSpPr>
        <p:spPr>
          <a:xfrm xmlns:a="http://schemas.openxmlformats.org/drawingml/2006/main">
            <a:off x="1238250" y="5219700"/>
            <a:ext cx="8953500" cy="28575"/>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7" name="tip-axis-y">
            <a:extLst xmlns:a="http://schemas.openxmlformats.org/drawingml/2006/main">
              <a:ext uri="{FF2B5EF4-FFF2-40B4-BE49-F238E27FC236}">
                <a16:creationId xmlns:a16="http://schemas.microsoft.com/office/drawing/2014/main" id="{EFBE65F9-DEB7-4D13-91B7-7DCCC6B045D0}"/>
              </a:ext>
            </a:extLst>
          </p:cNvPr>
          <p:cNvSpPr>
            <a:spLocks xmlns:a="http://schemas.openxmlformats.org/drawingml/2006/main" noGrp="1"/>
          </p:cNvSpPr>
          <p:nvPr/>
        </p:nvSpPr>
        <p:spPr>
          <a:xfrm xmlns:a="http://schemas.openxmlformats.org/drawingml/2006/main">
            <a:off x="1238250" y="2419350"/>
            <a:ext cx="28575" cy="2828925"/>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8" name="seek-start">
            <a:extLst xmlns:a="http://schemas.openxmlformats.org/drawingml/2006/main">
              <a:ext uri="{FF2B5EF4-FFF2-40B4-BE49-F238E27FC236}">
                <a16:creationId xmlns:a16="http://schemas.microsoft.com/office/drawing/2014/main" id="{445CF686-88D7-47D4-A2CD-9B709935EDB9}"/>
              </a:ext>
            </a:extLst>
          </p:cNvPr>
          <p:cNvSpPr>
            <a:spLocks xmlns:a="http://schemas.openxmlformats.org/drawingml/2006/main" noGrp="1"/>
          </p:cNvSpPr>
          <p:nvPr/>
        </p:nvSpPr>
        <p:spPr>
          <a:xfrm xmlns:a="http://schemas.openxmlformats.org/drawingml/2006/main">
            <a:off x="1676400" y="4876800"/>
            <a:ext cx="95250" cy="95250"/>
          </a:xfrm>
          <a:prstGeom xmlns:a="http://schemas.openxmlformats.org/drawingml/2006/main" prst="ellipse">
            <a:avLst/>
          </a:prstGeom>
          <a:solidFill xmlns:a="http://schemas.openxmlformats.org/drawingml/2006/main">
            <a:srgbClr val="007C83"/>
          </a:solidFill>
          <a:ln xmlns:a="http://schemas.openxmlformats.org/drawingml/2006/main" w="9525">
            <a:solidFill>
              <a:srgbClr val="007C83"/>
            </a:solidFill>
            <a:prstDash val="solid"/>
          </a:ln>
        </p:spPr>
      </p:sp>
      <p:sp>
        <p:nvSpPr>
          <p:cNvPr id="9" name="seek-end">
            <a:extLst xmlns:a="http://schemas.openxmlformats.org/drawingml/2006/main">
              <a:ext uri="{FF2B5EF4-FFF2-40B4-BE49-F238E27FC236}">
                <a16:creationId xmlns:a16="http://schemas.microsoft.com/office/drawing/2014/main" id="{B23F0F70-0C62-4A8C-AD06-698EB68D3396}"/>
              </a:ext>
            </a:extLst>
          </p:cNvPr>
          <p:cNvSpPr>
            <a:spLocks xmlns:a="http://schemas.openxmlformats.org/drawingml/2006/main" noGrp="1"/>
          </p:cNvSpPr>
          <p:nvPr/>
        </p:nvSpPr>
        <p:spPr>
          <a:xfrm xmlns:a="http://schemas.openxmlformats.org/drawingml/2006/main">
            <a:off x="9620250" y="2609850"/>
            <a:ext cx="95250" cy="95250"/>
          </a:xfrm>
          <a:prstGeom xmlns:a="http://schemas.openxmlformats.org/drawingml/2006/main" prst="ellipse">
            <a:avLst/>
          </a:prstGeom>
          <a:solidFill xmlns:a="http://schemas.openxmlformats.org/drawingml/2006/main">
            <a:srgbClr val="007C83"/>
          </a:solidFill>
          <a:ln xmlns:a="http://schemas.openxmlformats.org/drawingml/2006/main" w="9525">
            <a:solidFill>
              <a:srgbClr val="007C83"/>
            </a:solidFill>
            <a:prstDash val="solid"/>
          </a:ln>
        </p:spPr>
      </p:sp>
      <p:cxnSp>
        <p:nvCxnSpPr>
          <p:cNvPr id="26" name=""/>
          <p:cNvCxnSpPr>
            <a:stCxn xmlns:a="http://schemas.openxmlformats.org/drawingml/2006/main" id="8" idx="6"/>
            <a:endCxn xmlns:a="http://schemas.openxmlformats.org/drawingml/2006/main" id="9" idx="2"/>
          </p:cNvCxnSpPr>
          <p:nvPr/>
        </p:nvCxnSpPr>
        <p:spPr>
          <a:xfrm xmlns:a="http://schemas.openxmlformats.org/drawingml/2006/main" flipV="1">
            <a:off x="1771650" y="2657475"/>
            <a:ext cx="7848600" cy="2266950"/>
          </a:xfrm>
          <a:prstGeom xmlns:a="http://schemas.openxmlformats.org/drawingml/2006/main" prst="straightConnector1">
            <a:avLst/>
          </a:prstGeom>
          <a:ln xmlns:a="http://schemas.openxmlformats.org/drawingml/2006/main" w="38100">
            <a:solidFill>
              <a:srgbClr val="007C83"/>
            </a:solidFill>
            <a:prstDash val="solid"/>
          </a:ln>
        </p:spPr>
      </p:cxnSp>
      <p:sp>
        <p:nvSpPr>
          <p:cNvPr id="11" name="scan-line">
            <a:extLst xmlns:a="http://schemas.openxmlformats.org/drawingml/2006/main">
              <a:ext uri="{FF2B5EF4-FFF2-40B4-BE49-F238E27FC236}">
                <a16:creationId xmlns:a16="http://schemas.microsoft.com/office/drawing/2014/main" id="{F9D5E3F5-1737-46FE-ADCD-241D9968B483}"/>
              </a:ext>
            </a:extLst>
          </p:cNvPr>
          <p:cNvSpPr>
            <a:spLocks xmlns:a="http://schemas.openxmlformats.org/drawingml/2006/main" noGrp="1"/>
          </p:cNvSpPr>
          <p:nvPr/>
        </p:nvSpPr>
        <p:spPr>
          <a:xfrm xmlns:a="http://schemas.openxmlformats.org/drawingml/2006/main">
            <a:off x="1714500" y="3429000"/>
            <a:ext cx="6762750" cy="381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2" name="seek-label">
            <a:extLst xmlns:a="http://schemas.openxmlformats.org/drawingml/2006/main">
              <a:ext uri="{FF2B5EF4-FFF2-40B4-BE49-F238E27FC236}">
                <a16:creationId xmlns:a16="http://schemas.microsoft.com/office/drawing/2014/main" id="{7E226368-4349-4D82-A17A-9D7401E06151}"/>
              </a:ext>
            </a:extLst>
          </p:cNvPr>
          <p:cNvSpPr>
            <a:spLocks xmlns:a="http://schemas.openxmlformats.org/drawingml/2006/main" noGrp="1"/>
          </p:cNvSpPr>
          <p:nvPr/>
        </p:nvSpPr>
        <p:spPr>
          <a:xfrm xmlns:a="http://schemas.openxmlformats.org/drawingml/2006/main">
            <a:off x="1790700" y="37147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Seek + Lookup</a:t>
            </a:r>
          </a:p>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steigende Kosten</a:t>
            </a:r>
          </a:p>
        </p:txBody>
      </p:sp>
      <p:sp>
        <p:nvSpPr>
          <p:cNvPr id="13" name="scan-label">
            <a:extLst xmlns:a="http://schemas.openxmlformats.org/drawingml/2006/main">
              <a:ext uri="{FF2B5EF4-FFF2-40B4-BE49-F238E27FC236}">
                <a16:creationId xmlns:a16="http://schemas.microsoft.com/office/drawing/2014/main" id="{89F9E172-A634-4100-8CF1-06B9B87C8846}"/>
              </a:ext>
            </a:extLst>
          </p:cNvPr>
          <p:cNvSpPr>
            <a:spLocks xmlns:a="http://schemas.openxmlformats.org/drawingml/2006/main" noGrp="1"/>
          </p:cNvSpPr>
          <p:nvPr/>
        </p:nvSpPr>
        <p:spPr>
          <a:xfrm xmlns:a="http://schemas.openxmlformats.org/drawingml/2006/main">
            <a:off x="1714500" y="308610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A9611B"/>
                </a:solidFill>
                <a:latin typeface="Aptos"/>
                <a:ea typeface="Aptos"/>
                <a:cs typeface="Aptos"/>
              </a:defRPr>
            </a:pPr>
            <a:r>
              <a:rPr sz="1575" b="1" i="0">
                <a:solidFill>
                  <a:srgbClr val="A9611B"/>
                </a:solidFill>
                <a:latin typeface="Aptos"/>
                <a:ea typeface="Aptos"/>
                <a:cs typeface="Aptos"/>
              </a:rPr>
              <a:t>Scan: relativ konstante Basiskosten</a:t>
            </a:r>
          </a:p>
        </p:txBody>
      </p:sp>
      <p:sp>
        <p:nvSpPr>
          <p:cNvPr id="14" name="tip-point">
            <a:extLst xmlns:a="http://schemas.openxmlformats.org/drawingml/2006/main">
              <a:ext uri="{FF2B5EF4-FFF2-40B4-BE49-F238E27FC236}">
                <a16:creationId xmlns:a16="http://schemas.microsoft.com/office/drawing/2014/main" id="{08300962-0011-4499-BFA5-5266F7B66917}"/>
              </a:ext>
            </a:extLst>
          </p:cNvPr>
          <p:cNvSpPr>
            <a:spLocks xmlns:a="http://schemas.openxmlformats.org/drawingml/2006/main" noGrp="1"/>
          </p:cNvSpPr>
          <p:nvPr/>
        </p:nvSpPr>
        <p:spPr>
          <a:xfrm xmlns:a="http://schemas.openxmlformats.org/drawingml/2006/main">
            <a:off x="6610350" y="3295650"/>
            <a:ext cx="228600" cy="228600"/>
          </a:xfrm>
          <a:prstGeom xmlns:a="http://schemas.openxmlformats.org/drawingml/2006/main" prst="ellipse">
            <a:avLst/>
          </a:prstGeom>
          <a:solidFill xmlns:a="http://schemas.openxmlformats.org/drawingml/2006/main">
            <a:srgbClr val="C94C4C"/>
          </a:solidFill>
          <a:ln xmlns:a="http://schemas.openxmlformats.org/drawingml/2006/main" w="9525">
            <a:solidFill>
              <a:srgbClr val="C94C4C"/>
            </a:solidFill>
            <a:prstDash val="solid"/>
          </a:ln>
        </p:spPr>
      </p:sp>
      <p:sp>
        <p:nvSpPr>
          <p:cNvPr id="15" name="tip-label">
            <a:extLst xmlns:a="http://schemas.openxmlformats.org/drawingml/2006/main">
              <a:ext uri="{FF2B5EF4-FFF2-40B4-BE49-F238E27FC236}">
                <a16:creationId xmlns:a16="http://schemas.microsoft.com/office/drawing/2014/main" id="{E25D8706-0AED-4369-BBA0-5B4FC4E9A0B8}"/>
              </a:ext>
            </a:extLst>
          </p:cNvPr>
          <p:cNvSpPr>
            <a:spLocks xmlns:a="http://schemas.openxmlformats.org/drawingml/2006/main" noGrp="1"/>
          </p:cNvSpPr>
          <p:nvPr/>
        </p:nvSpPr>
        <p:spPr>
          <a:xfrm xmlns:a="http://schemas.openxmlformats.org/drawingml/2006/main">
            <a:off x="7086600" y="3600450"/>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C94C4C"/>
                </a:solidFill>
                <a:latin typeface="Aptos"/>
                <a:ea typeface="Aptos"/>
                <a:cs typeface="Aptos"/>
              </a:defRPr>
            </a:pPr>
            <a:r>
              <a:rPr sz="1875" b="1" i="0">
                <a:solidFill>
                  <a:srgbClr val="C94C4C"/>
                </a:solidFill>
                <a:latin typeface="Aptos"/>
                <a:ea typeface="Aptos"/>
                <a:cs typeface="Aptos"/>
              </a:rPr>
              <a:t>planabhängiger</a:t>
            </a:r>
          </a:p>
          <a:p xmlns:a="http://schemas.openxmlformats.org/drawingml/2006/main">
            <a:pPr algn="l">
              <a:lnSpc>
                <a:spcPct val="105000"/>
              </a:lnSpc>
              <a:buNone/>
              <a:defRPr sz="1875" b="1" i="0">
                <a:solidFill>
                  <a:srgbClr val="C94C4C"/>
                </a:solidFill>
                <a:latin typeface="Aptos"/>
                <a:ea typeface="Aptos"/>
                <a:cs typeface="Aptos"/>
              </a:defRPr>
            </a:pPr>
            <a:r>
              <a:rPr sz="1875" b="1" i="0">
                <a:solidFill>
                  <a:srgbClr val="C94C4C"/>
                </a:solidFill>
                <a:latin typeface="Aptos"/>
                <a:ea typeface="Aptos"/>
                <a:cs typeface="Aptos"/>
              </a:rPr>
              <a:t>Tipping Point</a:t>
            </a:r>
          </a:p>
        </p:txBody>
      </p:sp>
      <p:sp>
        <p:nvSpPr>
          <p:cNvPr id="16" name="tip-x-label">
            <a:extLst xmlns:a="http://schemas.openxmlformats.org/drawingml/2006/main">
              <a:ext uri="{FF2B5EF4-FFF2-40B4-BE49-F238E27FC236}">
                <a16:creationId xmlns:a16="http://schemas.microsoft.com/office/drawing/2014/main" id="{EDF91C89-5669-47F4-980B-39DD66D3FADA}"/>
              </a:ext>
            </a:extLst>
          </p:cNvPr>
          <p:cNvSpPr>
            <a:spLocks xmlns:a="http://schemas.openxmlformats.org/drawingml/2006/main" noGrp="1"/>
          </p:cNvSpPr>
          <p:nvPr/>
        </p:nvSpPr>
        <p:spPr>
          <a:xfrm xmlns:a="http://schemas.openxmlformats.org/drawingml/2006/main">
            <a:off x="4324350" y="54673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1" i="0">
                <a:solidFill>
                  <a:srgbClr val="52606D"/>
                </a:solidFill>
                <a:latin typeface="Aptos"/>
                <a:ea typeface="Aptos"/>
                <a:cs typeface="Aptos"/>
              </a:defRPr>
            </a:pPr>
            <a:r>
              <a:rPr sz="1425" b="1" i="0">
                <a:solidFill>
                  <a:srgbClr val="52606D"/>
                </a:solidFill>
                <a:latin typeface="Aptos"/>
                <a:ea typeface="Aptos"/>
                <a:cs typeface="Aptos"/>
              </a:rPr>
              <a:t>Trefferzahl / Selektivität</a:t>
            </a:r>
          </a:p>
        </p:txBody>
      </p:sp>
    </p:spTree>
    <p:extLst>
      <p:ext uri="{BB962C8B-B14F-4D97-AF65-F5344CB8AC3E}">
        <p14:creationId xmlns:p14="http://schemas.microsoft.com/office/powerpoint/2010/main" val="145376308"/>
      </p:ext>
    </p:extLst>
  </p:cSld>
</p:sld>
</file>

<file path=ppt/slides/slide5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97D332A8-3E97-4906-AA05-F4571B75B25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6A346B1D-B5E2-4783-9E89-54A2257AB2C1}"/>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 breiter oder nicht eindeutiger Clustering Key vervielfacht Folgekosten</a:t>
            </a:r>
          </a:p>
        </p:txBody>
      </p:sp>
      <p:sp>
        <p:nvSpPr>
          <p:cNvPr id="3" name="title-rule">
            <a:extLst xmlns:a="http://schemas.openxmlformats.org/drawingml/2006/main">
              <a:ext uri="{FF2B5EF4-FFF2-40B4-BE49-F238E27FC236}">
                <a16:creationId xmlns:a16="http://schemas.microsoft.com/office/drawing/2014/main" id="{10795166-0E09-4487-BB82-E4E0498D9EC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30E4CCE6-59DE-46D5-8272-FA3449156EC5}"/>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E872F1BE-EFC8-4FD7-818F-2B11D9446693}"/>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55 / 84</a:t>
            </a:r>
          </a:p>
        </p:txBody>
      </p:sp>
      <p:sp>
        <p:nvSpPr>
          <p:cNvPr id="6" name="lead">
            <a:extLst xmlns:a="http://schemas.openxmlformats.org/drawingml/2006/main">
              <a:ext uri="{FF2B5EF4-FFF2-40B4-BE49-F238E27FC236}">
                <a16:creationId xmlns:a16="http://schemas.microsoft.com/office/drawing/2014/main" id="{1D2BF7DE-1C22-4477-93D1-26AF843A0C21}"/>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Der Clustering Key wird als Row Locator in Nonclustered Indexes geführt.</a:t>
            </a:r>
          </a:p>
        </p:txBody>
      </p:sp>
      <p:sp>
        <p:nvSpPr>
          <p:cNvPr id="7" name="lead-accent">
            <a:extLst xmlns:a="http://schemas.openxmlformats.org/drawingml/2006/main">
              <a:ext uri="{FF2B5EF4-FFF2-40B4-BE49-F238E27FC236}">
                <a16:creationId xmlns:a16="http://schemas.microsoft.com/office/drawing/2014/main" id="{CAC32D6D-9700-47CF-917F-C1B7CA93859D}"/>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BC822B61-6971-4ED9-BF2D-BA26B13E98D4}"/>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breiter Key erhöht Speicher, I/O und Buffer-Pool-Druck</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nicht eindeutiger Key kann einen 4-Byte-Uniqueifier benötigen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Key-Updates betreffen alle abhängigen Nonclustered Indexes</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narrow, unique, immutable und möglichst sequenziell sind Designziele – keine Dogmen</a:t>
            </a:r>
          </a:p>
        </p:txBody>
      </p:sp>
    </p:spTree>
    <p:extLst>
      <p:ext uri="{BB962C8B-B14F-4D97-AF65-F5344CB8AC3E}">
        <p14:creationId xmlns:p14="http://schemas.microsoft.com/office/powerpoint/2010/main" val="902461558"/>
      </p:ext>
    </p:extLst>
  </p:cSld>
</p:sld>
</file>

<file path=ppt/slides/slide5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F57677C0-88C6-47D9-AC76-86786CC4F81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096CDB8B-38D5-4E4D-8A99-DA74A7C6A445}"/>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Jeder zusätzliche Index tauscht Read-Kosten gegen DML- und Betriebskosten</a:t>
            </a:r>
          </a:p>
        </p:txBody>
      </p:sp>
      <p:sp>
        <p:nvSpPr>
          <p:cNvPr id="3" name="title-rule">
            <a:extLst xmlns:a="http://schemas.openxmlformats.org/drawingml/2006/main">
              <a:ext uri="{FF2B5EF4-FFF2-40B4-BE49-F238E27FC236}">
                <a16:creationId xmlns:a16="http://schemas.microsoft.com/office/drawing/2014/main" id="{3201A524-114A-4AF3-A0CB-E46BC2FCF00C}"/>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E345FCCA-5664-4102-BC1F-92EFF42CF146}"/>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5E2E9201-BB20-47E1-B1C5-5A5BF97FB582}"/>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56 / 84</a:t>
            </a:r>
          </a:p>
        </p:txBody>
      </p:sp>
      <p:sp>
        <p:nvSpPr>
          <p:cNvPr id="6" name="left-title">
            <a:extLst xmlns:a="http://schemas.openxmlformats.org/drawingml/2006/main">
              <a:ext uri="{FF2B5EF4-FFF2-40B4-BE49-F238E27FC236}">
                <a16:creationId xmlns:a16="http://schemas.microsoft.com/office/drawing/2014/main" id="{48C1F50B-8047-4022-9BBF-EE4AD79C2304}"/>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Read-Nutzen</a:t>
            </a:r>
          </a:p>
        </p:txBody>
      </p:sp>
      <p:sp>
        <p:nvSpPr>
          <p:cNvPr id="7" name="right-title">
            <a:extLst xmlns:a="http://schemas.openxmlformats.org/drawingml/2006/main">
              <a:ext uri="{FF2B5EF4-FFF2-40B4-BE49-F238E27FC236}">
                <a16:creationId xmlns:a16="http://schemas.microsoft.com/office/drawing/2014/main" id="{FD800986-49C7-42B6-ACBE-45AAEA91CFE6}"/>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Write-Kosten</a:t>
            </a:r>
          </a:p>
        </p:txBody>
      </p:sp>
      <p:sp>
        <p:nvSpPr>
          <p:cNvPr id="8" name="middle-rule">
            <a:extLst xmlns:a="http://schemas.openxmlformats.org/drawingml/2006/main">
              <a:ext uri="{FF2B5EF4-FFF2-40B4-BE49-F238E27FC236}">
                <a16:creationId xmlns:a16="http://schemas.microsoft.com/office/drawing/2014/main" id="{C4CFF50F-3EF4-41A7-AF2C-0B03AB9464B1}"/>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13CB0E2F-6AE2-4B3C-86D5-A7ABFCC21294}"/>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Seek, Sortvermeidung und Coverage</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bessere Join- und Filterpfade</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weniger gelesene Pages</a:t>
            </a:r>
          </a:p>
        </p:txBody>
      </p:sp>
      <p:sp>
        <p:nvSpPr>
          <p:cNvPr id="10" name="right-points">
            <a:extLst xmlns:a="http://schemas.openxmlformats.org/drawingml/2006/main">
              <a:ext uri="{FF2B5EF4-FFF2-40B4-BE49-F238E27FC236}">
                <a16:creationId xmlns:a16="http://schemas.microsoft.com/office/drawing/2014/main" id="{2DA725E8-AC65-41C7-A193-422DA61C4B83}"/>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INSERT, UPDATE und DELETE pflegen jede Struktur</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mehr Log, Memory und Locks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Rebuild, Reorganize und Statistikpflege</a:t>
            </a:r>
          </a:p>
        </p:txBody>
      </p:sp>
      <p:sp>
        <p:nvSpPr>
          <p:cNvPr id="11" name="conclusion-bg">
            <a:extLst xmlns:a="http://schemas.openxmlformats.org/drawingml/2006/main">
              <a:ext uri="{FF2B5EF4-FFF2-40B4-BE49-F238E27FC236}">
                <a16:creationId xmlns:a16="http://schemas.microsoft.com/office/drawing/2014/main" id="{BF35885A-F305-47FD-ACBF-AE2DA46C8CF4}"/>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62BB85C6-2A1B-44BB-ABAF-FEE48D19F324}"/>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Indexdesign beginnt bei priorisierten Workloads, nicht bei Missing-Index-Vorschlägen allein.</a:t>
            </a:r>
          </a:p>
        </p:txBody>
      </p:sp>
    </p:spTree>
    <p:extLst>
      <p:ext uri="{BB962C8B-B14F-4D97-AF65-F5344CB8AC3E}">
        <p14:creationId xmlns:p14="http://schemas.microsoft.com/office/powerpoint/2010/main" val="1462976979"/>
      </p:ext>
    </p:extLst>
  </p:cSld>
</p:sld>
</file>

<file path=ppt/slides/slide5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DE18BA18-CC1F-47E0-A979-5D601D50125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FEE11A01-916B-42E3-B5B6-0A38CCEF856F}"/>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Page Splits, Fragmentation und Page Density dürfen nicht gleichgesetzt werden</a:t>
            </a:r>
          </a:p>
        </p:txBody>
      </p:sp>
      <p:sp>
        <p:nvSpPr>
          <p:cNvPr id="3" name="title-rule">
            <a:extLst xmlns:a="http://schemas.openxmlformats.org/drawingml/2006/main">
              <a:ext uri="{FF2B5EF4-FFF2-40B4-BE49-F238E27FC236}">
                <a16:creationId xmlns:a16="http://schemas.microsoft.com/office/drawing/2014/main" id="{DDD52A3B-B4A8-4EB2-9533-CC53105AB38D}"/>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99148A56-BD2F-4CA9-B428-9180B9527C36}"/>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C99154ED-4861-488F-91D5-E5BBE784D499}"/>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57 / 84</a:t>
            </a:r>
          </a:p>
        </p:txBody>
      </p:sp>
      <p:sp>
        <p:nvSpPr>
          <p:cNvPr id="6" name="left-title">
            <a:extLst xmlns:a="http://schemas.openxmlformats.org/drawingml/2006/main">
              <a:ext uri="{FF2B5EF4-FFF2-40B4-BE49-F238E27FC236}">
                <a16:creationId xmlns:a16="http://schemas.microsoft.com/office/drawing/2014/main" id="{E0D3FB46-440F-4205-9CB9-BEA4904B0838}"/>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Page Split</a:t>
            </a:r>
          </a:p>
        </p:txBody>
      </p:sp>
      <p:sp>
        <p:nvSpPr>
          <p:cNvPr id="7" name="right-title">
            <a:extLst xmlns:a="http://schemas.openxmlformats.org/drawingml/2006/main">
              <a:ext uri="{FF2B5EF4-FFF2-40B4-BE49-F238E27FC236}">
                <a16:creationId xmlns:a16="http://schemas.microsoft.com/office/drawing/2014/main" id="{0A9FF7A1-34F0-4BE9-8347-6C4B79A7EDD9}"/>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Page Density</a:t>
            </a:r>
          </a:p>
        </p:txBody>
      </p:sp>
      <p:sp>
        <p:nvSpPr>
          <p:cNvPr id="8" name="middle-rule">
            <a:extLst xmlns:a="http://schemas.openxmlformats.org/drawingml/2006/main">
              <a:ext uri="{FF2B5EF4-FFF2-40B4-BE49-F238E27FC236}">
                <a16:creationId xmlns:a16="http://schemas.microsoft.com/office/drawing/2014/main" id="{82E32052-F449-4F66-A4CE-972C82061080}"/>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05FC88F8-00ED-4F50-A58F-7D1B0CD13A5D}"/>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neue Page und Row-Verteilung</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Log- und Write-Kosten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kann interne Fragmentation hinterlassen</a:t>
            </a:r>
          </a:p>
        </p:txBody>
      </p:sp>
      <p:sp>
        <p:nvSpPr>
          <p:cNvPr id="10" name="right-points">
            <a:extLst xmlns:a="http://schemas.openxmlformats.org/drawingml/2006/main">
              <a:ext uri="{FF2B5EF4-FFF2-40B4-BE49-F238E27FC236}">
                <a16:creationId xmlns:a16="http://schemas.microsoft.com/office/drawing/2014/main" id="{BFC6878B-75B2-46DE-8536-862C92E3B7D7}"/>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Rows pro Page und Cacheeffizienz</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niedrige Dichte erhöht Reads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Fill Factor beeinflusst Dichte nach Rebuild</a:t>
            </a:r>
          </a:p>
        </p:txBody>
      </p:sp>
      <p:sp>
        <p:nvSpPr>
          <p:cNvPr id="11" name="conclusion-bg">
            <a:extLst xmlns:a="http://schemas.openxmlformats.org/drawingml/2006/main">
              <a:ext uri="{FF2B5EF4-FFF2-40B4-BE49-F238E27FC236}">
                <a16:creationId xmlns:a16="http://schemas.microsoft.com/office/drawing/2014/main" id="{E3BE006A-08C7-49D8-9A7F-DCA85F5F7055}"/>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20A84467-8286-4EC9-9E9C-863911B3E9FA}"/>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Für viele Workloads ist Page Density wichtiger als reine Fragmentation.</a:t>
            </a:r>
          </a:p>
        </p:txBody>
      </p:sp>
    </p:spTree>
    <p:extLst>
      <p:ext uri="{BB962C8B-B14F-4D97-AF65-F5344CB8AC3E}">
        <p14:creationId xmlns:p14="http://schemas.microsoft.com/office/powerpoint/2010/main" val="853938591"/>
      </p:ext>
    </p:extLst>
  </p:cSld>
</p:sld>
</file>

<file path=ppt/slides/slide5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15574421-1D62-4636-8018-E2627000DC1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67BAAAA9-64A8-460C-9FFB-F732B8D7C67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Index Maintenance ist eine evidenzbasierte Betriebsentscheidung</a:t>
            </a:r>
          </a:p>
        </p:txBody>
      </p:sp>
      <p:sp>
        <p:nvSpPr>
          <p:cNvPr id="3" name="title-rule">
            <a:extLst xmlns:a="http://schemas.openxmlformats.org/drawingml/2006/main">
              <a:ext uri="{FF2B5EF4-FFF2-40B4-BE49-F238E27FC236}">
                <a16:creationId xmlns:a16="http://schemas.microsoft.com/office/drawing/2014/main" id="{59FC73CC-D34B-4417-A2C7-DE3D20456825}"/>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10C41EE3-15DC-4A42-BE6C-1A6B1FE10010}"/>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65F3CDC4-1AD8-4EF9-AEE0-28C619EBD8D6}"/>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58 / 84</a:t>
            </a:r>
          </a:p>
        </p:txBody>
      </p:sp>
      <p:sp>
        <p:nvSpPr>
          <p:cNvPr id="6" name="lead">
            <a:extLst xmlns:a="http://schemas.openxmlformats.org/drawingml/2006/main">
              <a:ext uri="{FF2B5EF4-FFF2-40B4-BE49-F238E27FC236}">
                <a16:creationId xmlns:a16="http://schemas.microsoft.com/office/drawing/2014/main" id="{B51493F5-3A4A-488F-8819-5DFFDC72963A}"/>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Reorganize, Rebuild und Statistikpflege lösen unterschiedliche Probleme und erzeugen unterschiedliche Last.</a:t>
            </a:r>
          </a:p>
        </p:txBody>
      </p:sp>
      <p:sp>
        <p:nvSpPr>
          <p:cNvPr id="7" name="lead-accent">
            <a:extLst xmlns:a="http://schemas.openxmlformats.org/drawingml/2006/main">
              <a:ext uri="{FF2B5EF4-FFF2-40B4-BE49-F238E27FC236}">
                <a16:creationId xmlns:a16="http://schemas.microsoft.com/office/drawing/2014/main" id="{A2F97584-C75D-4CC4-8DE9-544C31E506E3}"/>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7E138BAB-96B9-465B-AB23-18EE98BDF836}"/>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avg_page_space_used_in_percent und Workloadwirkung prüfen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Rebuild benötigt Log-, TempDB-, Storage- und Sperrbudget</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Reorganize bearbeitet Rowstore-Leaf-Level online</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Statistikpflege ist nicht identisch mit physischer Maintenance</a:t>
            </a:r>
          </a:p>
        </p:txBody>
      </p:sp>
    </p:spTree>
    <p:extLst>
      <p:ext uri="{BB962C8B-B14F-4D97-AF65-F5344CB8AC3E}">
        <p14:creationId xmlns:p14="http://schemas.microsoft.com/office/powerpoint/2010/main" val="1155358273"/>
      </p:ext>
    </p:extLst>
  </p:cSld>
</p:sld>
</file>

<file path=ppt/slides/slide5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E9AF5A0E-6FE7-477A-91F5-D8A2B470814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03246B85-0780-4E5C-AEF9-1BB72022C527}"/>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Columnstore organisiert Daten als Rowgroups und komprimierte Column Segments</a:t>
            </a:r>
          </a:p>
        </p:txBody>
      </p:sp>
      <p:sp>
        <p:nvSpPr>
          <p:cNvPr id="3" name="title-rule">
            <a:extLst xmlns:a="http://schemas.openxmlformats.org/drawingml/2006/main">
              <a:ext uri="{FF2B5EF4-FFF2-40B4-BE49-F238E27FC236}">
                <a16:creationId xmlns:a16="http://schemas.microsoft.com/office/drawing/2014/main" id="{A336B11A-7061-449D-878B-1631ECC90C67}"/>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1B28F2C4-002D-48DB-9A1C-DA13325E44D7}"/>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58A5E5A2-5AB6-4908-8E3B-D151188A203D}"/>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59 / 84</a:t>
            </a:r>
          </a:p>
        </p:txBody>
      </p:sp>
      <p:sp>
        <p:nvSpPr>
          <p:cNvPr id="6" name="cs-rows">
            <a:extLst xmlns:a="http://schemas.openxmlformats.org/drawingml/2006/main">
              <a:ext uri="{FF2B5EF4-FFF2-40B4-BE49-F238E27FC236}">
                <a16:creationId xmlns:a16="http://schemas.microsoft.com/office/drawing/2014/main" id="{89517150-769F-408D-A82E-B076E10CACE1}"/>
              </a:ext>
            </a:extLst>
          </p:cNvPr>
          <p:cNvSpPr>
            <a:spLocks xmlns:a="http://schemas.openxmlformats.org/drawingml/2006/main" noGrp="1"/>
          </p:cNvSpPr>
          <p:nvPr/>
        </p:nvSpPr>
        <p:spPr>
          <a:xfrm xmlns:a="http://schemas.openxmlformats.org/drawingml/2006/main">
            <a:off x="742950" y="3276600"/>
            <a:ext cx="15240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C"/>
            </a:solidFill>
            <a:prstDash val="solid"/>
          </a:ln>
        </p:spPr>
      </p:sp>
      <p:sp>
        <p:nvSpPr>
          <p:cNvPr id="7" name="cs-rows-text">
            <a:extLst xmlns:a="http://schemas.openxmlformats.org/drawingml/2006/main">
              <a:ext uri="{FF2B5EF4-FFF2-40B4-BE49-F238E27FC236}">
                <a16:creationId xmlns:a16="http://schemas.microsoft.com/office/drawing/2014/main" id="{0BA9B5BC-BF60-4E4C-A823-A9D9B15E194D}"/>
              </a:ext>
            </a:extLst>
          </p:cNvPr>
          <p:cNvSpPr>
            <a:spLocks xmlns:a="http://schemas.openxmlformats.org/drawingml/2006/main" noGrp="1"/>
          </p:cNvSpPr>
          <p:nvPr/>
        </p:nvSpPr>
        <p:spPr>
          <a:xfrm xmlns:a="http://schemas.openxmlformats.org/drawingml/2006/main">
            <a:off x="876300" y="3390900"/>
            <a:ext cx="1257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Rows</a:t>
            </a:r>
          </a:p>
        </p:txBody>
      </p:sp>
      <p:sp>
        <p:nvSpPr>
          <p:cNvPr id="8" name="cs-rg">
            <a:extLst xmlns:a="http://schemas.openxmlformats.org/drawingml/2006/main">
              <a:ext uri="{FF2B5EF4-FFF2-40B4-BE49-F238E27FC236}">
                <a16:creationId xmlns:a16="http://schemas.microsoft.com/office/drawing/2014/main" id="{F3302BB1-5C87-4DC1-B731-61F5E0D35E04}"/>
              </a:ext>
            </a:extLst>
          </p:cNvPr>
          <p:cNvSpPr>
            <a:spLocks xmlns:a="http://schemas.openxmlformats.org/drawingml/2006/main" noGrp="1"/>
          </p:cNvSpPr>
          <p:nvPr/>
        </p:nvSpPr>
        <p:spPr>
          <a:xfrm xmlns:a="http://schemas.openxmlformats.org/drawingml/2006/main">
            <a:off x="3009900" y="3028950"/>
            <a:ext cx="2190750" cy="1562100"/>
          </a:xfrm>
          <a:prstGeom xmlns:a="http://schemas.openxmlformats.org/drawingml/2006/main" prst="roundRect">
            <a:avLst>
              <a:gd name="adj" fmla="val 4878"/>
            </a:avLst>
          </a:prstGeom>
          <a:solidFill xmlns:a="http://schemas.openxmlformats.org/drawingml/2006/main">
            <a:srgbClr val="EAF4F4"/>
          </a:solidFill>
          <a:ln xmlns:a="http://schemas.openxmlformats.org/drawingml/2006/main" w="9525">
            <a:solidFill>
              <a:srgbClr val="D9E2EC"/>
            </a:solidFill>
            <a:prstDash val="solid"/>
          </a:ln>
        </p:spPr>
      </p:sp>
      <p:sp>
        <p:nvSpPr>
          <p:cNvPr id="9" name="cs-rg-text">
            <a:extLst xmlns:a="http://schemas.openxmlformats.org/drawingml/2006/main">
              <a:ext uri="{FF2B5EF4-FFF2-40B4-BE49-F238E27FC236}">
                <a16:creationId xmlns:a16="http://schemas.microsoft.com/office/drawing/2014/main" id="{E3AAEF22-E3C6-4EDF-9082-210317C555F4}"/>
              </a:ext>
            </a:extLst>
          </p:cNvPr>
          <p:cNvSpPr>
            <a:spLocks xmlns:a="http://schemas.openxmlformats.org/drawingml/2006/main" noGrp="1"/>
          </p:cNvSpPr>
          <p:nvPr/>
        </p:nvSpPr>
        <p:spPr>
          <a:xfrm xmlns:a="http://schemas.openxmlformats.org/drawingml/2006/main">
            <a:off x="3143250" y="3143250"/>
            <a:ext cx="19240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Rowgroups</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bis 1.048.576 Rows</a:t>
            </a:r>
          </a:p>
        </p:txBody>
      </p:sp>
      <p:sp>
        <p:nvSpPr>
          <p:cNvPr id="10" name="cs-seg">
            <a:extLst xmlns:a="http://schemas.openxmlformats.org/drawingml/2006/main">
              <a:ext uri="{FF2B5EF4-FFF2-40B4-BE49-F238E27FC236}">
                <a16:creationId xmlns:a16="http://schemas.microsoft.com/office/drawing/2014/main" id="{89136A7A-2698-46B8-8D47-D093D998E827}"/>
              </a:ext>
            </a:extLst>
          </p:cNvPr>
          <p:cNvSpPr>
            <a:spLocks xmlns:a="http://schemas.openxmlformats.org/drawingml/2006/main" noGrp="1"/>
          </p:cNvSpPr>
          <p:nvPr/>
        </p:nvSpPr>
        <p:spPr>
          <a:xfrm xmlns:a="http://schemas.openxmlformats.org/drawingml/2006/main">
            <a:off x="6019800" y="3028950"/>
            <a:ext cx="2190750" cy="1562100"/>
          </a:xfrm>
          <a:prstGeom xmlns:a="http://schemas.openxmlformats.org/drawingml/2006/main" prst="roundRect">
            <a:avLst>
              <a:gd name="adj" fmla="val 4878"/>
            </a:avLst>
          </a:prstGeom>
          <a:solidFill xmlns:a="http://schemas.openxmlformats.org/drawingml/2006/main">
            <a:srgbClr val="FFF3E4"/>
          </a:solidFill>
          <a:ln xmlns:a="http://schemas.openxmlformats.org/drawingml/2006/main" w="9525">
            <a:solidFill>
              <a:srgbClr val="D9E2EC"/>
            </a:solidFill>
            <a:prstDash val="solid"/>
          </a:ln>
        </p:spPr>
      </p:sp>
      <p:sp>
        <p:nvSpPr>
          <p:cNvPr id="11" name="cs-seg-text">
            <a:extLst xmlns:a="http://schemas.openxmlformats.org/drawingml/2006/main">
              <a:ext uri="{FF2B5EF4-FFF2-40B4-BE49-F238E27FC236}">
                <a16:creationId xmlns:a16="http://schemas.microsoft.com/office/drawing/2014/main" id="{2F53C3BD-B642-449C-A04E-FF40C8426AD6}"/>
              </a:ext>
            </a:extLst>
          </p:cNvPr>
          <p:cNvSpPr>
            <a:spLocks xmlns:a="http://schemas.openxmlformats.org/drawingml/2006/main" noGrp="1"/>
          </p:cNvSpPr>
          <p:nvPr/>
        </p:nvSpPr>
        <p:spPr>
          <a:xfrm xmlns:a="http://schemas.openxmlformats.org/drawingml/2006/main">
            <a:off x="6153150" y="3143250"/>
            <a:ext cx="19240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Column Segments</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komprimiert</a:t>
            </a:r>
          </a:p>
        </p:txBody>
      </p:sp>
      <p:sp>
        <p:nvSpPr>
          <p:cNvPr id="12" name="cs-meta">
            <a:extLst xmlns:a="http://schemas.openxmlformats.org/drawingml/2006/main">
              <a:ext uri="{FF2B5EF4-FFF2-40B4-BE49-F238E27FC236}">
                <a16:creationId xmlns:a16="http://schemas.microsoft.com/office/drawing/2014/main" id="{B15DF642-7A60-45F4-9636-67AB45742B5F}"/>
              </a:ext>
            </a:extLst>
          </p:cNvPr>
          <p:cNvSpPr>
            <a:spLocks xmlns:a="http://schemas.openxmlformats.org/drawingml/2006/main" noGrp="1"/>
          </p:cNvSpPr>
          <p:nvPr/>
        </p:nvSpPr>
        <p:spPr>
          <a:xfrm xmlns:a="http://schemas.openxmlformats.org/drawingml/2006/main">
            <a:off x="9029700" y="3276600"/>
            <a:ext cx="2095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C"/>
            </a:solidFill>
            <a:prstDash val="solid"/>
          </a:ln>
        </p:spPr>
      </p:sp>
      <p:sp>
        <p:nvSpPr>
          <p:cNvPr id="13" name="cs-meta-text">
            <a:extLst xmlns:a="http://schemas.openxmlformats.org/drawingml/2006/main">
              <a:ext uri="{FF2B5EF4-FFF2-40B4-BE49-F238E27FC236}">
                <a16:creationId xmlns:a16="http://schemas.microsoft.com/office/drawing/2014/main" id="{7B18EBFE-03E1-4A12-BC93-F5838138E423}"/>
              </a:ext>
            </a:extLst>
          </p:cNvPr>
          <p:cNvSpPr>
            <a:spLocks xmlns:a="http://schemas.openxmlformats.org/drawingml/2006/main" noGrp="1"/>
          </p:cNvSpPr>
          <p:nvPr/>
        </p:nvSpPr>
        <p:spPr>
          <a:xfrm xmlns:a="http://schemas.openxmlformats.org/drawingml/2006/main">
            <a:off x="9163050" y="3390900"/>
            <a:ext cx="1828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Min / Max</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Metadaten</a:t>
            </a:r>
          </a:p>
        </p:txBody>
      </p:sp>
      <p:cxnSp>
        <p:nvCxnSpPr>
          <p:cNvPr id="31" name=""/>
          <p:cNvCxnSpPr>
            <a:stCxn xmlns:a="http://schemas.openxmlformats.org/drawingml/2006/main" id="6" idx="3"/>
            <a:endCxn xmlns:a="http://schemas.openxmlformats.org/drawingml/2006/main" id="8" idx="1"/>
          </p:cNvCxnSpPr>
          <p:nvPr/>
        </p:nvCxnSpPr>
        <p:spPr>
          <a:xfrm xmlns:a="http://schemas.openxmlformats.org/drawingml/2006/main">
            <a:off x="2266950" y="3810000"/>
            <a:ext cx="7429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2" name=""/>
          <p:cNvCxnSpPr>
            <a:stCxn xmlns:a="http://schemas.openxmlformats.org/drawingml/2006/main" id="8" idx="3"/>
            <a:endCxn xmlns:a="http://schemas.openxmlformats.org/drawingml/2006/main" id="10" idx="1"/>
          </p:cNvCxnSpPr>
          <p:nvPr/>
        </p:nvCxnSpPr>
        <p:spPr>
          <a:xfrm xmlns:a="http://schemas.openxmlformats.org/drawingml/2006/main">
            <a:off x="5200650" y="3810000"/>
            <a:ext cx="8191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3" name=""/>
          <p:cNvCxnSpPr>
            <a:stCxn xmlns:a="http://schemas.openxmlformats.org/drawingml/2006/main" id="10" idx="3"/>
            <a:endCxn xmlns:a="http://schemas.openxmlformats.org/drawingml/2006/main" id="12" idx="1"/>
          </p:cNvCxnSpPr>
          <p:nvPr/>
        </p:nvCxnSpPr>
        <p:spPr>
          <a:xfrm xmlns:a="http://schemas.openxmlformats.org/drawingml/2006/main">
            <a:off x="8210550" y="3810000"/>
            <a:ext cx="8191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17" name="cs-caption">
            <a:extLst xmlns:a="http://schemas.openxmlformats.org/drawingml/2006/main">
              <a:ext uri="{FF2B5EF4-FFF2-40B4-BE49-F238E27FC236}">
                <a16:creationId xmlns:a16="http://schemas.microsoft.com/office/drawing/2014/main" id="{7351C801-3396-4F02-9235-93A0CE1135F0}"/>
              </a:ext>
            </a:extLst>
          </p:cNvPr>
          <p:cNvSpPr>
            <a:spLocks xmlns:a="http://schemas.openxmlformats.org/drawingml/2006/main" noGrp="1"/>
          </p:cNvSpPr>
          <p:nvPr/>
        </p:nvSpPr>
        <p:spPr>
          <a:xfrm xmlns:a="http://schemas.openxmlformats.org/drawingml/2006/main">
            <a:off x="2095500" y="5181600"/>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10"/>
          </a:bodyPr>
          <a:lstStyle xmlns:a="http://schemas.openxmlformats.org/drawingml/2006/main"/>
          <a:p xmlns:a="http://schemas.openxmlformats.org/drawingml/2006/main">
            <a:pPr algn="ctr">
              <a:lnSpc>
                <a:spcPct val="105000"/>
              </a:lnSpc>
              <a:buNone/>
              <a:defRPr sz="1875" b="1" i="0">
                <a:solidFill>
                  <a:srgbClr val="102A43"/>
                </a:solidFill>
                <a:latin typeface="Aptos"/>
                <a:ea typeface="Aptos"/>
                <a:cs typeface="Aptos"/>
              </a:defRPr>
            </a:pPr>
            <a:r>
              <a:rPr sz="1875" b="1" i="0">
                <a:solidFill>
                  <a:srgbClr val="102A43"/>
                </a:solidFill>
                <a:latin typeface="Aptos"/>
                <a:ea typeface="Aptos"/>
                <a:cs typeface="Aptos"/>
              </a:rPr>
              <a:t>Ein Segment enthält die Werte einer Spalte innerhalb eines Rowgroups.</a:t>
            </a:r>
          </a:p>
        </p:txBody>
      </p:sp>
    </p:spTree>
    <p:extLst>
      <p:ext uri="{BB962C8B-B14F-4D97-AF65-F5344CB8AC3E}">
        <p14:creationId xmlns:p14="http://schemas.microsoft.com/office/powerpoint/2010/main" val="1812341043"/>
      </p:ext>
    </p:extLst>
  </p:cSld>
</p:sld>
</file>

<file path=ppt/slides/slide6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0B613B3C-C380-4CCF-9CDE-CDFA4EE6B94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59AFAF16-A237-440F-92FC-9E5607DBD753}"/>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Batch Mode und Segment Elimination reduzieren unterschiedliche Arbeit</a:t>
            </a:r>
          </a:p>
        </p:txBody>
      </p:sp>
      <p:sp>
        <p:nvSpPr>
          <p:cNvPr id="3" name="title-rule">
            <a:extLst xmlns:a="http://schemas.openxmlformats.org/drawingml/2006/main">
              <a:ext uri="{FF2B5EF4-FFF2-40B4-BE49-F238E27FC236}">
                <a16:creationId xmlns:a16="http://schemas.microsoft.com/office/drawing/2014/main" id="{EF01426E-BEAE-4EC3-BE25-44182AF7ECE5}"/>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74135F1D-239B-4AA7-9C25-44DF56026DCE}"/>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38454BD3-ACB1-48D1-AA7E-67F794A9FCE7}"/>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60 / 84</a:t>
            </a:r>
          </a:p>
        </p:txBody>
      </p:sp>
      <p:sp>
        <p:nvSpPr>
          <p:cNvPr id="6" name="left-title">
            <a:extLst xmlns:a="http://schemas.openxmlformats.org/drawingml/2006/main">
              <a:ext uri="{FF2B5EF4-FFF2-40B4-BE49-F238E27FC236}">
                <a16:creationId xmlns:a16="http://schemas.microsoft.com/office/drawing/2014/main" id="{4F8512FA-4B84-48F0-AD2A-8EA20DB922E2}"/>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Batch Mode</a:t>
            </a:r>
          </a:p>
        </p:txBody>
      </p:sp>
      <p:sp>
        <p:nvSpPr>
          <p:cNvPr id="7" name="right-title">
            <a:extLst xmlns:a="http://schemas.openxmlformats.org/drawingml/2006/main">
              <a:ext uri="{FF2B5EF4-FFF2-40B4-BE49-F238E27FC236}">
                <a16:creationId xmlns:a16="http://schemas.microsoft.com/office/drawing/2014/main" id="{08EC2A1A-48EE-47FF-B81D-282CA88ADB88}"/>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Segment Elimination</a:t>
            </a:r>
          </a:p>
        </p:txBody>
      </p:sp>
      <p:sp>
        <p:nvSpPr>
          <p:cNvPr id="8" name="middle-rule">
            <a:extLst xmlns:a="http://schemas.openxmlformats.org/drawingml/2006/main">
              <a:ext uri="{FF2B5EF4-FFF2-40B4-BE49-F238E27FC236}">
                <a16:creationId xmlns:a16="http://schemas.microsoft.com/office/drawing/2014/main" id="{49DA48EE-148B-4FD6-97B5-A1DAC004F65E}"/>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9675C47A-3660-440C-8386-6CDE70DF8F39}"/>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verarbeitet typischerweise bis zu 900 Rows pro Batch</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reduziert Operator-Overhead</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auch auf Rowstore in geeigneten Plänen ab CL 150</a:t>
            </a:r>
          </a:p>
        </p:txBody>
      </p:sp>
      <p:sp>
        <p:nvSpPr>
          <p:cNvPr id="10" name="right-points">
            <a:extLst xmlns:a="http://schemas.openxmlformats.org/drawingml/2006/main">
              <a:ext uri="{FF2B5EF4-FFF2-40B4-BE49-F238E27FC236}">
                <a16:creationId xmlns:a16="http://schemas.microsoft.com/office/drawing/2014/main" id="{8298E4B3-C7EC-4373-B4F4-5CEEBE1DC3EF}"/>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vergleicht Prädikate mit Segment-Min/Max</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überspringt vollständige Segmente</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Datenordnung beeinflusst Effektivität</a:t>
            </a:r>
          </a:p>
        </p:txBody>
      </p:sp>
      <p:sp>
        <p:nvSpPr>
          <p:cNvPr id="11" name="conclusion-bg">
            <a:extLst xmlns:a="http://schemas.openxmlformats.org/drawingml/2006/main">
              <a:ext uri="{FF2B5EF4-FFF2-40B4-BE49-F238E27FC236}">
                <a16:creationId xmlns:a16="http://schemas.microsoft.com/office/drawing/2014/main" id="{9B4FF05A-F73F-499E-993E-F112311D716D}"/>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F274F4DE-3438-41E4-842E-6F2C9394EF50}"/>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Columnstore profitiert von Verarbeitung und Datenanordnung.</a:t>
            </a:r>
          </a:p>
        </p:txBody>
      </p:sp>
    </p:spTree>
    <p:extLst>
      <p:ext uri="{BB962C8B-B14F-4D97-AF65-F5344CB8AC3E}">
        <p14:creationId xmlns:p14="http://schemas.microsoft.com/office/powerpoint/2010/main" val="621028891"/>
      </p:ext>
    </p:extLst>
  </p:cSld>
</p:sld>
</file>

<file path=ppt/slides/slide6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8C6E628F-61C9-434D-855B-150EF35820D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4 · INDIZES</a:t>
            </a:r>
          </a:p>
        </p:txBody>
      </p:sp>
      <p:sp>
        <p:nvSpPr>
          <p:cNvPr id="2" name="slide-title">
            <a:extLst xmlns:a="http://schemas.openxmlformats.org/drawingml/2006/main">
              <a:ext uri="{FF2B5EF4-FFF2-40B4-BE49-F238E27FC236}">
                <a16:creationId xmlns:a16="http://schemas.microsoft.com/office/drawing/2014/main" id="{0894EACA-A1D1-4E2B-AE4A-2636AD1C72CA}"/>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Rowgroup-Qualität entscheidet über Compression und Elimination</a:t>
            </a:r>
          </a:p>
        </p:txBody>
      </p:sp>
      <p:sp>
        <p:nvSpPr>
          <p:cNvPr id="3" name="title-rule">
            <a:extLst xmlns:a="http://schemas.openxmlformats.org/drawingml/2006/main">
              <a:ext uri="{FF2B5EF4-FFF2-40B4-BE49-F238E27FC236}">
                <a16:creationId xmlns:a16="http://schemas.microsoft.com/office/drawing/2014/main" id="{E54D5077-47C2-4EA0-9F75-C8E001E1732A}"/>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778ECF48-D239-43A9-AA3B-4006CB989545}"/>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B7242B18-039F-4A4E-9603-C19E5F0EBAAE}"/>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61 / 84</a:t>
            </a:r>
          </a:p>
        </p:txBody>
      </p:sp>
      <p:sp>
        <p:nvSpPr>
          <p:cNvPr id="6" name="lead">
            <a:extLst xmlns:a="http://schemas.openxmlformats.org/drawingml/2006/main">
              <a:ext uri="{FF2B5EF4-FFF2-40B4-BE49-F238E27FC236}">
                <a16:creationId xmlns:a16="http://schemas.microsoft.com/office/drawing/2014/main" id="{30340E67-E544-43E6-AB3B-34304C1B95BD}"/>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Kleine oder stark überlappende Rowgroups erhöhen Metadaten- und Scanarbeit.</a:t>
            </a:r>
          </a:p>
        </p:txBody>
      </p:sp>
      <p:sp>
        <p:nvSpPr>
          <p:cNvPr id="7" name="lead-accent">
            <a:extLst xmlns:a="http://schemas.openxmlformats.org/drawingml/2006/main">
              <a:ext uri="{FF2B5EF4-FFF2-40B4-BE49-F238E27FC236}">
                <a16:creationId xmlns:a16="http://schemas.microsoft.com/office/drawing/2014/main" id="{33A0AF17-5D13-41C8-AAE8-37623DD9DBA5}"/>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EA54E1D8-87F6-44FD-B2C7-A8B75A6F5ECF}"/>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Delta Store nimmt kleine DML-Batches als Rowstore auf</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Tuple Mover komprimiert geschlossene Delta Rowgroups</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Delete Bitmap markiert gelöschte Rows bis zur physischen Bereinigung</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Background Merge ab SQL Server 2019 verbessert Qualität über Zeit</a:t>
            </a:r>
          </a:p>
        </p:txBody>
      </p:sp>
    </p:spTree>
    <p:extLst>
      <p:ext uri="{BB962C8B-B14F-4D97-AF65-F5344CB8AC3E}">
        <p14:creationId xmlns:p14="http://schemas.microsoft.com/office/powerpoint/2010/main" val="1764890175"/>
      </p:ext>
    </p:extLst>
  </p:cSld>
</p:sld>
</file>

<file path=ppt/slides/slide62.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module">
            <a:extLst xmlns:a="http://schemas.openxmlformats.org/drawingml/2006/main">
              <a:ext uri="{FF2B5EF4-FFF2-40B4-BE49-F238E27FC236}">
                <a16:creationId xmlns:a16="http://schemas.microsoft.com/office/drawing/2014/main" id="{E9845A71-787F-4515-B461-4BF6AF0779B2}"/>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4 · WISSENSKONTROLLE</a:t>
            </a:r>
          </a:p>
        </p:txBody>
      </p:sp>
      <p:sp>
        <p:nvSpPr>
          <p:cNvPr id="2" name="question">
            <a:extLst xmlns:a="http://schemas.openxmlformats.org/drawingml/2006/main">
              <a:ext uri="{FF2B5EF4-FFF2-40B4-BE49-F238E27FC236}">
                <a16:creationId xmlns:a16="http://schemas.microsoft.com/office/drawing/2014/main" id="{8AEF9492-6B05-427D-B32A-9AEEC9E1F5B6}"/>
              </a:ext>
            </a:extLst>
          </p:cNvPr>
          <p:cNvSpPr>
            <a:spLocks xmlns:a="http://schemas.openxmlformats.org/drawingml/2006/main" noGrp="1"/>
          </p:cNvSpPr>
          <p:nvPr/>
        </p:nvSpPr>
        <p:spPr>
          <a:xfrm xmlns:a="http://schemas.openxmlformats.org/drawingml/2006/main">
            <a:off x="609600" y="1219200"/>
            <a:ext cx="990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Welche Evidenz rechtfertigt einen neuen Index?</a:t>
            </a:r>
          </a:p>
        </p:txBody>
      </p:sp>
      <p:sp>
        <p:nvSpPr>
          <p:cNvPr id="3" name="question-rule">
            <a:extLst xmlns:a="http://schemas.openxmlformats.org/drawingml/2006/main">
              <a:ext uri="{FF2B5EF4-FFF2-40B4-BE49-F238E27FC236}">
                <a16:creationId xmlns:a16="http://schemas.microsoft.com/office/drawing/2014/main" id="{E2066AF9-5E32-49C6-9880-7AC554A87422}"/>
              </a:ext>
            </a:extLst>
          </p:cNvPr>
          <p:cNvSpPr>
            <a:spLocks xmlns:a="http://schemas.openxmlformats.org/drawingml/2006/main" noGrp="1"/>
          </p:cNvSpPr>
          <p:nvPr/>
        </p:nvSpPr>
        <p:spPr>
          <a:xfrm xmlns:a="http://schemas.openxmlformats.org/drawingml/2006/main">
            <a:off x="609600" y="3048000"/>
            <a:ext cx="106680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4" name="prompt-num-0">
            <a:extLst xmlns:a="http://schemas.openxmlformats.org/drawingml/2006/main">
              <a:ext uri="{FF2B5EF4-FFF2-40B4-BE49-F238E27FC236}">
                <a16:creationId xmlns:a16="http://schemas.microsoft.com/office/drawing/2014/main" id="{5121C6BF-BE1F-4238-9616-B6A35007F36E}"/>
              </a:ext>
            </a:extLst>
          </p:cNvPr>
          <p:cNvSpPr>
            <a:spLocks xmlns:a="http://schemas.openxmlformats.org/drawingml/2006/main" noGrp="1"/>
          </p:cNvSpPr>
          <p:nvPr/>
        </p:nvSpPr>
        <p:spPr>
          <a:xfrm xmlns:a="http://schemas.openxmlformats.org/drawingml/2006/main">
            <a:off x="66675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xmlns:a="http://schemas.openxmlformats.org/drawingml/2006/main">
              <a:ext uri="{FF2B5EF4-FFF2-40B4-BE49-F238E27FC236}">
                <a16:creationId xmlns:a16="http://schemas.microsoft.com/office/drawing/2014/main" id="{0E2C3C2E-A480-452A-AFBE-B6596068CDB3}"/>
              </a:ext>
            </a:extLst>
          </p:cNvPr>
          <p:cNvSpPr>
            <a:spLocks xmlns:a="http://schemas.openxmlformats.org/drawingml/2006/main" noGrp="1"/>
          </p:cNvSpPr>
          <p:nvPr/>
        </p:nvSpPr>
        <p:spPr>
          <a:xfrm xmlns:a="http://schemas.openxmlformats.org/drawingml/2006/main">
            <a:off x="125730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priorisierte Query und Zugriffsmuster</a:t>
            </a:r>
          </a:p>
        </p:txBody>
      </p:sp>
      <p:sp>
        <p:nvSpPr>
          <p:cNvPr id="6" name="prompt-num-1">
            <a:extLst xmlns:a="http://schemas.openxmlformats.org/drawingml/2006/main">
              <a:ext uri="{FF2B5EF4-FFF2-40B4-BE49-F238E27FC236}">
                <a16:creationId xmlns:a16="http://schemas.microsoft.com/office/drawing/2014/main" id="{F5C2CA34-C200-4F38-929D-D092C29DA7EE}"/>
              </a:ext>
            </a:extLst>
          </p:cNvPr>
          <p:cNvSpPr>
            <a:spLocks xmlns:a="http://schemas.openxmlformats.org/drawingml/2006/main" noGrp="1"/>
          </p:cNvSpPr>
          <p:nvPr/>
        </p:nvSpPr>
        <p:spPr>
          <a:xfrm xmlns:a="http://schemas.openxmlformats.org/drawingml/2006/main">
            <a:off x="609600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xmlns:a="http://schemas.openxmlformats.org/drawingml/2006/main">
              <a:ext uri="{FF2B5EF4-FFF2-40B4-BE49-F238E27FC236}">
                <a16:creationId xmlns:a16="http://schemas.microsoft.com/office/drawing/2014/main" id="{635C9CA8-59E0-463A-A948-3299DA26EEDD}"/>
              </a:ext>
            </a:extLst>
          </p:cNvPr>
          <p:cNvSpPr>
            <a:spLocks xmlns:a="http://schemas.openxmlformats.org/drawingml/2006/main" noGrp="1"/>
          </p:cNvSpPr>
          <p:nvPr/>
        </p:nvSpPr>
        <p:spPr>
          <a:xfrm xmlns:a="http://schemas.openxmlformats.org/drawingml/2006/main">
            <a:off x="668655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Plan und tatsächliche Rows</a:t>
            </a:r>
          </a:p>
        </p:txBody>
      </p:sp>
      <p:sp>
        <p:nvSpPr>
          <p:cNvPr id="8" name="prompt-num-2">
            <a:extLst xmlns:a="http://schemas.openxmlformats.org/drawingml/2006/main">
              <a:ext uri="{FF2B5EF4-FFF2-40B4-BE49-F238E27FC236}">
                <a16:creationId xmlns:a16="http://schemas.microsoft.com/office/drawing/2014/main" id="{6429202B-AA71-4F0F-81DE-55F4D0B704EE}"/>
              </a:ext>
            </a:extLst>
          </p:cNvPr>
          <p:cNvSpPr>
            <a:spLocks xmlns:a="http://schemas.openxmlformats.org/drawingml/2006/main" noGrp="1"/>
          </p:cNvSpPr>
          <p:nvPr/>
        </p:nvSpPr>
        <p:spPr>
          <a:xfrm xmlns:a="http://schemas.openxmlformats.org/drawingml/2006/main">
            <a:off x="66675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xmlns:a="http://schemas.openxmlformats.org/drawingml/2006/main">
              <a:ext uri="{FF2B5EF4-FFF2-40B4-BE49-F238E27FC236}">
                <a16:creationId xmlns:a16="http://schemas.microsoft.com/office/drawing/2014/main" id="{ABF4633A-9FBA-4348-8811-901FA3539327}"/>
              </a:ext>
            </a:extLst>
          </p:cNvPr>
          <p:cNvSpPr>
            <a:spLocks xmlns:a="http://schemas.openxmlformats.org/drawingml/2006/main" noGrp="1"/>
          </p:cNvSpPr>
          <p:nvPr/>
        </p:nvSpPr>
        <p:spPr>
          <a:xfrm xmlns:a="http://schemas.openxmlformats.org/drawingml/2006/main">
            <a:off x="125730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Read-Ersparnis</a:t>
            </a:r>
          </a:p>
        </p:txBody>
      </p:sp>
      <p:sp>
        <p:nvSpPr>
          <p:cNvPr id="10" name="prompt-num-3">
            <a:extLst xmlns:a="http://schemas.openxmlformats.org/drawingml/2006/main">
              <a:ext uri="{FF2B5EF4-FFF2-40B4-BE49-F238E27FC236}">
                <a16:creationId xmlns:a16="http://schemas.microsoft.com/office/drawing/2014/main" id="{34935C0E-D573-41B5-84CE-723E3A2DA5EF}"/>
              </a:ext>
            </a:extLst>
          </p:cNvPr>
          <p:cNvSpPr>
            <a:spLocks xmlns:a="http://schemas.openxmlformats.org/drawingml/2006/main" noGrp="1"/>
          </p:cNvSpPr>
          <p:nvPr/>
        </p:nvSpPr>
        <p:spPr>
          <a:xfrm xmlns:a="http://schemas.openxmlformats.org/drawingml/2006/main">
            <a:off x="609600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xmlns:a="http://schemas.openxmlformats.org/drawingml/2006/main">
              <a:ext uri="{FF2B5EF4-FFF2-40B4-BE49-F238E27FC236}">
                <a16:creationId xmlns:a16="http://schemas.microsoft.com/office/drawing/2014/main" id="{5493825C-C07E-40E8-A3B5-62F9ADC59ED7}"/>
              </a:ext>
            </a:extLst>
          </p:cNvPr>
          <p:cNvSpPr>
            <a:spLocks xmlns:a="http://schemas.openxmlformats.org/drawingml/2006/main" noGrp="1"/>
          </p:cNvSpPr>
          <p:nvPr/>
        </p:nvSpPr>
        <p:spPr>
          <a:xfrm xmlns:a="http://schemas.openxmlformats.org/drawingml/2006/main">
            <a:off x="668655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DML-, Speicher- und Maintenance-Kosten</a:t>
            </a:r>
          </a:p>
        </p:txBody>
      </p:sp>
      <p:sp>
        <p:nvSpPr>
          <p:cNvPr id="12" name="question-footer">
            <a:extLst xmlns:a="http://schemas.openxmlformats.org/drawingml/2006/main">
              <a:ext uri="{FF2B5EF4-FFF2-40B4-BE49-F238E27FC236}">
                <a16:creationId xmlns:a16="http://schemas.microsoft.com/office/drawing/2014/main" id="{6286C8D5-53A5-47E1-9AF8-BC3EC8836612}"/>
              </a:ext>
            </a:extLst>
          </p:cNvPr>
          <p:cNvSpPr>
            <a:spLocks xmlns:a="http://schemas.openxmlformats.org/drawingml/2006/main" noGrp="1"/>
          </p:cNvSpPr>
          <p:nvPr/>
        </p:nvSpPr>
        <p:spPr>
          <a:xfrm xmlns:a="http://schemas.openxmlformats.org/drawingml/2006/main">
            <a:off x="10287000" y="64389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62 / 84</a:t>
            </a:r>
          </a:p>
        </p:txBody>
      </p:sp>
    </p:spTree>
    <p:extLst>
      <p:ext uri="{BB962C8B-B14F-4D97-AF65-F5344CB8AC3E}">
        <p14:creationId xmlns:p14="http://schemas.microsoft.com/office/powerpoint/2010/main" val="673053384"/>
      </p:ext>
    </p:extLst>
  </p:cSld>
</p:sld>
</file>

<file path=ppt/slides/slide63.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section-number">
            <a:extLst xmlns:a="http://schemas.openxmlformats.org/drawingml/2006/main">
              <a:ext uri="{FF2B5EF4-FFF2-40B4-BE49-F238E27FC236}">
                <a16:creationId xmlns:a16="http://schemas.microsoft.com/office/drawing/2014/main" id="{9C4AD094-80BC-4B57-86E3-66458AE77184}"/>
              </a:ext>
            </a:extLst>
          </p:cNvPr>
          <p:cNvSpPr>
            <a:spLocks xmlns:a="http://schemas.openxmlformats.org/drawingml/2006/main" noGrp="1"/>
          </p:cNvSpPr>
          <p:nvPr/>
        </p:nvSpPr>
        <p:spPr>
          <a:xfrm xmlns:a="http://schemas.openxmlformats.org/drawingml/2006/main">
            <a:off x="628650" y="60960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05</a:t>
            </a:r>
          </a:p>
        </p:txBody>
      </p:sp>
      <p:sp>
        <p:nvSpPr>
          <p:cNvPr id="2" name="section-rule">
            <a:extLst xmlns:a="http://schemas.openxmlformats.org/drawingml/2006/main">
              <a:ext uri="{FF2B5EF4-FFF2-40B4-BE49-F238E27FC236}">
                <a16:creationId xmlns:a16="http://schemas.microsoft.com/office/drawing/2014/main" id="{ADA98AC8-3AE8-4926-A4F3-9F870318911A}"/>
              </a:ext>
            </a:extLst>
          </p:cNvPr>
          <p:cNvSpPr>
            <a:spLocks xmlns:a="http://schemas.openxmlformats.org/drawingml/2006/main" noGrp="1"/>
          </p:cNvSpPr>
          <p:nvPr/>
        </p:nvSpPr>
        <p:spPr>
          <a:xfrm xmlns:a="http://schemas.openxmlformats.org/drawingml/2006/main">
            <a:off x="628650" y="2228850"/>
            <a:ext cx="109347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3" name="section-title">
            <a:extLst xmlns:a="http://schemas.openxmlformats.org/drawingml/2006/main">
              <a:ext uri="{FF2B5EF4-FFF2-40B4-BE49-F238E27FC236}">
                <a16:creationId xmlns:a16="http://schemas.microsoft.com/office/drawing/2014/main" id="{38000B2C-95AB-4DB5-AAE6-7EB36AC354AC}"/>
              </a:ext>
            </a:extLst>
          </p:cNvPr>
          <p:cNvSpPr>
            <a:spLocks xmlns:a="http://schemas.openxmlformats.org/drawingml/2006/main" noGrp="1"/>
          </p:cNvSpPr>
          <p:nvPr/>
        </p:nvSpPr>
        <p:spPr>
          <a:xfrm xmlns:a="http://schemas.openxmlformats.org/drawingml/2006/main">
            <a:off x="628650" y="27051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Concurrency und Isolation</a:t>
            </a:r>
          </a:p>
        </p:txBody>
      </p:sp>
      <p:sp>
        <p:nvSpPr>
          <p:cNvPr id="4" name="section-subtitle">
            <a:extLst xmlns:a="http://schemas.openxmlformats.org/drawingml/2006/main">
              <a:ext uri="{FF2B5EF4-FFF2-40B4-BE49-F238E27FC236}">
                <a16:creationId xmlns:a16="http://schemas.microsoft.com/office/drawing/2014/main" id="{048B3C0E-857A-48F2-8E21-0FCA2792501F}"/>
              </a:ext>
            </a:extLst>
          </p:cNvPr>
          <p:cNvSpPr>
            <a:spLocks xmlns:a="http://schemas.openxmlformats.org/drawingml/2006/main" noGrp="1"/>
          </p:cNvSpPr>
          <p:nvPr/>
        </p:nvSpPr>
        <p:spPr>
          <a:xfrm xmlns:a="http://schemas.openxmlformats.org/drawingml/2006/main">
            <a:off x="628650" y="400050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Wie schützt SQL Server Konsistenz, ohne unnötig Durchsatz zu verlieren?</a:t>
            </a:r>
          </a:p>
        </p:txBody>
      </p:sp>
      <p:sp>
        <p:nvSpPr>
          <p:cNvPr id="5" name="section-footer">
            <a:extLst xmlns:a="http://schemas.openxmlformats.org/drawingml/2006/main">
              <a:ext uri="{FF2B5EF4-FFF2-40B4-BE49-F238E27FC236}">
                <a16:creationId xmlns:a16="http://schemas.microsoft.com/office/drawing/2014/main" id="{47BCBCF0-3C7C-4122-842F-B30834EB5D96}"/>
              </a:ext>
            </a:extLst>
          </p:cNvPr>
          <p:cNvSpPr>
            <a:spLocks xmlns:a="http://schemas.openxmlformats.org/drawingml/2006/main" noGrp="1"/>
          </p:cNvSpPr>
          <p:nvPr/>
        </p:nvSpPr>
        <p:spPr>
          <a:xfrm xmlns:a="http://schemas.openxmlformats.org/drawingml/2006/main">
            <a:off x="628650" y="64198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1728319307"/>
      </p:ext>
    </p:extLst>
  </p:cSld>
</p:sld>
</file>

<file path=ppt/slides/slide6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C23A8804-EAFD-4034-B54B-22AEBE907AB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xmlns:a="http://schemas.openxmlformats.org/drawingml/2006/main">
              <a:ext uri="{FF2B5EF4-FFF2-40B4-BE49-F238E27FC236}">
                <a16:creationId xmlns:a16="http://schemas.microsoft.com/office/drawing/2014/main" id="{C5C65606-996A-430A-BE7C-27DCDC0F04D2}"/>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Isolation Level definiert Sichtbarkeit und Schutz – nicht pauschal 'Geschwindigkeit'</a:t>
            </a:r>
          </a:p>
        </p:txBody>
      </p:sp>
      <p:sp>
        <p:nvSpPr>
          <p:cNvPr id="3" name="title-rule">
            <a:extLst xmlns:a="http://schemas.openxmlformats.org/drawingml/2006/main">
              <a:ext uri="{FF2B5EF4-FFF2-40B4-BE49-F238E27FC236}">
                <a16:creationId xmlns:a16="http://schemas.microsoft.com/office/drawing/2014/main" id="{1347279E-2242-46D2-812C-B2CE352AA81E}"/>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B469EF7C-97A5-4328-A207-F46E87E94FA1}"/>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8724DE17-17C7-4895-938A-DB309F3EF08F}"/>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64 / 84</a:t>
            </a:r>
          </a:p>
        </p:txBody>
      </p:sp>
      <p:graphicFrame>
        <p:nvGraphicFramePr>
          <p:cNvPr id="12" name=""/>
          <p:cNvGraphicFramePr/>
          <p:nvPr/>
        </p:nvGraphicFramePr>
        <p:xfrm>
          <a:off xmlns:a="http://schemas.openxmlformats.org/drawingml/2006/main" x="609600" y="2171700"/>
          <a:ext xmlns:a="http://schemas.openxmlformats.org/drawingml/2006/main" cx="10668000" cy="4000500"/>
        </p:xfrm>
        <a:graphic xmlns:a="http://schemas.openxmlformats.org/drawingml/2006/main">
          <a:graphicData uri="http://schemas.openxmlformats.org/drawingml/2006/table">
            <a:tbl>
              <a:tblPr firstRow="1" bandRow="1"/>
              <a:tblGrid>
                <a:gridCol w="2800350"/>
                <a:gridCol w="3867150"/>
                <a:gridCol w="4000500"/>
              </a:tblGrid>
              <a:tr h="666750">
                <a:tc>
                  <a:txBody>
                    <a:bodyPr/>
                    <a:lstStyle/>
                    <a:p>
                      <a:r>
                        <a:rPr sz="1500" b="1">
                          <a:solidFill>
                            <a:srgbClr val="FFFFFF"/>
                          </a:solidFill>
                          <a:latin typeface="Aptos"/>
                          <a:ea typeface="Aptos"/>
                          <a:cs typeface="Aptos"/>
                        </a:rPr>
                        <a:t>Level</a:t>
                      </a:r>
                    </a:p>
                  </a:txBody>
                  <a:tcPr marL="91440" marR="91440" marT="45720" marB="45720">
                    <a:solidFill>
                      <a:srgbClr val="0B1F33"/>
                    </a:solidFill>
                  </a:tcPr>
                </a:tc>
                <a:tc>
                  <a:txBody>
                    <a:bodyPr/>
                    <a:lstStyle/>
                    <a:p>
                      <a:r>
                        <a:rPr sz="1500" b="1">
                          <a:solidFill>
                            <a:srgbClr val="FFFFFF"/>
                          </a:solidFill>
                          <a:latin typeface="Aptos"/>
                          <a:ea typeface="Aptos"/>
                          <a:cs typeface="Aptos"/>
                        </a:rPr>
                        <a:t>Lesesicht</a:t>
                      </a:r>
                    </a:p>
                  </a:txBody>
                  <a:tcPr marL="91440" marR="91440" marT="45720" marB="45720">
                    <a:solidFill>
                      <a:srgbClr val="0B1F33"/>
                    </a:solidFill>
                  </a:tcPr>
                </a:tc>
                <a:tc>
                  <a:txBody>
                    <a:bodyPr/>
                    <a:lstStyle/>
                    <a:p>
                      <a:r>
                        <a:rPr sz="1500" b="1">
                          <a:solidFill>
                            <a:srgbClr val="FFFFFF"/>
                          </a:solidFill>
                          <a:latin typeface="Aptos"/>
                          <a:ea typeface="Aptos"/>
                          <a:cs typeface="Aptos"/>
                        </a:rPr>
                        <a:t>typischer Trade-off</a:t>
                      </a:r>
                    </a:p>
                  </a:txBody>
                  <a:tcPr marL="91440" marR="91440" marT="45720" marB="45720">
                    <a:solidFill>
                      <a:srgbClr val="0B1F33"/>
                    </a:solidFill>
                  </a:tcPr>
                </a:tc>
              </a:tr>
              <a:tr h="666750">
                <a:tc>
                  <a:txBody>
                    <a:bodyPr>
                      <a:normAutofit/>
                    </a:bodyPr>
                    <a:lstStyle/>
                    <a:p>
                      <a:r>
                        <a:rPr sz="1350">
                          <a:solidFill>
                            <a:srgbClr val="243B53"/>
                          </a:solidFill>
                          <a:latin typeface="Aptos"/>
                          <a:ea typeface="Aptos"/>
                          <a:cs typeface="Aptos"/>
                        </a:rPr>
                        <a:t>READ UNCOMMITTED</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auch nicht bestätigte Daten</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Dirty Reads und inkonsistente Resultate</a:t>
                      </a:r>
                    </a:p>
                  </a:txBody>
                  <a:tcPr marL="91440" marR="91440" marT="45720" marB="45720">
                    <a:solidFill>
                      <a:srgbClr val="FFFFFF"/>
                    </a:solidFill>
                  </a:tcPr>
                </a:tc>
              </a:tr>
              <a:tr h="666750">
                <a:tc>
                  <a:txBody>
                    <a:bodyPr>
                      <a:normAutofit/>
                    </a:bodyPr>
                    <a:lstStyle/>
                    <a:p>
                      <a:r>
                        <a:rPr sz="1350">
                          <a:solidFill>
                            <a:srgbClr val="243B53"/>
                          </a:solidFill>
                          <a:latin typeface="Aptos"/>
                          <a:ea typeface="Aptos"/>
                          <a:cs typeface="Aptos"/>
                        </a:rPr>
                        <a:t>READ COMMITTED</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bestätigte Daten; Locking oder RCSI je DB</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Statement-Sicht abhängig von DB-Option</a:t>
                      </a:r>
                    </a:p>
                  </a:txBody>
                  <a:tcPr marL="91440" marR="91440" marT="45720" marB="45720">
                    <a:solidFill>
                      <a:srgbClr val="EDF2F7"/>
                    </a:solidFill>
                  </a:tcPr>
                </a:tc>
              </a:tr>
              <a:tr h="666750">
                <a:tc>
                  <a:txBody>
                    <a:bodyPr>
                      <a:normAutofit/>
                    </a:bodyPr>
                    <a:lstStyle/>
                    <a:p>
                      <a:r>
                        <a:rPr sz="1350">
                          <a:solidFill>
                            <a:srgbClr val="243B53"/>
                          </a:solidFill>
                          <a:latin typeface="Aptos"/>
                          <a:ea typeface="Aptos"/>
                          <a:cs typeface="Aptos"/>
                        </a:rPr>
                        <a:t>SNAPSHOT</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Transaktionssnapshot</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Version Store und Update Conflicts</a:t>
                      </a:r>
                    </a:p>
                  </a:txBody>
                  <a:tcPr marL="91440" marR="91440" marT="45720" marB="45720">
                    <a:solidFill>
                      <a:srgbClr val="FFFFFF"/>
                    </a:solidFill>
                  </a:tcPr>
                </a:tc>
              </a:tr>
              <a:tr h="666750">
                <a:tc>
                  <a:txBody>
                    <a:bodyPr>
                      <a:normAutofit/>
                    </a:bodyPr>
                    <a:lstStyle/>
                    <a:p>
                      <a:r>
                        <a:rPr sz="1350">
                          <a:solidFill>
                            <a:srgbClr val="243B53"/>
                          </a:solidFill>
                          <a:latin typeface="Aptos"/>
                          <a:ea typeface="Aptos"/>
                          <a:cs typeface="Aptos"/>
                        </a:rPr>
                        <a:t>REPEATABLE READ</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gelesene Rows bleiben stabil</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länger gehaltene Locks</a:t>
                      </a:r>
                    </a:p>
                  </a:txBody>
                  <a:tcPr marL="91440" marR="91440" marT="45720" marB="45720">
                    <a:solidFill>
                      <a:srgbClr val="EDF2F7"/>
                    </a:solidFill>
                  </a:tcPr>
                </a:tc>
              </a:tr>
              <a:tr h="666750">
                <a:tc>
                  <a:txBody>
                    <a:bodyPr>
                      <a:normAutofit/>
                    </a:bodyPr>
                    <a:lstStyle/>
                    <a:p>
                      <a:r>
                        <a:rPr sz="1350">
                          <a:solidFill>
                            <a:srgbClr val="243B53"/>
                          </a:solidFill>
                          <a:latin typeface="Aptos"/>
                          <a:ea typeface="Aptos"/>
                          <a:cs typeface="Aptos"/>
                        </a:rPr>
                        <a:t>SERIALIZABLE</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zusätzlich Key-Range-Schutz</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höchste Blocking-Gefahr</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44451193"/>
      </p:ext>
    </p:extLst>
  </p:cSld>
</p:sld>
</file>

<file path=ppt/slides/slide6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F740C868-CBAD-4201-B883-7E31D8B67F9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xmlns:a="http://schemas.openxmlformats.org/drawingml/2006/main">
              <a:ext uri="{FF2B5EF4-FFF2-40B4-BE49-F238E27FC236}">
                <a16:creationId xmlns:a16="http://schemas.microsoft.com/office/drawing/2014/main" id="{DA5442DE-D390-46E8-97C2-C298990032A7}"/>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Locking und Row Versioning verschieben Kosten – sie entfernen sie nicht</a:t>
            </a:r>
          </a:p>
        </p:txBody>
      </p:sp>
      <p:sp>
        <p:nvSpPr>
          <p:cNvPr id="3" name="title-rule">
            <a:extLst xmlns:a="http://schemas.openxmlformats.org/drawingml/2006/main">
              <a:ext uri="{FF2B5EF4-FFF2-40B4-BE49-F238E27FC236}">
                <a16:creationId xmlns:a16="http://schemas.microsoft.com/office/drawing/2014/main" id="{E9577361-0184-451D-8F20-6DF2764ED354}"/>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A4271F3C-3B5C-48F4-9C6E-DCE93A975E62}"/>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2DBA523A-FC4D-4F27-AC63-340EEB9E78E6}"/>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65 / 84</a:t>
            </a:r>
          </a:p>
        </p:txBody>
      </p:sp>
      <p:sp>
        <p:nvSpPr>
          <p:cNvPr id="6" name="left-title">
            <a:extLst xmlns:a="http://schemas.openxmlformats.org/drawingml/2006/main">
              <a:ext uri="{FF2B5EF4-FFF2-40B4-BE49-F238E27FC236}">
                <a16:creationId xmlns:a16="http://schemas.microsoft.com/office/drawing/2014/main" id="{04DB5FA0-022F-4540-9362-4110F877FFAE}"/>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Locking</a:t>
            </a:r>
          </a:p>
        </p:txBody>
      </p:sp>
      <p:sp>
        <p:nvSpPr>
          <p:cNvPr id="7" name="right-title">
            <a:extLst xmlns:a="http://schemas.openxmlformats.org/drawingml/2006/main">
              <a:ext uri="{FF2B5EF4-FFF2-40B4-BE49-F238E27FC236}">
                <a16:creationId xmlns:a16="http://schemas.microsoft.com/office/drawing/2014/main" id="{79D5C161-6548-4B2B-B2E1-76FC899D18DA}"/>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Row Versioning</a:t>
            </a:r>
          </a:p>
        </p:txBody>
      </p:sp>
      <p:sp>
        <p:nvSpPr>
          <p:cNvPr id="8" name="middle-rule">
            <a:extLst xmlns:a="http://schemas.openxmlformats.org/drawingml/2006/main">
              <a:ext uri="{FF2B5EF4-FFF2-40B4-BE49-F238E27FC236}">
                <a16:creationId xmlns:a16="http://schemas.microsoft.com/office/drawing/2014/main" id="{8E9ACAC0-6F92-4CBF-B2BC-DBBEC9F7DBD8}"/>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F653F9BF-A182-417D-A89F-8BF09A03DF0B}"/>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Leser und Writer können blockieren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Lock Memory und Escalation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aktuelle Row wird geschützt</a:t>
            </a:r>
          </a:p>
        </p:txBody>
      </p:sp>
      <p:sp>
        <p:nvSpPr>
          <p:cNvPr id="10" name="right-points">
            <a:extLst xmlns:a="http://schemas.openxmlformats.org/drawingml/2006/main">
              <a:ext uri="{FF2B5EF4-FFF2-40B4-BE49-F238E27FC236}">
                <a16:creationId xmlns:a16="http://schemas.microsoft.com/office/drawing/2014/main" id="{5BC5841C-43EC-4C96-8908-C686D47D6B36}"/>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Leser nutzen committed Versionen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Version Store erzeugt Speicher- und I/O-Kosten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lange Snapshots verlängern Retention</a:t>
            </a:r>
          </a:p>
        </p:txBody>
      </p:sp>
      <p:sp>
        <p:nvSpPr>
          <p:cNvPr id="11" name="conclusion-bg">
            <a:extLst xmlns:a="http://schemas.openxmlformats.org/drawingml/2006/main">
              <a:ext uri="{FF2B5EF4-FFF2-40B4-BE49-F238E27FC236}">
                <a16:creationId xmlns:a16="http://schemas.microsoft.com/office/drawing/2014/main" id="{00D094BE-ED69-4E9D-8C4D-F8945F4FA0E2}"/>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2561BEE7-8628-479F-A6D6-9075C5247A93}"/>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Isolation wird nach Korrektheitsvertrag gewählt, danach performancegerecht implementiert.</a:t>
            </a:r>
          </a:p>
        </p:txBody>
      </p:sp>
    </p:spTree>
    <p:extLst>
      <p:ext uri="{BB962C8B-B14F-4D97-AF65-F5344CB8AC3E}">
        <p14:creationId xmlns:p14="http://schemas.microsoft.com/office/powerpoint/2010/main" val="302177549"/>
      </p:ext>
    </p:extLst>
  </p:cSld>
</p:sld>
</file>

<file path=ppt/slides/slide6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3DE58BB6-6A7F-40CC-BCCC-92273DB494B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xmlns:a="http://schemas.openxmlformats.org/drawingml/2006/main">
              <a:ext uri="{FF2B5EF4-FFF2-40B4-BE49-F238E27FC236}">
                <a16:creationId xmlns:a16="http://schemas.microsoft.com/office/drawing/2014/main" id="{A6380092-6AF4-4703-858C-54663BF8F9F5}"/>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Eine Blocking Chain wird vom Head Blocker aus analysiert</a:t>
            </a:r>
          </a:p>
        </p:txBody>
      </p:sp>
      <p:sp>
        <p:nvSpPr>
          <p:cNvPr id="3" name="title-rule">
            <a:extLst xmlns:a="http://schemas.openxmlformats.org/drawingml/2006/main">
              <a:ext uri="{FF2B5EF4-FFF2-40B4-BE49-F238E27FC236}">
                <a16:creationId xmlns:a16="http://schemas.microsoft.com/office/drawing/2014/main" id="{F2EDCBB7-451B-4332-8438-157269E60C0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9E299D76-755F-4E1F-9858-D59259A2D574}"/>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504C5E18-E936-4C6B-ACB7-E9D6FCAD5636}"/>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66 / 84</a:t>
            </a:r>
          </a:p>
        </p:txBody>
      </p:sp>
      <p:sp>
        <p:nvSpPr>
          <p:cNvPr id="6" name="block-head">
            <a:extLst xmlns:a="http://schemas.openxmlformats.org/drawingml/2006/main">
              <a:ext uri="{FF2B5EF4-FFF2-40B4-BE49-F238E27FC236}">
                <a16:creationId xmlns:a16="http://schemas.microsoft.com/office/drawing/2014/main" id="{66106C3C-EF05-4D1B-A53E-2AB7491F5DA2}"/>
              </a:ext>
            </a:extLst>
          </p:cNvPr>
          <p:cNvSpPr>
            <a:spLocks xmlns:a="http://schemas.openxmlformats.org/drawingml/2006/main" noGrp="1"/>
          </p:cNvSpPr>
          <p:nvPr/>
        </p:nvSpPr>
        <p:spPr>
          <a:xfrm xmlns:a="http://schemas.openxmlformats.org/drawingml/2006/main">
            <a:off x="857250" y="3048000"/>
            <a:ext cx="2667000" cy="1428750"/>
          </a:xfrm>
          <a:prstGeom xmlns:a="http://schemas.openxmlformats.org/drawingml/2006/main" prst="roundRect">
            <a:avLst>
              <a:gd name="adj" fmla="val 5333"/>
            </a:avLst>
          </a:prstGeom>
          <a:solidFill xmlns:a="http://schemas.openxmlformats.org/drawingml/2006/main">
            <a:srgbClr val="FFF3E4"/>
          </a:solidFill>
          <a:ln xmlns:a="http://schemas.openxmlformats.org/drawingml/2006/main" w="9525">
            <a:solidFill>
              <a:srgbClr val="D9E2EC"/>
            </a:solidFill>
            <a:prstDash val="solid"/>
          </a:ln>
        </p:spPr>
      </p:sp>
      <p:sp>
        <p:nvSpPr>
          <p:cNvPr id="7" name="block-head-text">
            <a:extLst xmlns:a="http://schemas.openxmlformats.org/drawingml/2006/main">
              <a:ext uri="{FF2B5EF4-FFF2-40B4-BE49-F238E27FC236}">
                <a16:creationId xmlns:a16="http://schemas.microsoft.com/office/drawing/2014/main" id="{76875E82-ECA1-4235-A56F-A61BDE568D03}"/>
              </a:ext>
            </a:extLst>
          </p:cNvPr>
          <p:cNvSpPr>
            <a:spLocks xmlns:a="http://schemas.openxmlformats.org/drawingml/2006/main" noGrp="1"/>
          </p:cNvSpPr>
          <p:nvPr/>
        </p:nvSpPr>
        <p:spPr>
          <a:xfrm xmlns:a="http://schemas.openxmlformats.org/drawingml/2006/main">
            <a:off x="990600" y="3162300"/>
            <a:ext cx="24003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Session 51</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HEAD BLOCKER</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offene Transaktion</a:t>
            </a:r>
          </a:p>
        </p:txBody>
      </p:sp>
      <p:sp>
        <p:nvSpPr>
          <p:cNvPr id="8" name="block-b1">
            <a:extLst xmlns:a="http://schemas.openxmlformats.org/drawingml/2006/main">
              <a:ext uri="{FF2B5EF4-FFF2-40B4-BE49-F238E27FC236}">
                <a16:creationId xmlns:a16="http://schemas.microsoft.com/office/drawing/2014/main" id="{FB522F5A-335C-48A0-B250-FAC1D602B332}"/>
              </a:ext>
            </a:extLst>
          </p:cNvPr>
          <p:cNvSpPr>
            <a:spLocks xmlns:a="http://schemas.openxmlformats.org/drawingml/2006/main" noGrp="1"/>
          </p:cNvSpPr>
          <p:nvPr/>
        </p:nvSpPr>
        <p:spPr>
          <a:xfrm xmlns:a="http://schemas.openxmlformats.org/drawingml/2006/main">
            <a:off x="4762500" y="2419350"/>
            <a:ext cx="22860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C"/>
            </a:solidFill>
            <a:prstDash val="solid"/>
          </a:ln>
        </p:spPr>
      </p:sp>
      <p:sp>
        <p:nvSpPr>
          <p:cNvPr id="9" name="block-b1-text">
            <a:extLst xmlns:a="http://schemas.openxmlformats.org/drawingml/2006/main">
              <a:ext uri="{FF2B5EF4-FFF2-40B4-BE49-F238E27FC236}">
                <a16:creationId xmlns:a16="http://schemas.microsoft.com/office/drawing/2014/main" id="{785EAC0F-A78D-498F-9B1C-6C2C3F53E447}"/>
              </a:ext>
            </a:extLst>
          </p:cNvPr>
          <p:cNvSpPr>
            <a:spLocks xmlns:a="http://schemas.openxmlformats.org/drawingml/2006/main" noGrp="1"/>
          </p:cNvSpPr>
          <p:nvPr/>
        </p:nvSpPr>
        <p:spPr>
          <a:xfrm xmlns:a="http://schemas.openxmlformats.org/drawingml/2006/main">
            <a:off x="4895850" y="2533650"/>
            <a:ext cx="2019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Session 62</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LCK_M_X</a:t>
            </a:r>
          </a:p>
        </p:txBody>
      </p:sp>
      <p:sp>
        <p:nvSpPr>
          <p:cNvPr id="10" name="block-b2">
            <a:extLst xmlns:a="http://schemas.openxmlformats.org/drawingml/2006/main">
              <a:ext uri="{FF2B5EF4-FFF2-40B4-BE49-F238E27FC236}">
                <a16:creationId xmlns:a16="http://schemas.microsoft.com/office/drawing/2014/main" id="{E09C9375-83C2-4361-887A-29DDD162A2A6}"/>
              </a:ext>
            </a:extLst>
          </p:cNvPr>
          <p:cNvSpPr>
            <a:spLocks xmlns:a="http://schemas.openxmlformats.org/drawingml/2006/main" noGrp="1"/>
          </p:cNvSpPr>
          <p:nvPr/>
        </p:nvSpPr>
        <p:spPr>
          <a:xfrm xmlns:a="http://schemas.openxmlformats.org/drawingml/2006/main">
            <a:off x="4762500" y="4038600"/>
            <a:ext cx="22860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C"/>
            </a:solidFill>
            <a:prstDash val="solid"/>
          </a:ln>
        </p:spPr>
      </p:sp>
      <p:sp>
        <p:nvSpPr>
          <p:cNvPr id="11" name="block-b2-text">
            <a:extLst xmlns:a="http://schemas.openxmlformats.org/drawingml/2006/main">
              <a:ext uri="{FF2B5EF4-FFF2-40B4-BE49-F238E27FC236}">
                <a16:creationId xmlns:a16="http://schemas.microsoft.com/office/drawing/2014/main" id="{3A02807F-F05D-44F3-BB01-5E7730858D7E}"/>
              </a:ext>
            </a:extLst>
          </p:cNvPr>
          <p:cNvSpPr>
            <a:spLocks xmlns:a="http://schemas.openxmlformats.org/drawingml/2006/main" noGrp="1"/>
          </p:cNvSpPr>
          <p:nvPr/>
        </p:nvSpPr>
        <p:spPr>
          <a:xfrm xmlns:a="http://schemas.openxmlformats.org/drawingml/2006/main">
            <a:off x="4895850" y="4152900"/>
            <a:ext cx="2019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Session 73</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LCK_M_S</a:t>
            </a:r>
          </a:p>
        </p:txBody>
      </p:sp>
      <p:sp>
        <p:nvSpPr>
          <p:cNvPr id="12" name="block-b3">
            <a:extLst xmlns:a="http://schemas.openxmlformats.org/drawingml/2006/main">
              <a:ext uri="{FF2B5EF4-FFF2-40B4-BE49-F238E27FC236}">
                <a16:creationId xmlns:a16="http://schemas.microsoft.com/office/drawing/2014/main" id="{9CD84652-69B4-46D8-9253-AC604CEB1C48}"/>
              </a:ext>
            </a:extLst>
          </p:cNvPr>
          <p:cNvSpPr>
            <a:spLocks xmlns:a="http://schemas.openxmlformats.org/drawingml/2006/main" noGrp="1"/>
          </p:cNvSpPr>
          <p:nvPr/>
        </p:nvSpPr>
        <p:spPr>
          <a:xfrm xmlns:a="http://schemas.openxmlformats.org/drawingml/2006/main">
            <a:off x="8324850" y="2419350"/>
            <a:ext cx="22860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2EC"/>
            </a:solidFill>
            <a:prstDash val="solid"/>
          </a:ln>
        </p:spPr>
      </p:sp>
      <p:sp>
        <p:nvSpPr>
          <p:cNvPr id="13" name="block-b3-text">
            <a:extLst xmlns:a="http://schemas.openxmlformats.org/drawingml/2006/main">
              <a:ext uri="{FF2B5EF4-FFF2-40B4-BE49-F238E27FC236}">
                <a16:creationId xmlns:a16="http://schemas.microsoft.com/office/drawing/2014/main" id="{CBA63FC0-46CC-43A6-A53F-3B290C792644}"/>
              </a:ext>
            </a:extLst>
          </p:cNvPr>
          <p:cNvSpPr>
            <a:spLocks xmlns:a="http://schemas.openxmlformats.org/drawingml/2006/main" noGrp="1"/>
          </p:cNvSpPr>
          <p:nvPr/>
        </p:nvSpPr>
        <p:spPr>
          <a:xfrm xmlns:a="http://schemas.openxmlformats.org/drawingml/2006/main">
            <a:off x="8458200" y="2533650"/>
            <a:ext cx="2019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Session 84</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wartet auf 62</a:t>
            </a:r>
          </a:p>
        </p:txBody>
      </p:sp>
      <p:cxnSp>
        <p:nvCxnSpPr>
          <p:cNvPr id="31" name=""/>
          <p:cNvCxnSpPr>
            <a:stCxn xmlns:a="http://schemas.openxmlformats.org/drawingml/2006/main" id="6" idx="3"/>
            <a:endCxn xmlns:a="http://schemas.openxmlformats.org/drawingml/2006/main" id="8" idx="1"/>
          </p:cNvCxnSpPr>
          <p:nvPr/>
        </p:nvCxnSpPr>
        <p:spPr>
          <a:xfrm xmlns:a="http://schemas.openxmlformats.org/drawingml/2006/main" flipV="1">
            <a:off x="3524250" y="2952750"/>
            <a:ext cx="1238250" cy="809625"/>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2" name=""/>
          <p:cNvCxnSpPr>
            <a:stCxn xmlns:a="http://schemas.openxmlformats.org/drawingml/2006/main" id="6" idx="3"/>
            <a:endCxn xmlns:a="http://schemas.openxmlformats.org/drawingml/2006/main" id="10" idx="1"/>
          </p:cNvCxnSpPr>
          <p:nvPr/>
        </p:nvCxnSpPr>
        <p:spPr>
          <a:xfrm xmlns:a="http://schemas.openxmlformats.org/drawingml/2006/main">
            <a:off x="3524250" y="3762375"/>
            <a:ext cx="1238250" cy="809625"/>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3" name=""/>
          <p:cNvCxnSpPr>
            <a:stCxn xmlns:a="http://schemas.openxmlformats.org/drawingml/2006/main" id="8" idx="3"/>
            <a:endCxn xmlns:a="http://schemas.openxmlformats.org/drawingml/2006/main" id="12" idx="1"/>
          </p:cNvCxnSpPr>
          <p:nvPr/>
        </p:nvCxnSpPr>
        <p:spPr>
          <a:xfrm xmlns:a="http://schemas.openxmlformats.org/drawingml/2006/main">
            <a:off x="7048500" y="2952750"/>
            <a:ext cx="12763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17" name="block-caption">
            <a:extLst xmlns:a="http://schemas.openxmlformats.org/drawingml/2006/main">
              <a:ext uri="{FF2B5EF4-FFF2-40B4-BE49-F238E27FC236}">
                <a16:creationId xmlns:a16="http://schemas.microsoft.com/office/drawing/2014/main" id="{57453B66-421E-4B89-AFC4-B1AC24AD2E27}"/>
              </a:ext>
            </a:extLst>
          </p:cNvPr>
          <p:cNvSpPr>
            <a:spLocks xmlns:a="http://schemas.openxmlformats.org/drawingml/2006/main" noGrp="1"/>
          </p:cNvSpPr>
          <p:nvPr/>
        </p:nvSpPr>
        <p:spPr>
          <a:xfrm xmlns:a="http://schemas.openxmlformats.org/drawingml/2006/main">
            <a:off x="1809750" y="55626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10"/>
          </a:bodyPr>
          <a:lstStyle xmlns:a="http://schemas.openxmlformats.org/drawingml/2006/main"/>
          <a:p xmlns:a="http://schemas.openxmlformats.org/drawingml/2006/main">
            <a:pPr algn="ctr">
              <a:lnSpc>
                <a:spcPct val="105000"/>
              </a:lnSpc>
              <a:buNone/>
              <a:defRPr sz="1800" b="1" i="0">
                <a:solidFill>
                  <a:srgbClr val="102A43"/>
                </a:solidFill>
                <a:latin typeface="Aptos"/>
                <a:ea typeface="Aptos"/>
                <a:cs typeface="Aptos"/>
              </a:defRPr>
            </a:pPr>
            <a:r>
              <a:rPr sz="1800" b="1" i="0">
                <a:solidFill>
                  <a:srgbClr val="102A43"/>
                </a:solidFill>
                <a:latin typeface="Aptos"/>
                <a:ea typeface="Aptos"/>
                <a:cs typeface="Aptos"/>
              </a:rPr>
              <a:t>Ursache am Head Blocker untersuchen; Wartezeit allein priorisiert nur das Symptom.</a:t>
            </a:r>
          </a:p>
        </p:txBody>
      </p:sp>
    </p:spTree>
    <p:extLst>
      <p:ext uri="{BB962C8B-B14F-4D97-AF65-F5344CB8AC3E}">
        <p14:creationId xmlns:p14="http://schemas.microsoft.com/office/powerpoint/2010/main" val="141698259"/>
      </p:ext>
    </p:extLst>
  </p:cSld>
</p:sld>
</file>

<file path=ppt/slides/slide6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45A605CE-E541-4685-BC3C-123933A4524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xmlns:a="http://schemas.openxmlformats.org/drawingml/2006/main">
              <a:ext uri="{FF2B5EF4-FFF2-40B4-BE49-F238E27FC236}">
                <a16:creationId xmlns:a16="http://schemas.microsoft.com/office/drawing/2014/main" id="{7A4540FE-48A7-49DE-8F37-86EB4838B32B}"/>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Blocking ist eine gerichtete Kette – ein Deadlock ist ein Zyklus</a:t>
            </a:r>
          </a:p>
        </p:txBody>
      </p:sp>
      <p:sp>
        <p:nvSpPr>
          <p:cNvPr id="3" name="title-rule">
            <a:extLst xmlns:a="http://schemas.openxmlformats.org/drawingml/2006/main">
              <a:ext uri="{FF2B5EF4-FFF2-40B4-BE49-F238E27FC236}">
                <a16:creationId xmlns:a16="http://schemas.microsoft.com/office/drawing/2014/main" id="{4C7EDD86-AD63-429C-A3EA-53F31D327804}"/>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237A0B15-51E5-4944-B646-D239B0FAF3F1}"/>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D7D8C9A2-05D1-4B5F-B853-EDD78D331739}"/>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67 / 84</a:t>
            </a:r>
          </a:p>
        </p:txBody>
      </p:sp>
      <p:sp>
        <p:nvSpPr>
          <p:cNvPr id="6" name="left-title">
            <a:extLst xmlns:a="http://schemas.openxmlformats.org/drawingml/2006/main">
              <a:ext uri="{FF2B5EF4-FFF2-40B4-BE49-F238E27FC236}">
                <a16:creationId xmlns:a16="http://schemas.microsoft.com/office/drawing/2014/main" id="{10FCBCE6-444E-4413-96E7-350B56DA3FBA}"/>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Blocking</a:t>
            </a:r>
          </a:p>
        </p:txBody>
      </p:sp>
      <p:sp>
        <p:nvSpPr>
          <p:cNvPr id="7" name="right-title">
            <a:extLst xmlns:a="http://schemas.openxmlformats.org/drawingml/2006/main">
              <a:ext uri="{FF2B5EF4-FFF2-40B4-BE49-F238E27FC236}">
                <a16:creationId xmlns:a16="http://schemas.microsoft.com/office/drawing/2014/main" id="{C728DF73-D27F-41AC-8D82-213C4C1EAAF7}"/>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Deadlock</a:t>
            </a:r>
          </a:p>
        </p:txBody>
      </p:sp>
      <p:sp>
        <p:nvSpPr>
          <p:cNvPr id="8" name="middle-rule">
            <a:extLst xmlns:a="http://schemas.openxmlformats.org/drawingml/2006/main">
              <a:ext uri="{FF2B5EF4-FFF2-40B4-BE49-F238E27FC236}">
                <a16:creationId xmlns:a16="http://schemas.microsoft.com/office/drawing/2014/main" id="{FAC3756C-2EEB-455B-9BF1-B2FE46FC298D}"/>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1CB9ED7A-6451-430E-9410-21A59599B52E}"/>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eine Session wartet</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kann sich nach Commit selbst lösen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Head Blocker und Transaktionsdauer prüfen</a:t>
            </a:r>
          </a:p>
        </p:txBody>
      </p:sp>
      <p:sp>
        <p:nvSpPr>
          <p:cNvPr id="10" name="right-points">
            <a:extLst xmlns:a="http://schemas.openxmlformats.org/drawingml/2006/main">
              <a:ext uri="{FF2B5EF4-FFF2-40B4-BE49-F238E27FC236}">
                <a16:creationId xmlns:a16="http://schemas.microsoft.com/office/drawing/2014/main" id="{9EA7162D-B102-44CA-B882-EE4DBA1C922A}"/>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zyklische Abhängigkeit</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SQL Server wählt ein Opfer</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Deadlock Graph liefert Ressourcen- und Statementkontext</a:t>
            </a:r>
          </a:p>
        </p:txBody>
      </p:sp>
      <p:sp>
        <p:nvSpPr>
          <p:cNvPr id="11" name="conclusion-bg">
            <a:extLst xmlns:a="http://schemas.openxmlformats.org/drawingml/2006/main">
              <a:ext uri="{FF2B5EF4-FFF2-40B4-BE49-F238E27FC236}">
                <a16:creationId xmlns:a16="http://schemas.microsoft.com/office/drawing/2014/main" id="{81C2F785-4F48-4C72-9ACF-48CBF48EF8E5}"/>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F7EDCD42-B0BA-4E59-99B0-33F77FB1D935}"/>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Timeouts verbergen die Ursache; Graph beziehungsweise Chain sichern die Evidenz.</a:t>
            </a:r>
          </a:p>
        </p:txBody>
      </p:sp>
    </p:spTree>
    <p:extLst>
      <p:ext uri="{BB962C8B-B14F-4D97-AF65-F5344CB8AC3E}">
        <p14:creationId xmlns:p14="http://schemas.microsoft.com/office/powerpoint/2010/main" val="912537687"/>
      </p:ext>
    </p:extLst>
  </p:cSld>
</p:sld>
</file>

<file path=ppt/slides/slide6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332C4B81-10C6-4D94-BAE7-C773CAC6470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xmlns:a="http://schemas.openxmlformats.org/drawingml/2006/main">
              <a:ext uri="{FF2B5EF4-FFF2-40B4-BE49-F238E27FC236}">
                <a16:creationId xmlns:a16="http://schemas.microsoft.com/office/drawing/2014/main" id="{EEC115A4-DD3D-4F80-A802-E91DD1786751}"/>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TempDB trägt Concurrency-Kosten weit über #Temp Tables hinaus</a:t>
            </a:r>
          </a:p>
        </p:txBody>
      </p:sp>
      <p:sp>
        <p:nvSpPr>
          <p:cNvPr id="3" name="title-rule">
            <a:extLst xmlns:a="http://schemas.openxmlformats.org/drawingml/2006/main">
              <a:ext uri="{FF2B5EF4-FFF2-40B4-BE49-F238E27FC236}">
                <a16:creationId xmlns:a16="http://schemas.microsoft.com/office/drawing/2014/main" id="{2B714C36-2B4D-49EE-BDA3-0A8D100E064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177839D3-FD2E-46AD-A076-25D107D1B9FF}"/>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1888BF3A-96D5-4EBE-853F-B1B0036B5092}"/>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68 / 84</a:t>
            </a:r>
          </a:p>
        </p:txBody>
      </p:sp>
      <p:sp>
        <p:nvSpPr>
          <p:cNvPr id="6" name="lead">
            <a:extLst xmlns:a="http://schemas.openxmlformats.org/drawingml/2006/main">
              <a:ext uri="{FF2B5EF4-FFF2-40B4-BE49-F238E27FC236}">
                <a16:creationId xmlns:a16="http://schemas.microsoft.com/office/drawing/2014/main" id="{541EFF04-68B8-460F-9EE1-FECCA16CCC0C}"/>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Version Store, Spills, Worktables, Sorts und interne Objekte konkurrieren um dieselben Ressourcen.</a:t>
            </a:r>
          </a:p>
        </p:txBody>
      </p:sp>
      <p:sp>
        <p:nvSpPr>
          <p:cNvPr id="7" name="lead-accent">
            <a:extLst xmlns:a="http://schemas.openxmlformats.org/drawingml/2006/main">
              <a:ext uri="{FF2B5EF4-FFF2-40B4-BE49-F238E27FC236}">
                <a16:creationId xmlns:a16="http://schemas.microsoft.com/office/drawing/2014/main" id="{0B062423-9B89-4A5C-B60E-1C3ABD32051A}"/>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2EAAD473-9058-4C9B-8A4D-1BCA5536EECE}"/>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RCSI und SNAPSHOT erzeugen Row Versions</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Spills erzeugen Workfiles und Worktables</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Allocation Contention betrifft andere Latches als Storage-I/O</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ADR kann den Persistent Version Store in die Userdatenbank verlagern</a:t>
            </a:r>
          </a:p>
        </p:txBody>
      </p:sp>
    </p:spTree>
    <p:extLst>
      <p:ext uri="{BB962C8B-B14F-4D97-AF65-F5344CB8AC3E}">
        <p14:creationId xmlns:p14="http://schemas.microsoft.com/office/powerpoint/2010/main" val="945936908"/>
      </p:ext>
    </p:extLst>
  </p:cSld>
</p:sld>
</file>

<file path=ppt/slides/slide6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6AA82688-64F8-45EE-8FB7-9D6AD8EFBED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5 · CONCURRENCY</a:t>
            </a:r>
          </a:p>
        </p:txBody>
      </p:sp>
      <p:sp>
        <p:nvSpPr>
          <p:cNvPr id="2" name="slide-title">
            <a:extLst xmlns:a="http://schemas.openxmlformats.org/drawingml/2006/main">
              <a:ext uri="{FF2B5EF4-FFF2-40B4-BE49-F238E27FC236}">
                <a16:creationId xmlns:a16="http://schemas.microsoft.com/office/drawing/2014/main" id="{D7CF09F2-10E1-4089-BF3A-8A82BD994F46}"/>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Optimized Locking in SQL Server 2025 reduziert DML-Locks – unter klaren Voraussetzungen</a:t>
            </a:r>
          </a:p>
        </p:txBody>
      </p:sp>
      <p:sp>
        <p:nvSpPr>
          <p:cNvPr id="3" name="title-rule">
            <a:extLst xmlns:a="http://schemas.openxmlformats.org/drawingml/2006/main">
              <a:ext uri="{FF2B5EF4-FFF2-40B4-BE49-F238E27FC236}">
                <a16:creationId xmlns:a16="http://schemas.microsoft.com/office/drawing/2014/main" id="{EA0E836C-73F1-423D-B88A-48F212DD8681}"/>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8A39FBEF-80AE-4D16-B2F5-0D0D48496FE3}"/>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0774857F-2506-4D2F-87A8-6A3675A75AD2}"/>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69 / 84</a:t>
            </a:r>
          </a:p>
        </p:txBody>
      </p:sp>
      <p:sp>
        <p:nvSpPr>
          <p:cNvPr id="6" name="lead">
            <a:extLst xmlns:a="http://schemas.openxmlformats.org/drawingml/2006/main">
              <a:ext uri="{FF2B5EF4-FFF2-40B4-BE49-F238E27FC236}">
                <a16:creationId xmlns:a16="http://schemas.microsoft.com/office/drawing/2014/main" id="{5480A56E-368E-443E-B007-D4491C35D0DA}"/>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TID Locking hält einen Transaction-ID-Lock statt vieler Row Locks; LAQ qualifiziert Rows auf committed Versions.</a:t>
            </a:r>
          </a:p>
        </p:txBody>
      </p:sp>
      <p:sp>
        <p:nvSpPr>
          <p:cNvPr id="7" name="lead-accent">
            <a:extLst xmlns:a="http://schemas.openxmlformats.org/drawingml/2006/main">
              <a:ext uri="{FF2B5EF4-FFF2-40B4-BE49-F238E27FC236}">
                <a16:creationId xmlns:a16="http://schemas.microsoft.com/office/drawing/2014/main" id="{63D8596B-A102-4B53-98EF-A0928394A583}"/>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9E0349D9-EDC6-4E0E-85E2-6A4648D7A732}"/>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pro Userdatenbank aktivierbar; in SQL Server 2025 standardmäßig aus</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ADR muss vorab aktiviert sein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LAQ benötigt RCSI; Locking Hints reduzieren den Nutzen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Schema Locks und TempDB-DML bleiben außerhalb dieses Effekts</a:t>
            </a:r>
          </a:p>
        </p:txBody>
      </p:sp>
    </p:spTree>
    <p:extLst>
      <p:ext uri="{BB962C8B-B14F-4D97-AF65-F5344CB8AC3E}">
        <p14:creationId xmlns:p14="http://schemas.microsoft.com/office/powerpoint/2010/main" val="430480687"/>
      </p:ext>
    </p:extLst>
  </p:cSld>
</p:sld>
</file>

<file path=ppt/slides/slide70.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module">
            <a:extLst xmlns:a="http://schemas.openxmlformats.org/drawingml/2006/main">
              <a:ext uri="{FF2B5EF4-FFF2-40B4-BE49-F238E27FC236}">
                <a16:creationId xmlns:a16="http://schemas.microsoft.com/office/drawing/2014/main" id="{772784F7-9E90-4897-B799-E75535CD4F34}"/>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5 · WISSENSKONTROLLE</a:t>
            </a:r>
          </a:p>
        </p:txBody>
      </p:sp>
      <p:sp>
        <p:nvSpPr>
          <p:cNvPr id="2" name="question">
            <a:extLst xmlns:a="http://schemas.openxmlformats.org/drawingml/2006/main">
              <a:ext uri="{FF2B5EF4-FFF2-40B4-BE49-F238E27FC236}">
                <a16:creationId xmlns:a16="http://schemas.microsoft.com/office/drawing/2014/main" id="{A405E02D-5EA1-494D-AA2D-A76AFC1D6A47}"/>
              </a:ext>
            </a:extLst>
          </p:cNvPr>
          <p:cNvSpPr>
            <a:spLocks xmlns:a="http://schemas.openxmlformats.org/drawingml/2006/main" noGrp="1"/>
          </p:cNvSpPr>
          <p:nvPr/>
        </p:nvSpPr>
        <p:spPr>
          <a:xfrm xmlns:a="http://schemas.openxmlformats.org/drawingml/2006/main">
            <a:off x="609600" y="1219200"/>
            <a:ext cx="990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445"/>
          </a:bodyPr>
          <a:lstStyle xmlns:a="http://schemas.openxmlformats.org/drawingml/2006/main"/>
          <a:p xmlns:a="http://schemas.openxmlformats.org/drawingml/2006/main">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Ein Leser blockiert einen Writer: Welche Information fehlt für eine korrekte Maßnahme?</a:t>
            </a:r>
          </a:p>
        </p:txBody>
      </p:sp>
      <p:sp>
        <p:nvSpPr>
          <p:cNvPr id="3" name="question-rule">
            <a:extLst xmlns:a="http://schemas.openxmlformats.org/drawingml/2006/main">
              <a:ext uri="{FF2B5EF4-FFF2-40B4-BE49-F238E27FC236}">
                <a16:creationId xmlns:a16="http://schemas.microsoft.com/office/drawing/2014/main" id="{FD62CA3E-297C-4E36-A19B-70BC59382333}"/>
              </a:ext>
            </a:extLst>
          </p:cNvPr>
          <p:cNvSpPr>
            <a:spLocks xmlns:a="http://schemas.openxmlformats.org/drawingml/2006/main" noGrp="1"/>
          </p:cNvSpPr>
          <p:nvPr/>
        </p:nvSpPr>
        <p:spPr>
          <a:xfrm xmlns:a="http://schemas.openxmlformats.org/drawingml/2006/main">
            <a:off x="609600" y="3048000"/>
            <a:ext cx="106680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4" name="prompt-num-0">
            <a:extLst xmlns:a="http://schemas.openxmlformats.org/drawingml/2006/main">
              <a:ext uri="{FF2B5EF4-FFF2-40B4-BE49-F238E27FC236}">
                <a16:creationId xmlns:a16="http://schemas.microsoft.com/office/drawing/2014/main" id="{496D2F80-74D3-4C34-9C8B-4AF584842652}"/>
              </a:ext>
            </a:extLst>
          </p:cNvPr>
          <p:cNvSpPr>
            <a:spLocks xmlns:a="http://schemas.openxmlformats.org/drawingml/2006/main" noGrp="1"/>
          </p:cNvSpPr>
          <p:nvPr/>
        </p:nvSpPr>
        <p:spPr>
          <a:xfrm xmlns:a="http://schemas.openxmlformats.org/drawingml/2006/main">
            <a:off x="66675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xmlns:a="http://schemas.openxmlformats.org/drawingml/2006/main">
              <a:ext uri="{FF2B5EF4-FFF2-40B4-BE49-F238E27FC236}">
                <a16:creationId xmlns:a16="http://schemas.microsoft.com/office/drawing/2014/main" id="{B28F5385-C44D-4989-9ADA-1138DEEE2E85}"/>
              </a:ext>
            </a:extLst>
          </p:cNvPr>
          <p:cNvSpPr>
            <a:spLocks xmlns:a="http://schemas.openxmlformats.org/drawingml/2006/main" noGrp="1"/>
          </p:cNvSpPr>
          <p:nvPr/>
        </p:nvSpPr>
        <p:spPr>
          <a:xfrm xmlns:a="http://schemas.openxmlformats.org/drawingml/2006/main">
            <a:off x="125730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Isolation Level und RCSI-Status</a:t>
            </a:r>
          </a:p>
        </p:txBody>
      </p:sp>
      <p:sp>
        <p:nvSpPr>
          <p:cNvPr id="6" name="prompt-num-1">
            <a:extLst xmlns:a="http://schemas.openxmlformats.org/drawingml/2006/main">
              <a:ext uri="{FF2B5EF4-FFF2-40B4-BE49-F238E27FC236}">
                <a16:creationId xmlns:a16="http://schemas.microsoft.com/office/drawing/2014/main" id="{1DC1A6A8-40F9-4758-8199-9C5478CC0D3E}"/>
              </a:ext>
            </a:extLst>
          </p:cNvPr>
          <p:cNvSpPr>
            <a:spLocks xmlns:a="http://schemas.openxmlformats.org/drawingml/2006/main" noGrp="1"/>
          </p:cNvSpPr>
          <p:nvPr/>
        </p:nvSpPr>
        <p:spPr>
          <a:xfrm xmlns:a="http://schemas.openxmlformats.org/drawingml/2006/main">
            <a:off x="609600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xmlns:a="http://schemas.openxmlformats.org/drawingml/2006/main">
              <a:ext uri="{FF2B5EF4-FFF2-40B4-BE49-F238E27FC236}">
                <a16:creationId xmlns:a16="http://schemas.microsoft.com/office/drawing/2014/main" id="{510B4C32-0209-4AC0-8CB5-64F78BDC182D}"/>
              </a:ext>
            </a:extLst>
          </p:cNvPr>
          <p:cNvSpPr>
            <a:spLocks xmlns:a="http://schemas.openxmlformats.org/drawingml/2006/main" noGrp="1"/>
          </p:cNvSpPr>
          <p:nvPr/>
        </p:nvSpPr>
        <p:spPr>
          <a:xfrm xmlns:a="http://schemas.openxmlformats.org/drawingml/2006/main">
            <a:off x="668655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offene Transaktionsgrenzen</a:t>
            </a:r>
          </a:p>
        </p:txBody>
      </p:sp>
      <p:sp>
        <p:nvSpPr>
          <p:cNvPr id="8" name="prompt-num-2">
            <a:extLst xmlns:a="http://schemas.openxmlformats.org/drawingml/2006/main">
              <a:ext uri="{FF2B5EF4-FFF2-40B4-BE49-F238E27FC236}">
                <a16:creationId xmlns:a16="http://schemas.microsoft.com/office/drawing/2014/main" id="{9D0CEECB-6F90-4F0E-9781-B7B152CE4719}"/>
              </a:ext>
            </a:extLst>
          </p:cNvPr>
          <p:cNvSpPr>
            <a:spLocks xmlns:a="http://schemas.openxmlformats.org/drawingml/2006/main" noGrp="1"/>
          </p:cNvSpPr>
          <p:nvPr/>
        </p:nvSpPr>
        <p:spPr>
          <a:xfrm xmlns:a="http://schemas.openxmlformats.org/drawingml/2006/main">
            <a:off x="66675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xmlns:a="http://schemas.openxmlformats.org/drawingml/2006/main">
              <a:ext uri="{FF2B5EF4-FFF2-40B4-BE49-F238E27FC236}">
                <a16:creationId xmlns:a16="http://schemas.microsoft.com/office/drawing/2014/main" id="{C7256B07-8C1B-4A2E-83D1-E6E1408D9CC7}"/>
              </a:ext>
            </a:extLst>
          </p:cNvPr>
          <p:cNvSpPr>
            <a:spLocks xmlns:a="http://schemas.openxmlformats.org/drawingml/2006/main" noGrp="1"/>
          </p:cNvSpPr>
          <p:nvPr/>
        </p:nvSpPr>
        <p:spPr>
          <a:xfrm xmlns:a="http://schemas.openxmlformats.org/drawingml/2006/main">
            <a:off x="125730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Lock Resource und Modus</a:t>
            </a:r>
          </a:p>
        </p:txBody>
      </p:sp>
      <p:sp>
        <p:nvSpPr>
          <p:cNvPr id="10" name="prompt-num-3">
            <a:extLst xmlns:a="http://schemas.openxmlformats.org/drawingml/2006/main">
              <a:ext uri="{FF2B5EF4-FFF2-40B4-BE49-F238E27FC236}">
                <a16:creationId xmlns:a16="http://schemas.microsoft.com/office/drawing/2014/main" id="{87408AD1-FFB3-4A82-9395-46EF4B4BEE1D}"/>
              </a:ext>
            </a:extLst>
          </p:cNvPr>
          <p:cNvSpPr>
            <a:spLocks xmlns:a="http://schemas.openxmlformats.org/drawingml/2006/main" noGrp="1"/>
          </p:cNvSpPr>
          <p:nvPr/>
        </p:nvSpPr>
        <p:spPr>
          <a:xfrm xmlns:a="http://schemas.openxmlformats.org/drawingml/2006/main">
            <a:off x="609600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xmlns:a="http://schemas.openxmlformats.org/drawingml/2006/main">
              <a:ext uri="{FF2B5EF4-FFF2-40B4-BE49-F238E27FC236}">
                <a16:creationId xmlns:a16="http://schemas.microsoft.com/office/drawing/2014/main" id="{955E30B5-AB57-4D9C-B27E-1BB265E95849}"/>
              </a:ext>
            </a:extLst>
          </p:cNvPr>
          <p:cNvSpPr>
            <a:spLocks xmlns:a="http://schemas.openxmlformats.org/drawingml/2006/main" noGrp="1"/>
          </p:cNvSpPr>
          <p:nvPr/>
        </p:nvSpPr>
        <p:spPr>
          <a:xfrm xmlns:a="http://schemas.openxmlformats.org/drawingml/2006/main">
            <a:off x="668655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fachlicher Konsistenzvertrag</a:t>
            </a:r>
          </a:p>
        </p:txBody>
      </p:sp>
      <p:sp>
        <p:nvSpPr>
          <p:cNvPr id="12" name="question-footer">
            <a:extLst xmlns:a="http://schemas.openxmlformats.org/drawingml/2006/main">
              <a:ext uri="{FF2B5EF4-FFF2-40B4-BE49-F238E27FC236}">
                <a16:creationId xmlns:a16="http://schemas.microsoft.com/office/drawing/2014/main" id="{56697A33-14AD-4CE5-8D11-1DB36F7CCF1B}"/>
              </a:ext>
            </a:extLst>
          </p:cNvPr>
          <p:cNvSpPr>
            <a:spLocks xmlns:a="http://schemas.openxmlformats.org/drawingml/2006/main" noGrp="1"/>
          </p:cNvSpPr>
          <p:nvPr/>
        </p:nvSpPr>
        <p:spPr>
          <a:xfrm xmlns:a="http://schemas.openxmlformats.org/drawingml/2006/main">
            <a:off x="10287000" y="64389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70 / 84</a:t>
            </a:r>
          </a:p>
        </p:txBody>
      </p:sp>
    </p:spTree>
    <p:extLst>
      <p:ext uri="{BB962C8B-B14F-4D97-AF65-F5344CB8AC3E}">
        <p14:creationId xmlns:p14="http://schemas.microsoft.com/office/powerpoint/2010/main" val="1175942607"/>
      </p:ext>
    </p:extLst>
  </p:cSld>
</p:sld>
</file>

<file path=ppt/slides/slide7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section-number">
            <a:extLst xmlns:a="http://schemas.openxmlformats.org/drawingml/2006/main">
              <a:ext uri="{FF2B5EF4-FFF2-40B4-BE49-F238E27FC236}">
                <a16:creationId xmlns:a16="http://schemas.microsoft.com/office/drawing/2014/main" id="{277974D9-3C6F-4821-98E7-B83306991606}"/>
              </a:ext>
            </a:extLst>
          </p:cNvPr>
          <p:cNvSpPr>
            <a:spLocks xmlns:a="http://schemas.openxmlformats.org/drawingml/2006/main" noGrp="1"/>
          </p:cNvSpPr>
          <p:nvPr/>
        </p:nvSpPr>
        <p:spPr>
          <a:xfrm xmlns:a="http://schemas.openxmlformats.org/drawingml/2006/main">
            <a:off x="628650" y="60960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700" b="1" i="0">
                <a:solidFill>
                  <a:srgbClr val="21B5C2"/>
                </a:solidFill>
                <a:latin typeface="Aptos"/>
                <a:ea typeface="Aptos"/>
                <a:cs typeface="Aptos"/>
              </a:defRPr>
            </a:pPr>
            <a:r>
              <a:rPr sz="8700" b="1" i="0">
                <a:solidFill>
                  <a:srgbClr val="21B5C2"/>
                </a:solidFill>
                <a:latin typeface="Aptos"/>
                <a:ea typeface="Aptos"/>
                <a:cs typeface="Aptos"/>
              </a:rPr>
              <a:t>06</a:t>
            </a:r>
          </a:p>
        </p:txBody>
      </p:sp>
      <p:sp>
        <p:nvSpPr>
          <p:cNvPr id="2" name="section-rule">
            <a:extLst xmlns:a="http://schemas.openxmlformats.org/drawingml/2006/main">
              <a:ext uri="{FF2B5EF4-FFF2-40B4-BE49-F238E27FC236}">
                <a16:creationId xmlns:a16="http://schemas.microsoft.com/office/drawing/2014/main" id="{38405F77-D08B-497D-9AF6-06C6503BA8F9}"/>
              </a:ext>
            </a:extLst>
          </p:cNvPr>
          <p:cNvSpPr>
            <a:spLocks xmlns:a="http://schemas.openxmlformats.org/drawingml/2006/main" noGrp="1"/>
          </p:cNvSpPr>
          <p:nvPr/>
        </p:nvSpPr>
        <p:spPr>
          <a:xfrm xmlns:a="http://schemas.openxmlformats.org/drawingml/2006/main">
            <a:off x="628650" y="2228850"/>
            <a:ext cx="109347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3" name="section-title">
            <a:extLst xmlns:a="http://schemas.openxmlformats.org/drawingml/2006/main">
              <a:ext uri="{FF2B5EF4-FFF2-40B4-BE49-F238E27FC236}">
                <a16:creationId xmlns:a16="http://schemas.microsoft.com/office/drawing/2014/main" id="{474AADED-8137-4668-9E95-053B4C2DA75C}"/>
              </a:ext>
            </a:extLst>
          </p:cNvPr>
          <p:cNvSpPr>
            <a:spLocks xmlns:a="http://schemas.openxmlformats.org/drawingml/2006/main" noGrp="1"/>
          </p:cNvSpPr>
          <p:nvPr/>
        </p:nvSpPr>
        <p:spPr>
          <a:xfrm xmlns:a="http://schemas.openxmlformats.org/drawingml/2006/main">
            <a:off x="628650" y="27051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800" b="1" i="0">
                <a:solidFill>
                  <a:srgbClr val="FFFFFF"/>
                </a:solidFill>
                <a:latin typeface="Aptos"/>
                <a:ea typeface="Aptos"/>
                <a:cs typeface="Aptos"/>
              </a:defRPr>
            </a:pPr>
            <a:r>
              <a:rPr sz="4800" b="1" i="0">
                <a:solidFill>
                  <a:srgbClr val="FFFFFF"/>
                </a:solidFill>
                <a:latin typeface="Aptos"/>
                <a:ea typeface="Aptos"/>
                <a:cs typeface="Aptos"/>
              </a:rPr>
              <a:t>Ressourcen und Diagnose</a:t>
            </a:r>
          </a:p>
        </p:txBody>
      </p:sp>
      <p:sp>
        <p:nvSpPr>
          <p:cNvPr id="4" name="section-subtitle">
            <a:extLst xmlns:a="http://schemas.openxmlformats.org/drawingml/2006/main">
              <a:ext uri="{FF2B5EF4-FFF2-40B4-BE49-F238E27FC236}">
                <a16:creationId xmlns:a16="http://schemas.microsoft.com/office/drawing/2014/main" id="{3B4C23C0-15E1-4B1C-AC6F-8D93D7FEE552}"/>
              </a:ext>
            </a:extLst>
          </p:cNvPr>
          <p:cNvSpPr>
            <a:spLocks xmlns:a="http://schemas.openxmlformats.org/drawingml/2006/main" noGrp="1"/>
          </p:cNvSpPr>
          <p:nvPr/>
        </p:nvSpPr>
        <p:spPr>
          <a:xfrm xmlns:a="http://schemas.openxmlformats.org/drawingml/2006/main">
            <a:off x="628650" y="4000500"/>
            <a:ext cx="923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100" b="0" i="0">
                <a:solidFill>
                  <a:srgbClr val="C9D7E3"/>
                </a:solidFill>
                <a:latin typeface="Aptos"/>
                <a:ea typeface="Aptos"/>
                <a:cs typeface="Aptos"/>
              </a:defRPr>
            </a:pPr>
            <a:r>
              <a:rPr sz="2100" b="0" i="0">
                <a:solidFill>
                  <a:srgbClr val="C9D7E3"/>
                </a:solidFill>
                <a:latin typeface="Aptos"/>
                <a:ea typeface="Aptos"/>
                <a:cs typeface="Aptos"/>
              </a:rPr>
              <a:t>Wie wird aus Messwerten eine überprüfbare technische Hypothese?</a:t>
            </a:r>
          </a:p>
        </p:txBody>
      </p:sp>
      <p:sp>
        <p:nvSpPr>
          <p:cNvPr id="5" name="section-footer">
            <a:extLst xmlns:a="http://schemas.openxmlformats.org/drawingml/2006/main">
              <a:ext uri="{FF2B5EF4-FFF2-40B4-BE49-F238E27FC236}">
                <a16:creationId xmlns:a16="http://schemas.microsoft.com/office/drawing/2014/main" id="{BDAFECF5-7A88-4563-B663-5C1777D82E05}"/>
              </a:ext>
            </a:extLst>
          </p:cNvPr>
          <p:cNvSpPr>
            <a:spLocks xmlns:a="http://schemas.openxmlformats.org/drawingml/2006/main" noGrp="1"/>
          </p:cNvSpPr>
          <p:nvPr/>
        </p:nvSpPr>
        <p:spPr>
          <a:xfrm xmlns:a="http://schemas.openxmlformats.org/drawingml/2006/main">
            <a:off x="628650" y="64198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SQL Server Performance Grundlagen</a:t>
            </a:r>
          </a:p>
        </p:txBody>
      </p:sp>
    </p:spTree>
    <p:extLst>
      <p:ext uri="{BB962C8B-B14F-4D97-AF65-F5344CB8AC3E}">
        <p14:creationId xmlns:p14="http://schemas.microsoft.com/office/powerpoint/2010/main" val="2026166350"/>
      </p:ext>
    </p:extLst>
  </p:cSld>
</p:sld>
</file>

<file path=ppt/slides/slide7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0B049AD5-DA03-4DCA-AD8E-A7C8D35453B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xmlns:a="http://schemas.openxmlformats.org/drawingml/2006/main">
              <a:ext uri="{FF2B5EF4-FFF2-40B4-BE49-F238E27FC236}">
                <a16:creationId xmlns:a16="http://schemas.microsoft.com/office/drawing/2014/main" id="{99CD33AA-4865-4D15-8A41-166838D37AE7}"/>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Elapsed Time besteht aus CPU-Zeit und Wartezeit – aber nicht als triviale Einzelsumme</a:t>
            </a:r>
          </a:p>
        </p:txBody>
      </p:sp>
      <p:sp>
        <p:nvSpPr>
          <p:cNvPr id="3" name="title-rule">
            <a:extLst xmlns:a="http://schemas.openxmlformats.org/drawingml/2006/main">
              <a:ext uri="{FF2B5EF4-FFF2-40B4-BE49-F238E27FC236}">
                <a16:creationId xmlns:a16="http://schemas.microsoft.com/office/drawing/2014/main" id="{CB6BAB57-5DF1-473D-97E6-A84DECECF6C4}"/>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52E56B68-034E-41D8-9405-34EAFFC03627}"/>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2EFFB265-D2B0-43D2-B014-EF316EAB2C1D}"/>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72 / 84</a:t>
            </a:r>
          </a:p>
        </p:txBody>
      </p:sp>
      <p:sp>
        <p:nvSpPr>
          <p:cNvPr id="6" name="left-title">
            <a:extLst xmlns:a="http://schemas.openxmlformats.org/drawingml/2006/main">
              <a:ext uri="{FF2B5EF4-FFF2-40B4-BE49-F238E27FC236}">
                <a16:creationId xmlns:a16="http://schemas.microsoft.com/office/drawing/2014/main" id="{60D69119-8FF1-4A52-8152-CAF31DE0D481}"/>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CPU</a:t>
            </a:r>
          </a:p>
        </p:txBody>
      </p:sp>
      <p:sp>
        <p:nvSpPr>
          <p:cNvPr id="7" name="right-title">
            <a:extLst xmlns:a="http://schemas.openxmlformats.org/drawingml/2006/main">
              <a:ext uri="{FF2B5EF4-FFF2-40B4-BE49-F238E27FC236}">
                <a16:creationId xmlns:a16="http://schemas.microsoft.com/office/drawing/2014/main" id="{BA02A9BE-A8BD-498D-A855-7CF3DCD61676}"/>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Waits</a:t>
            </a:r>
          </a:p>
        </p:txBody>
      </p:sp>
      <p:sp>
        <p:nvSpPr>
          <p:cNvPr id="8" name="middle-rule">
            <a:extLst xmlns:a="http://schemas.openxmlformats.org/drawingml/2006/main">
              <a:ext uri="{FF2B5EF4-FFF2-40B4-BE49-F238E27FC236}">
                <a16:creationId xmlns:a16="http://schemas.microsoft.com/office/drawing/2014/main" id="{B7EAEE3A-3536-4F22-849D-0F4AE8BC82AA}"/>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127C5019-AACC-44D0-9ECB-612BCC83DABC}"/>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aktive Arbeit auf Schedulern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parallel über mehrere Worker</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Operator- und Ausdruckskosten</a:t>
            </a:r>
          </a:p>
        </p:txBody>
      </p:sp>
      <p:sp>
        <p:nvSpPr>
          <p:cNvPr id="10" name="right-points">
            <a:extLst xmlns:a="http://schemas.openxmlformats.org/drawingml/2006/main">
              <a:ext uri="{FF2B5EF4-FFF2-40B4-BE49-F238E27FC236}">
                <a16:creationId xmlns:a16="http://schemas.microsoft.com/office/drawing/2014/main" id="{CA506B11-7357-4C1C-9530-55E2100990DC}"/>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Ressource, Synchronisation oder externe Abhängigkeit</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pro Task, Request oder kumulativ</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Parallelität kann Waits überlappen</a:t>
            </a:r>
          </a:p>
        </p:txBody>
      </p:sp>
      <p:sp>
        <p:nvSpPr>
          <p:cNvPr id="11" name="conclusion-bg">
            <a:extLst xmlns:a="http://schemas.openxmlformats.org/drawingml/2006/main">
              <a:ext uri="{FF2B5EF4-FFF2-40B4-BE49-F238E27FC236}">
                <a16:creationId xmlns:a16="http://schemas.microsoft.com/office/drawing/2014/main" id="{61A71D8D-F295-4DD7-BC0C-0155F9416F04}"/>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AB1360CF-D69D-43A4-9803-49351FEFC940}"/>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Hohe Duration verlangt die Trennung von Arbeit und Warten.</a:t>
            </a:r>
          </a:p>
        </p:txBody>
      </p:sp>
    </p:spTree>
    <p:extLst>
      <p:ext uri="{BB962C8B-B14F-4D97-AF65-F5344CB8AC3E}">
        <p14:creationId xmlns:p14="http://schemas.microsoft.com/office/powerpoint/2010/main" val="578038073"/>
      </p:ext>
    </p:extLst>
  </p:cSld>
</p:sld>
</file>

<file path=ppt/slides/slide7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CD2C58F2-6661-4A36-8C8B-27DB6A27434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xmlns:a="http://schemas.openxmlformats.org/drawingml/2006/main">
              <a:ext uri="{FF2B5EF4-FFF2-40B4-BE49-F238E27FC236}">
                <a16:creationId xmlns:a16="http://schemas.microsoft.com/office/drawing/2014/main" id="{39AA2973-E11B-4C39-A566-EDD0DB4BE666}"/>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Waits müssen im richtigen Scope und als Delta interpretiert werden</a:t>
            </a:r>
          </a:p>
        </p:txBody>
      </p:sp>
      <p:sp>
        <p:nvSpPr>
          <p:cNvPr id="3" name="title-rule">
            <a:extLst xmlns:a="http://schemas.openxmlformats.org/drawingml/2006/main">
              <a:ext uri="{FF2B5EF4-FFF2-40B4-BE49-F238E27FC236}">
                <a16:creationId xmlns:a16="http://schemas.microsoft.com/office/drawing/2014/main" id="{6B0B1CBA-260B-45FA-89D7-5EA03ECCF438}"/>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A271F447-EC3B-48DB-AD32-14F8B4355EC8}"/>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347B3C4D-FE68-4BDA-BADD-38452964EA13}"/>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73 / 84</a:t>
            </a:r>
          </a:p>
        </p:txBody>
      </p:sp>
      <p:graphicFrame>
        <p:nvGraphicFramePr>
          <p:cNvPr id="12" name=""/>
          <p:cNvGraphicFramePr/>
          <p:nvPr/>
        </p:nvGraphicFramePr>
        <p:xfrm>
          <a:off xmlns:a="http://schemas.openxmlformats.org/drawingml/2006/main" x="609600" y="2171700"/>
          <a:ext xmlns:a="http://schemas.openxmlformats.org/drawingml/2006/main" cx="10668000" cy="3524250"/>
        </p:xfrm>
        <a:graphic xmlns:a="http://schemas.openxmlformats.org/drawingml/2006/main">
          <a:graphicData uri="http://schemas.openxmlformats.org/drawingml/2006/table">
            <a:tbl>
              <a:tblPr firstRow="1" bandRow="1"/>
              <a:tblGrid>
                <a:gridCol w="2800350"/>
                <a:gridCol w="3867150"/>
                <a:gridCol w="4000500"/>
              </a:tblGrid>
              <a:tr h="704850">
                <a:tc>
                  <a:txBody>
                    <a:bodyPr/>
                    <a:lstStyle/>
                    <a:p>
                      <a:r>
                        <a:rPr sz="1500" b="1">
                          <a:solidFill>
                            <a:srgbClr val="FFFFFF"/>
                          </a:solidFill>
                          <a:latin typeface="Aptos"/>
                          <a:ea typeface="Aptos"/>
                          <a:cs typeface="Aptos"/>
                        </a:rPr>
                        <a:t>Scope</a:t>
                      </a:r>
                    </a:p>
                  </a:txBody>
                  <a:tcPr marL="91440" marR="91440" marT="45720" marB="45720">
                    <a:solidFill>
                      <a:srgbClr val="0B1F33"/>
                    </a:solidFill>
                  </a:tcPr>
                </a:tc>
                <a:tc>
                  <a:txBody>
                    <a:bodyPr/>
                    <a:lstStyle/>
                    <a:p>
                      <a:r>
                        <a:rPr sz="1500" b="1">
                          <a:solidFill>
                            <a:srgbClr val="FFFFFF"/>
                          </a:solidFill>
                          <a:latin typeface="Aptos"/>
                          <a:ea typeface="Aptos"/>
                          <a:cs typeface="Aptos"/>
                        </a:rPr>
                        <a:t>Beispiel</a:t>
                      </a:r>
                    </a:p>
                  </a:txBody>
                  <a:tcPr marL="91440" marR="91440" marT="45720" marB="45720">
                    <a:solidFill>
                      <a:srgbClr val="0B1F33"/>
                    </a:solidFill>
                  </a:tcPr>
                </a:tc>
                <a:tc>
                  <a:txBody>
                    <a:bodyPr/>
                    <a:lstStyle/>
                    <a:p>
                      <a:r>
                        <a:rPr sz="1500" b="1">
                          <a:solidFill>
                            <a:srgbClr val="FFFFFF"/>
                          </a:solidFill>
                          <a:latin typeface="Aptos"/>
                          <a:ea typeface="Aptos"/>
                          <a:cs typeface="Aptos"/>
                        </a:rPr>
                        <a:t>geeignete Frage</a:t>
                      </a:r>
                    </a:p>
                  </a:txBody>
                  <a:tcPr marL="91440" marR="91440" marT="45720" marB="45720">
                    <a:solidFill>
                      <a:srgbClr val="0B1F33"/>
                    </a:solidFill>
                  </a:tcPr>
                </a:tc>
              </a:tr>
              <a:tr h="704850">
                <a:tc>
                  <a:txBody>
                    <a:bodyPr>
                      <a:normAutofit/>
                    </a:bodyPr>
                    <a:lstStyle/>
                    <a:p>
                      <a:r>
                        <a:rPr sz="1350">
                          <a:solidFill>
                            <a:srgbClr val="243B53"/>
                          </a:solidFill>
                          <a:latin typeface="Aptos"/>
                          <a:ea typeface="Aptos"/>
                          <a:cs typeface="Aptos"/>
                        </a:rPr>
                        <a:t>Request</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sys.dm_exec_requests</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Worauf wartet diese laufende Ausführung jetzt?</a:t>
                      </a:r>
                    </a:p>
                  </a:txBody>
                  <a:tcPr marL="91440" marR="91440" marT="45720" marB="45720">
                    <a:solidFill>
                      <a:srgbClr val="FFFFFF"/>
                    </a:solidFill>
                  </a:tcPr>
                </a:tc>
              </a:tr>
              <a:tr h="704850">
                <a:tc>
                  <a:txBody>
                    <a:bodyPr>
                      <a:normAutofit/>
                    </a:bodyPr>
                    <a:lstStyle/>
                    <a:p>
                      <a:r>
                        <a:rPr sz="1350">
                          <a:solidFill>
                            <a:srgbClr val="243B53"/>
                          </a:solidFill>
                          <a:latin typeface="Aptos"/>
                          <a:ea typeface="Aptos"/>
                          <a:cs typeface="Aptos"/>
                        </a:rPr>
                        <a:t>Session/Task</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sys.dm_os_waiting_tasks</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Welche Ressource blockiert welchen Task?</a:t>
                      </a:r>
                    </a:p>
                  </a:txBody>
                  <a:tcPr marL="91440" marR="91440" marT="45720" marB="45720">
                    <a:solidFill>
                      <a:srgbClr val="EDF2F7"/>
                    </a:solidFill>
                  </a:tcPr>
                </a:tc>
              </a:tr>
              <a:tr h="704850">
                <a:tc>
                  <a:txBody>
                    <a:bodyPr>
                      <a:normAutofit/>
                    </a:bodyPr>
                    <a:lstStyle/>
                    <a:p>
                      <a:r>
                        <a:rPr sz="1350">
                          <a:solidFill>
                            <a:srgbClr val="243B53"/>
                          </a:solidFill>
                          <a:latin typeface="Aptos"/>
                          <a:ea typeface="Aptos"/>
                          <a:cs typeface="Aptos"/>
                        </a:rPr>
                        <a:t>Query-Historie</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Query Store Wait Stats</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Welche Wait-Kategorien begleiteten die Query im Zeitraum?</a:t>
                      </a:r>
                    </a:p>
                  </a:txBody>
                  <a:tcPr marL="91440" marR="91440" marT="45720" marB="45720">
                    <a:solidFill>
                      <a:srgbClr val="FFFFFF"/>
                    </a:solidFill>
                  </a:tcPr>
                </a:tc>
              </a:tr>
              <a:tr h="704850">
                <a:tc>
                  <a:txBody>
                    <a:bodyPr>
                      <a:normAutofit/>
                    </a:bodyPr>
                    <a:lstStyle/>
                    <a:p>
                      <a:r>
                        <a:rPr sz="1350">
                          <a:solidFill>
                            <a:srgbClr val="243B53"/>
                          </a:solidFill>
                          <a:latin typeface="Aptos"/>
                          <a:ea typeface="Aptos"/>
                          <a:cs typeface="Aptos"/>
                        </a:rPr>
                        <a:t>Instanz</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sys.dm_os_wait_stats</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Welche Wartearten dominierten im gemessenen Intervall?</a:t>
                      </a:r>
                    </a:p>
                  </a:txBody>
                  <a:tcPr marL="91440" marR="91440" marT="45720" marB="45720">
                    <a:solidFill>
                      <a:srgbClr val="EDF2F7"/>
                    </a:solidFill>
                  </a:tcPr>
                </a:tc>
              </a:tr>
            </a:tbl>
          </a:graphicData>
        </a:graphic>
      </p:graphicFrame>
    </p:spTree>
    <p:extLst>
      <p:ext uri="{BB962C8B-B14F-4D97-AF65-F5344CB8AC3E}">
        <p14:creationId xmlns:p14="http://schemas.microsoft.com/office/powerpoint/2010/main" val="1678693500"/>
      </p:ext>
    </p:extLst>
  </p:cSld>
</p:sld>
</file>

<file path=ppt/slides/slide7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CB9D42F9-2A1B-4419-92B6-9AC148377D8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xmlns:a="http://schemas.openxmlformats.org/drawingml/2006/main">
              <a:ext uri="{FF2B5EF4-FFF2-40B4-BE49-F238E27FC236}">
                <a16:creationId xmlns:a16="http://schemas.microsoft.com/office/drawing/2014/main" id="{61233047-3166-41B7-9DC5-26BDDD7819F8}"/>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RESOURCE_SEMAPHORE zeigt Grant-Warten – nicht automatisch RAM-Mangel</a:t>
            </a:r>
          </a:p>
        </p:txBody>
      </p:sp>
      <p:sp>
        <p:nvSpPr>
          <p:cNvPr id="3" name="title-rule">
            <a:extLst xmlns:a="http://schemas.openxmlformats.org/drawingml/2006/main">
              <a:ext uri="{FF2B5EF4-FFF2-40B4-BE49-F238E27FC236}">
                <a16:creationId xmlns:a16="http://schemas.microsoft.com/office/drawing/2014/main" id="{EC59FB45-1DF6-4032-966E-045D946083BA}"/>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1DE0F28E-6800-4885-BB82-636F5B9304CA}"/>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D96C55DE-BCC6-4815-BADD-F53E103E032B}"/>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74 / 84</a:t>
            </a:r>
          </a:p>
        </p:txBody>
      </p:sp>
      <p:sp>
        <p:nvSpPr>
          <p:cNvPr id="6" name="left-title">
            <a:extLst xmlns:a="http://schemas.openxmlformats.org/drawingml/2006/main">
              <a:ext uri="{FF2B5EF4-FFF2-40B4-BE49-F238E27FC236}">
                <a16:creationId xmlns:a16="http://schemas.microsoft.com/office/drawing/2014/main" id="{FE891408-4E96-46FC-BA57-CEDFC93C72F3}"/>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Query-Ebene</a:t>
            </a:r>
          </a:p>
        </p:txBody>
      </p:sp>
      <p:sp>
        <p:nvSpPr>
          <p:cNvPr id="7" name="right-title">
            <a:extLst xmlns:a="http://schemas.openxmlformats.org/drawingml/2006/main">
              <a:ext uri="{FF2B5EF4-FFF2-40B4-BE49-F238E27FC236}">
                <a16:creationId xmlns:a16="http://schemas.microsoft.com/office/drawing/2014/main" id="{446BDA0F-2EA1-454E-8F53-02F7F9E24FFB}"/>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Workload-Ebene</a:t>
            </a:r>
          </a:p>
        </p:txBody>
      </p:sp>
      <p:sp>
        <p:nvSpPr>
          <p:cNvPr id="8" name="middle-rule">
            <a:extLst xmlns:a="http://schemas.openxmlformats.org/drawingml/2006/main">
              <a:ext uri="{FF2B5EF4-FFF2-40B4-BE49-F238E27FC236}">
                <a16:creationId xmlns:a16="http://schemas.microsoft.com/office/drawing/2014/main" id="{06673ED7-B45F-4EF5-8096-ABD21D17F909}"/>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A59692DC-B6B3-405A-82B7-D10DFB0881BF}"/>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Requested versus Granted</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Schätzfehler und Row Width</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Spill oder übermäßiger Grant</a:t>
            </a:r>
          </a:p>
        </p:txBody>
      </p:sp>
      <p:sp>
        <p:nvSpPr>
          <p:cNvPr id="10" name="right-points">
            <a:extLst xmlns:a="http://schemas.openxmlformats.org/drawingml/2006/main">
              <a:ext uri="{FF2B5EF4-FFF2-40B4-BE49-F238E27FC236}">
                <a16:creationId xmlns:a16="http://schemas.microsoft.com/office/drawing/2014/main" id="{413E5083-6D29-4739-9F87-14673D2EC70D}"/>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gleichzeitige Grant-Anforderungen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Memory Broker und Resource Governor</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Concurrency und Queue-Dauer</a:t>
            </a:r>
          </a:p>
        </p:txBody>
      </p:sp>
      <p:sp>
        <p:nvSpPr>
          <p:cNvPr id="11" name="conclusion-bg">
            <a:extLst xmlns:a="http://schemas.openxmlformats.org/drawingml/2006/main">
              <a:ext uri="{FF2B5EF4-FFF2-40B4-BE49-F238E27FC236}">
                <a16:creationId xmlns:a16="http://schemas.microsoft.com/office/drawing/2014/main" id="{80B31952-F0B7-4786-8492-01B2902C3E17}"/>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2FA162B2-6C74-4D6D-A923-E5DEDC04CA8F}"/>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Grantdruck wird auf Query- und Systemebene gleichzeitig erklärt.</a:t>
            </a:r>
          </a:p>
        </p:txBody>
      </p:sp>
    </p:spTree>
    <p:extLst>
      <p:ext uri="{BB962C8B-B14F-4D97-AF65-F5344CB8AC3E}">
        <p14:creationId xmlns:p14="http://schemas.microsoft.com/office/powerpoint/2010/main" val="1889210220"/>
      </p:ext>
    </p:extLst>
  </p:cSld>
</p:sld>
</file>

<file path=ppt/slides/slide7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48217AF2-5637-4916-A8E2-928EFEA999D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xmlns:a="http://schemas.openxmlformats.org/drawingml/2006/main">
              <a:ext uri="{FF2B5EF4-FFF2-40B4-BE49-F238E27FC236}">
                <a16:creationId xmlns:a16="http://schemas.microsoft.com/office/drawing/2014/main" id="{1E8DD164-7EC4-4EA4-AAFD-1BF2208DEAA9}"/>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I/O-, Log- und Netzwerk-Waits zeigen unterschiedliche Flaschenhälse</a:t>
            </a:r>
          </a:p>
        </p:txBody>
      </p:sp>
      <p:sp>
        <p:nvSpPr>
          <p:cNvPr id="3" name="title-rule">
            <a:extLst xmlns:a="http://schemas.openxmlformats.org/drawingml/2006/main">
              <a:ext uri="{FF2B5EF4-FFF2-40B4-BE49-F238E27FC236}">
                <a16:creationId xmlns:a16="http://schemas.microsoft.com/office/drawing/2014/main" id="{013C86FC-853A-461E-9D41-A45E68289B51}"/>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84E4A08A-FC95-4F14-9FF7-BF6F9C22E389}"/>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8CBAA270-6D79-4705-BE5B-3FC183B1DFC1}"/>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75 / 84</a:t>
            </a:r>
          </a:p>
        </p:txBody>
      </p:sp>
      <p:graphicFrame>
        <p:nvGraphicFramePr>
          <p:cNvPr id="12" name=""/>
          <p:cNvGraphicFramePr/>
          <p:nvPr/>
        </p:nvGraphicFramePr>
        <p:xfrm>
          <a:off xmlns:a="http://schemas.openxmlformats.org/drawingml/2006/main" x="609600" y="2171700"/>
          <a:ext xmlns:a="http://schemas.openxmlformats.org/drawingml/2006/main" cx="10668000" cy="3524250"/>
        </p:xfrm>
        <a:graphic xmlns:a="http://schemas.openxmlformats.org/drawingml/2006/main">
          <a:graphicData uri="http://schemas.openxmlformats.org/drawingml/2006/table">
            <a:tbl>
              <a:tblPr firstRow="1" bandRow="1"/>
              <a:tblGrid>
                <a:gridCol w="2800350"/>
                <a:gridCol w="3867150"/>
                <a:gridCol w="4000500"/>
              </a:tblGrid>
              <a:tr h="704850">
                <a:tc>
                  <a:txBody>
                    <a:bodyPr/>
                    <a:lstStyle/>
                    <a:p>
                      <a:r>
                        <a:rPr sz="1500" b="1">
                          <a:solidFill>
                            <a:srgbClr val="FFFFFF"/>
                          </a:solidFill>
                          <a:latin typeface="Aptos"/>
                          <a:ea typeface="Aptos"/>
                          <a:cs typeface="Aptos"/>
                        </a:rPr>
                        <a:t>Signal</a:t>
                      </a:r>
                    </a:p>
                  </a:txBody>
                  <a:tcPr marL="91440" marR="91440" marT="45720" marB="45720">
                    <a:solidFill>
                      <a:srgbClr val="0B1F33"/>
                    </a:solidFill>
                  </a:tcPr>
                </a:tc>
                <a:tc>
                  <a:txBody>
                    <a:bodyPr/>
                    <a:lstStyle/>
                    <a:p>
                      <a:r>
                        <a:rPr sz="1500" b="1">
                          <a:solidFill>
                            <a:srgbClr val="FFFFFF"/>
                          </a:solidFill>
                          <a:latin typeface="Aptos"/>
                          <a:ea typeface="Aptos"/>
                          <a:cs typeface="Aptos"/>
                        </a:rPr>
                        <a:t>häufige Bedeutung</a:t>
                      </a:r>
                    </a:p>
                  </a:txBody>
                  <a:tcPr marL="91440" marR="91440" marT="45720" marB="45720">
                    <a:solidFill>
                      <a:srgbClr val="0B1F33"/>
                    </a:solidFill>
                  </a:tcPr>
                </a:tc>
                <a:tc>
                  <a:txBody>
                    <a:bodyPr/>
                    <a:lstStyle/>
                    <a:p>
                      <a:r>
                        <a:rPr sz="1500" b="1">
                          <a:solidFill>
                            <a:srgbClr val="FFFFFF"/>
                          </a:solidFill>
                          <a:latin typeface="Aptos"/>
                          <a:ea typeface="Aptos"/>
                          <a:cs typeface="Aptos"/>
                        </a:rPr>
                        <a:t>nächste Evidenz</a:t>
                      </a:r>
                    </a:p>
                  </a:txBody>
                  <a:tcPr marL="91440" marR="91440" marT="45720" marB="45720">
                    <a:solidFill>
                      <a:srgbClr val="0B1F33"/>
                    </a:solidFill>
                  </a:tcPr>
                </a:tc>
              </a:tr>
              <a:tr h="704850">
                <a:tc>
                  <a:txBody>
                    <a:bodyPr>
                      <a:normAutofit/>
                    </a:bodyPr>
                    <a:lstStyle/>
                    <a:p>
                      <a:r>
                        <a:rPr sz="1350">
                          <a:solidFill>
                            <a:srgbClr val="243B53"/>
                          </a:solidFill>
                          <a:latin typeface="Aptos"/>
                          <a:ea typeface="Aptos"/>
                          <a:cs typeface="Aptos"/>
                        </a:rPr>
                        <a:t>PAGEIOLATCH_*</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Warten auf Data-Page-I/O</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File-Latenz, Reads, Cachemisses, Plan</a:t>
                      </a:r>
                    </a:p>
                  </a:txBody>
                  <a:tcPr marL="91440" marR="91440" marT="45720" marB="45720">
                    <a:solidFill>
                      <a:srgbClr val="FFFFFF"/>
                    </a:solidFill>
                  </a:tcPr>
                </a:tc>
              </a:tr>
              <a:tr h="704850">
                <a:tc>
                  <a:txBody>
                    <a:bodyPr>
                      <a:normAutofit/>
                    </a:bodyPr>
                    <a:lstStyle/>
                    <a:p>
                      <a:r>
                        <a:rPr sz="1350">
                          <a:solidFill>
                            <a:srgbClr val="243B53"/>
                          </a:solidFill>
                          <a:latin typeface="Aptos"/>
                          <a:ea typeface="Aptos"/>
                          <a:cs typeface="Aptos"/>
                        </a:rPr>
                        <a:t>PAGELATCH_*</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In-Memory-Latch auf Page-Struktur</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Resource Description, TempDB/Hot Page</a:t>
                      </a:r>
                    </a:p>
                  </a:txBody>
                  <a:tcPr marL="91440" marR="91440" marT="45720" marB="45720">
                    <a:solidFill>
                      <a:srgbClr val="EDF2F7"/>
                    </a:solidFill>
                  </a:tcPr>
                </a:tc>
              </a:tr>
              <a:tr h="704850">
                <a:tc>
                  <a:txBody>
                    <a:bodyPr>
                      <a:normAutofit/>
                    </a:bodyPr>
                    <a:lstStyle/>
                    <a:p>
                      <a:r>
                        <a:rPr sz="1350">
                          <a:solidFill>
                            <a:srgbClr val="243B53"/>
                          </a:solidFill>
                          <a:latin typeface="Aptos"/>
                          <a:ea typeface="Aptos"/>
                          <a:cs typeface="Aptos"/>
                        </a:rPr>
                        <a:t>WRITELOG</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Warten auf Log Flush</a:t>
                      </a:r>
                    </a:p>
                  </a:txBody>
                  <a:tcPr marL="91440" marR="91440" marT="45720" marB="45720">
                    <a:solidFill>
                      <a:srgbClr val="FFFFFF"/>
                    </a:solidFill>
                  </a:tcPr>
                </a:tc>
                <a:tc>
                  <a:txBody>
                    <a:bodyPr>
                      <a:normAutofit/>
                    </a:bodyPr>
                    <a:lstStyle/>
                    <a:p>
                      <a:r>
                        <a:rPr sz="1350">
                          <a:solidFill>
                            <a:srgbClr val="243B53"/>
                          </a:solidFill>
                          <a:latin typeface="Aptos"/>
                          <a:ea typeface="Aptos"/>
                          <a:cs typeface="Aptos"/>
                        </a:rPr>
                        <a:t>Log-Write-Latenz, Commitmuster, Lograte</a:t>
                      </a:r>
                    </a:p>
                  </a:txBody>
                  <a:tcPr marL="91440" marR="91440" marT="45720" marB="45720">
                    <a:solidFill>
                      <a:srgbClr val="FFFFFF"/>
                    </a:solidFill>
                  </a:tcPr>
                </a:tc>
              </a:tr>
              <a:tr h="704850">
                <a:tc>
                  <a:txBody>
                    <a:bodyPr>
                      <a:normAutofit/>
                    </a:bodyPr>
                    <a:lstStyle/>
                    <a:p>
                      <a:r>
                        <a:rPr sz="1350">
                          <a:solidFill>
                            <a:srgbClr val="243B53"/>
                          </a:solidFill>
                          <a:latin typeface="Aptos"/>
                          <a:ea typeface="Aptos"/>
                          <a:cs typeface="Aptos"/>
                        </a:rPr>
                        <a:t>ASYNC_NETWORK_IO</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Server wartet auf Clientkonsum</a:t>
                      </a:r>
                    </a:p>
                  </a:txBody>
                  <a:tcPr marL="91440" marR="91440" marT="45720" marB="45720">
                    <a:solidFill>
                      <a:srgbClr val="EDF2F7"/>
                    </a:solidFill>
                  </a:tcPr>
                </a:tc>
                <a:tc>
                  <a:txBody>
                    <a:bodyPr>
                      <a:normAutofit/>
                    </a:bodyPr>
                    <a:lstStyle/>
                    <a:p>
                      <a:r>
                        <a:rPr sz="1350">
                          <a:solidFill>
                            <a:srgbClr val="243B53"/>
                          </a:solidFill>
                          <a:latin typeface="Aptos"/>
                          <a:ea typeface="Aptos"/>
                          <a:cs typeface="Aptos"/>
                        </a:rPr>
                        <a:t>Resultsetgröße, Clientfetch, Netzwerk</a:t>
                      </a:r>
                    </a:p>
                  </a:txBody>
                  <a:tcPr marL="91440" marR="91440" marT="45720" marB="45720">
                    <a:solidFill>
                      <a:srgbClr val="EDF2F7"/>
                    </a:solidFill>
                  </a:tcPr>
                </a:tc>
              </a:tr>
            </a:tbl>
          </a:graphicData>
        </a:graphic>
      </p:graphicFrame>
    </p:spTree>
    <p:extLst>
      <p:ext uri="{BB962C8B-B14F-4D97-AF65-F5344CB8AC3E}">
        <p14:creationId xmlns:p14="http://schemas.microsoft.com/office/powerpoint/2010/main" val="614357087"/>
      </p:ext>
    </p:extLst>
  </p:cSld>
</p:sld>
</file>

<file path=ppt/slides/slide7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AF81A740-7B28-4826-B09E-FEF6637979B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xmlns:a="http://schemas.openxmlformats.org/drawingml/2006/main">
              <a:ext uri="{FF2B5EF4-FFF2-40B4-BE49-F238E27FC236}">
                <a16:creationId xmlns:a16="http://schemas.microsoft.com/office/drawing/2014/main" id="{D012D0E8-1964-4818-ACB5-64378548EE1A}"/>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Query Store verbindet Regression, Planwechsel und Laufzeitverteilung über die Zeit</a:t>
            </a:r>
          </a:p>
        </p:txBody>
      </p:sp>
      <p:sp>
        <p:nvSpPr>
          <p:cNvPr id="3" name="title-rule">
            <a:extLst xmlns:a="http://schemas.openxmlformats.org/drawingml/2006/main">
              <a:ext uri="{FF2B5EF4-FFF2-40B4-BE49-F238E27FC236}">
                <a16:creationId xmlns:a16="http://schemas.microsoft.com/office/drawing/2014/main" id="{965CB9CF-7F10-49A3-9742-B9431A8D14D7}"/>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FC8E1642-DDD6-4882-9B68-E381764BE3AD}"/>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2E1BD0CE-3C24-4923-AF13-E8E04ABFEB60}"/>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76 / 84</a:t>
            </a:r>
          </a:p>
        </p:txBody>
      </p:sp>
      <p:sp>
        <p:nvSpPr>
          <p:cNvPr id="6" name="lead">
            <a:extLst xmlns:a="http://schemas.openxmlformats.org/drawingml/2006/main">
              <a:ext uri="{FF2B5EF4-FFF2-40B4-BE49-F238E27FC236}">
                <a16:creationId xmlns:a16="http://schemas.microsoft.com/office/drawing/2014/main" id="{E73437D9-B209-4CC9-B1CA-877044DF5E33}"/>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Plan Cache zeigt primär den aktuellen Zustand; Query Store bewahrt mehrere Pläne und aggregierte Runtime-Intervalle.</a:t>
            </a:r>
          </a:p>
        </p:txBody>
      </p:sp>
      <p:sp>
        <p:nvSpPr>
          <p:cNvPr id="7" name="lead-accent">
            <a:extLst xmlns:a="http://schemas.openxmlformats.org/drawingml/2006/main">
              <a:ext uri="{FF2B5EF4-FFF2-40B4-BE49-F238E27FC236}">
                <a16:creationId xmlns:a16="http://schemas.microsoft.com/office/drawing/2014/main" id="{87940E6F-1985-49E5-82D9-23C24ADB73E0}"/>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E99EFE89-7D13-408D-9582-67BFB4743E25}"/>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Top Resource Consuming und Regressed Queries</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Runtime-, Plan- und Wait-Statistiken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Plan Forcing und Query Store Hints mit Governance</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ab SQL Server 2022 für neue Datenbanken standardmäßig READ_WRITE</a:t>
            </a:r>
          </a:p>
        </p:txBody>
      </p:sp>
    </p:spTree>
    <p:extLst>
      <p:ext uri="{BB962C8B-B14F-4D97-AF65-F5344CB8AC3E}">
        <p14:creationId xmlns:p14="http://schemas.microsoft.com/office/powerpoint/2010/main" val="225120178"/>
      </p:ext>
    </p:extLst>
  </p:cSld>
</p:sld>
</file>

<file path=ppt/slides/slide7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98D9FA56-D7BD-412B-8336-DFCD10F51E5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xmlns:a="http://schemas.openxmlformats.org/drawingml/2006/main">
              <a:ext uri="{FF2B5EF4-FFF2-40B4-BE49-F238E27FC236}">
                <a16:creationId xmlns:a16="http://schemas.microsoft.com/office/drawing/2014/main" id="{98806666-2F6A-4D32-8358-021BE56C0125}"/>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Extended Events und DMVs ergänzen sich bei gezielten Untersuchungen</a:t>
            </a:r>
          </a:p>
        </p:txBody>
      </p:sp>
      <p:sp>
        <p:nvSpPr>
          <p:cNvPr id="3" name="title-rule">
            <a:extLst xmlns:a="http://schemas.openxmlformats.org/drawingml/2006/main">
              <a:ext uri="{FF2B5EF4-FFF2-40B4-BE49-F238E27FC236}">
                <a16:creationId xmlns:a16="http://schemas.microsoft.com/office/drawing/2014/main" id="{B88A59FB-2784-46B8-9B74-6CF6FF985C35}"/>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832E6BA9-10EE-437C-9C07-99BF323B71D3}"/>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05D8B65A-795C-41A7-B467-551034286B65}"/>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77 / 84</a:t>
            </a:r>
          </a:p>
        </p:txBody>
      </p:sp>
      <p:sp>
        <p:nvSpPr>
          <p:cNvPr id="6" name="left-title">
            <a:extLst xmlns:a="http://schemas.openxmlformats.org/drawingml/2006/main">
              <a:ext uri="{FF2B5EF4-FFF2-40B4-BE49-F238E27FC236}">
                <a16:creationId xmlns:a16="http://schemas.microsoft.com/office/drawing/2014/main" id="{4F71FB49-B2A6-4407-AA46-B7020D39DD43}"/>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Extended Events</a:t>
            </a:r>
          </a:p>
        </p:txBody>
      </p:sp>
      <p:sp>
        <p:nvSpPr>
          <p:cNvPr id="7" name="right-title">
            <a:extLst xmlns:a="http://schemas.openxmlformats.org/drawingml/2006/main">
              <a:ext uri="{FF2B5EF4-FFF2-40B4-BE49-F238E27FC236}">
                <a16:creationId xmlns:a16="http://schemas.microsoft.com/office/drawing/2014/main" id="{14C03BD4-8759-441E-80DB-D390CEEA863F}"/>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DMVs</a:t>
            </a:r>
          </a:p>
        </p:txBody>
      </p:sp>
      <p:sp>
        <p:nvSpPr>
          <p:cNvPr id="8" name="middle-rule">
            <a:extLst xmlns:a="http://schemas.openxmlformats.org/drawingml/2006/main">
              <a:ext uri="{FF2B5EF4-FFF2-40B4-BE49-F238E27FC236}">
                <a16:creationId xmlns:a16="http://schemas.microsoft.com/office/drawing/2014/main" id="{418818E3-8FDE-46C9-AD68-3A2A41C5D253}"/>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68E37AB6-3E8D-41A3-B740-758C7616EB69}"/>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zeitliche Ereignisse und Korrelation</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Filter, Actions und Targets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gezielte Session statt Dauer-Vollcapture</a:t>
            </a:r>
          </a:p>
        </p:txBody>
      </p:sp>
      <p:sp>
        <p:nvSpPr>
          <p:cNvPr id="10" name="right-points">
            <a:extLst xmlns:a="http://schemas.openxmlformats.org/drawingml/2006/main">
              <a:ext uri="{FF2B5EF4-FFF2-40B4-BE49-F238E27FC236}">
                <a16:creationId xmlns:a16="http://schemas.microsoft.com/office/drawing/2014/main" id="{19395991-6313-402D-9056-E3F0C6601A29}"/>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aktueller oder kumulierter Zustand</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geringer Einstiegsoverhead</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Momentaufnahme benötigt Kontext und Delta</a:t>
            </a:r>
          </a:p>
        </p:txBody>
      </p:sp>
      <p:sp>
        <p:nvSpPr>
          <p:cNvPr id="11" name="conclusion-bg">
            <a:extLst xmlns:a="http://schemas.openxmlformats.org/drawingml/2006/main">
              <a:ext uri="{FF2B5EF4-FFF2-40B4-BE49-F238E27FC236}">
                <a16:creationId xmlns:a16="http://schemas.microsoft.com/office/drawing/2014/main" id="{2D53657E-0666-4A92-AEA9-53B252F54862}"/>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B9366787-9708-428F-82A8-E619516C74A9}"/>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Das Capture-Design folgt der Hypothese.</a:t>
            </a:r>
          </a:p>
        </p:txBody>
      </p:sp>
    </p:spTree>
    <p:extLst>
      <p:ext uri="{BB962C8B-B14F-4D97-AF65-F5344CB8AC3E}">
        <p14:creationId xmlns:p14="http://schemas.microsoft.com/office/powerpoint/2010/main" val="1747923842"/>
      </p:ext>
    </p:extLst>
  </p:cSld>
</p:sld>
</file>

<file path=ppt/slides/slide7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DC8AEFF4-DEFC-46D7-8D0E-C37DFF17076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xmlns:a="http://schemas.openxmlformats.org/drawingml/2006/main">
              <a:ext uri="{FF2B5EF4-FFF2-40B4-BE49-F238E27FC236}">
                <a16:creationId xmlns:a16="http://schemas.microsoft.com/office/drawing/2014/main" id="{1FEC735E-1279-421C-A862-88C7793CD825}"/>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Eine Query-Analyse wird von außen nach innen eingegrenzt</a:t>
            </a:r>
          </a:p>
        </p:txBody>
      </p:sp>
      <p:sp>
        <p:nvSpPr>
          <p:cNvPr id="3" name="title-rule">
            <a:extLst xmlns:a="http://schemas.openxmlformats.org/drawingml/2006/main">
              <a:ext uri="{FF2B5EF4-FFF2-40B4-BE49-F238E27FC236}">
                <a16:creationId xmlns:a16="http://schemas.microsoft.com/office/drawing/2014/main" id="{E1497767-9126-4F60-9F35-417EDE7165A5}"/>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6C576267-6C11-4365-9A53-D9C94C2D92A0}"/>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E8B9DE52-B208-4B2F-9741-0B31F26CB964}"/>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78 / 84</a:t>
            </a:r>
          </a:p>
        </p:txBody>
      </p:sp>
      <p:sp>
        <p:nvSpPr>
          <p:cNvPr id="6" name="flow-1">
            <a:extLst xmlns:a="http://schemas.openxmlformats.org/drawingml/2006/main">
              <a:ext uri="{FF2B5EF4-FFF2-40B4-BE49-F238E27FC236}">
                <a16:creationId xmlns:a16="http://schemas.microsoft.com/office/drawing/2014/main" id="{0D649366-3DAD-42F7-8230-E45D141FB1D6}"/>
              </a:ext>
            </a:extLst>
          </p:cNvPr>
          <p:cNvSpPr>
            <a:spLocks xmlns:a="http://schemas.openxmlformats.org/drawingml/2006/main" noGrp="1"/>
          </p:cNvSpPr>
          <p:nvPr/>
        </p:nvSpPr>
        <p:spPr>
          <a:xfrm xmlns:a="http://schemas.openxmlformats.org/drawingml/2006/main">
            <a:off x="609600" y="2609850"/>
            <a:ext cx="1962150" cy="1428750"/>
          </a:xfrm>
          <a:prstGeom xmlns:a="http://schemas.openxmlformats.org/drawingml/2006/main" prst="roundRect">
            <a:avLst>
              <a:gd name="adj" fmla="val 5333"/>
            </a:avLst>
          </a:prstGeom>
          <a:solidFill xmlns:a="http://schemas.openxmlformats.org/drawingml/2006/main">
            <a:srgbClr val="EAF4F4"/>
          </a:solidFill>
          <a:ln xmlns:a="http://schemas.openxmlformats.org/drawingml/2006/main" w="9525">
            <a:solidFill>
              <a:srgbClr val="D9E2EC"/>
            </a:solidFill>
            <a:prstDash val="solid"/>
          </a:ln>
        </p:spPr>
      </p:sp>
      <p:sp>
        <p:nvSpPr>
          <p:cNvPr id="7" name="flow-1-text">
            <a:extLst xmlns:a="http://schemas.openxmlformats.org/drawingml/2006/main">
              <a:ext uri="{FF2B5EF4-FFF2-40B4-BE49-F238E27FC236}">
                <a16:creationId xmlns:a16="http://schemas.microsoft.com/office/drawing/2014/main" id="{055A90E2-FB6A-43AD-A38F-0878C22B5746}"/>
              </a:ext>
            </a:extLst>
          </p:cNvPr>
          <p:cNvSpPr>
            <a:spLocks xmlns:a="http://schemas.openxmlformats.org/drawingml/2006/main" noGrp="1"/>
          </p:cNvSpPr>
          <p:nvPr/>
        </p:nvSpPr>
        <p:spPr>
          <a:xfrm xmlns:a="http://schemas.openxmlformats.org/drawingml/2006/main">
            <a:off x="7429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Workload &amp;</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Zeitraum</a:t>
            </a:r>
          </a:p>
        </p:txBody>
      </p:sp>
      <p:sp>
        <p:nvSpPr>
          <p:cNvPr id="8" name="flow-2">
            <a:extLst xmlns:a="http://schemas.openxmlformats.org/drawingml/2006/main">
              <a:ext uri="{FF2B5EF4-FFF2-40B4-BE49-F238E27FC236}">
                <a16:creationId xmlns:a16="http://schemas.microsoft.com/office/drawing/2014/main" id="{5753436A-88FB-420A-8614-4D21C4A573AA}"/>
              </a:ext>
            </a:extLst>
          </p:cNvPr>
          <p:cNvSpPr>
            <a:spLocks xmlns:a="http://schemas.openxmlformats.org/drawingml/2006/main" noGrp="1"/>
          </p:cNvSpPr>
          <p:nvPr/>
        </p:nvSpPr>
        <p:spPr>
          <a:xfrm xmlns:a="http://schemas.openxmlformats.org/drawingml/2006/main">
            <a:off x="27813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9" name="flow-2-text">
            <a:extLst xmlns:a="http://schemas.openxmlformats.org/drawingml/2006/main">
              <a:ext uri="{FF2B5EF4-FFF2-40B4-BE49-F238E27FC236}">
                <a16:creationId xmlns:a16="http://schemas.microsoft.com/office/drawing/2014/main" id="{D544E734-8238-45C4-846C-82CB12311590}"/>
              </a:ext>
            </a:extLst>
          </p:cNvPr>
          <p:cNvSpPr>
            <a:spLocks xmlns:a="http://schemas.openxmlformats.org/drawingml/2006/main" noGrp="1"/>
          </p:cNvSpPr>
          <p:nvPr/>
        </p:nvSpPr>
        <p:spPr>
          <a:xfrm xmlns:a="http://schemas.openxmlformats.org/drawingml/2006/main">
            <a:off x="29146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CPU · I/O ·</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Waits</a:t>
            </a:r>
          </a:p>
        </p:txBody>
      </p:sp>
      <p:sp>
        <p:nvSpPr>
          <p:cNvPr id="10" name="flow-3">
            <a:extLst xmlns:a="http://schemas.openxmlformats.org/drawingml/2006/main">
              <a:ext uri="{FF2B5EF4-FFF2-40B4-BE49-F238E27FC236}">
                <a16:creationId xmlns:a16="http://schemas.microsoft.com/office/drawing/2014/main" id="{055C03D6-E498-4DC5-B89B-7642A8CB9769}"/>
              </a:ext>
            </a:extLst>
          </p:cNvPr>
          <p:cNvSpPr>
            <a:spLocks xmlns:a="http://schemas.openxmlformats.org/drawingml/2006/main" noGrp="1"/>
          </p:cNvSpPr>
          <p:nvPr/>
        </p:nvSpPr>
        <p:spPr>
          <a:xfrm xmlns:a="http://schemas.openxmlformats.org/drawingml/2006/main">
            <a:off x="49530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1" name="flow-3-text">
            <a:extLst xmlns:a="http://schemas.openxmlformats.org/drawingml/2006/main">
              <a:ext uri="{FF2B5EF4-FFF2-40B4-BE49-F238E27FC236}">
                <a16:creationId xmlns:a16="http://schemas.microsoft.com/office/drawing/2014/main" id="{EDFDB149-E5C4-4959-A2DA-06C333F2A763}"/>
              </a:ext>
            </a:extLst>
          </p:cNvPr>
          <p:cNvSpPr>
            <a:spLocks xmlns:a="http://schemas.openxmlformats.org/drawingml/2006/main" noGrp="1"/>
          </p:cNvSpPr>
          <p:nvPr/>
        </p:nvSpPr>
        <p:spPr>
          <a:xfrm xmlns:a="http://schemas.openxmlformats.org/drawingml/2006/main">
            <a:off x="50863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Blocking &amp;</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Grants</a:t>
            </a:r>
          </a:p>
        </p:txBody>
      </p:sp>
      <p:sp>
        <p:nvSpPr>
          <p:cNvPr id="12" name="flow-4">
            <a:extLst xmlns:a="http://schemas.openxmlformats.org/drawingml/2006/main">
              <a:ext uri="{FF2B5EF4-FFF2-40B4-BE49-F238E27FC236}">
                <a16:creationId xmlns:a16="http://schemas.microsoft.com/office/drawing/2014/main" id="{A8A1CDC4-4726-4E9B-8ACB-CD7804B1604F}"/>
              </a:ext>
            </a:extLst>
          </p:cNvPr>
          <p:cNvSpPr>
            <a:spLocks xmlns:a="http://schemas.openxmlformats.org/drawingml/2006/main" noGrp="1"/>
          </p:cNvSpPr>
          <p:nvPr/>
        </p:nvSpPr>
        <p:spPr>
          <a:xfrm xmlns:a="http://schemas.openxmlformats.org/drawingml/2006/main">
            <a:off x="71247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3" name="flow-4-text">
            <a:extLst xmlns:a="http://schemas.openxmlformats.org/drawingml/2006/main">
              <a:ext uri="{FF2B5EF4-FFF2-40B4-BE49-F238E27FC236}">
                <a16:creationId xmlns:a16="http://schemas.microsoft.com/office/drawing/2014/main" id="{D1B53030-A49C-4D58-89CB-2119C8110939}"/>
              </a:ext>
            </a:extLst>
          </p:cNvPr>
          <p:cNvSpPr>
            <a:spLocks xmlns:a="http://schemas.openxmlformats.org/drawingml/2006/main" noGrp="1"/>
          </p:cNvSpPr>
          <p:nvPr/>
        </p:nvSpPr>
        <p:spPr>
          <a:xfrm xmlns:a="http://schemas.openxmlformats.org/drawingml/2006/main">
            <a:off x="72580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Actual Plan &amp;</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Kardinalität</a:t>
            </a:r>
          </a:p>
        </p:txBody>
      </p:sp>
      <p:sp>
        <p:nvSpPr>
          <p:cNvPr id="14" name="flow-5">
            <a:extLst xmlns:a="http://schemas.openxmlformats.org/drawingml/2006/main">
              <a:ext uri="{FF2B5EF4-FFF2-40B4-BE49-F238E27FC236}">
                <a16:creationId xmlns:a16="http://schemas.microsoft.com/office/drawing/2014/main" id="{C53FFDF2-23CA-4A47-A8DA-E979E67E4A4B}"/>
              </a:ext>
            </a:extLst>
          </p:cNvPr>
          <p:cNvSpPr>
            <a:spLocks xmlns:a="http://schemas.openxmlformats.org/drawingml/2006/main" noGrp="1"/>
          </p:cNvSpPr>
          <p:nvPr/>
        </p:nvSpPr>
        <p:spPr>
          <a:xfrm xmlns:a="http://schemas.openxmlformats.org/drawingml/2006/main">
            <a:off x="9296400" y="2609850"/>
            <a:ext cx="1962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prstDash val="solid"/>
          </a:ln>
        </p:spPr>
      </p:sp>
      <p:sp>
        <p:nvSpPr>
          <p:cNvPr id="15" name="flow-5-text">
            <a:extLst xmlns:a="http://schemas.openxmlformats.org/drawingml/2006/main">
              <a:ext uri="{FF2B5EF4-FFF2-40B4-BE49-F238E27FC236}">
                <a16:creationId xmlns:a16="http://schemas.microsoft.com/office/drawing/2014/main" id="{956BF807-172D-49A5-9F3F-F471BB035A3E}"/>
              </a:ext>
            </a:extLst>
          </p:cNvPr>
          <p:cNvSpPr>
            <a:spLocks xmlns:a="http://schemas.openxmlformats.org/drawingml/2006/main" noGrp="1"/>
          </p:cNvSpPr>
          <p:nvPr/>
        </p:nvSpPr>
        <p:spPr>
          <a:xfrm xmlns:a="http://schemas.openxmlformats.org/drawingml/2006/main">
            <a:off x="9429750" y="2724150"/>
            <a:ext cx="1695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Hypothese &amp;</a:t>
            </a:r>
          </a:p>
          <a:p xmlns:a="http://schemas.openxmlformats.org/drawingml/2006/main">
            <a:pPr algn="ctr">
              <a:lnSpc>
                <a:spcPct val="105000"/>
              </a:lnSpc>
              <a:buNone/>
              <a:defRPr sz="1650" b="1" i="0">
                <a:solidFill>
                  <a:srgbClr val="102A43"/>
                </a:solidFill>
                <a:latin typeface="Aptos"/>
                <a:ea typeface="Aptos"/>
                <a:cs typeface="Aptos"/>
              </a:defRPr>
            </a:pPr>
            <a:r>
              <a:rPr sz="1650" b="1" i="0">
                <a:solidFill>
                  <a:srgbClr val="102A43"/>
                </a:solidFill>
                <a:latin typeface="Aptos"/>
                <a:ea typeface="Aptos"/>
                <a:cs typeface="Aptos"/>
              </a:rPr>
              <a:t>Vergleich</a:t>
            </a:r>
          </a:p>
        </p:txBody>
      </p:sp>
      <p:cxnSp>
        <p:nvCxnSpPr>
          <p:cNvPr id="37" name=""/>
          <p:cNvCxnSpPr>
            <a:stCxn xmlns:a="http://schemas.openxmlformats.org/drawingml/2006/main" id="6" idx="3"/>
            <a:endCxn xmlns:a="http://schemas.openxmlformats.org/drawingml/2006/main" id="8" idx="1"/>
          </p:cNvCxnSpPr>
          <p:nvPr/>
        </p:nvCxnSpPr>
        <p:spPr>
          <a:xfrm xmlns:a="http://schemas.openxmlformats.org/drawingml/2006/main">
            <a:off x="25717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8" name=""/>
          <p:cNvCxnSpPr>
            <a:stCxn xmlns:a="http://schemas.openxmlformats.org/drawingml/2006/main" id="8" idx="3"/>
            <a:endCxn xmlns:a="http://schemas.openxmlformats.org/drawingml/2006/main" id="10" idx="1"/>
          </p:cNvCxnSpPr>
          <p:nvPr/>
        </p:nvCxnSpPr>
        <p:spPr>
          <a:xfrm xmlns:a="http://schemas.openxmlformats.org/drawingml/2006/main">
            <a:off x="47434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39" name=""/>
          <p:cNvCxnSpPr>
            <a:stCxn xmlns:a="http://schemas.openxmlformats.org/drawingml/2006/main" id="10" idx="3"/>
            <a:endCxn xmlns:a="http://schemas.openxmlformats.org/drawingml/2006/main" id="12" idx="1"/>
          </p:cNvCxnSpPr>
          <p:nvPr/>
        </p:nvCxnSpPr>
        <p:spPr>
          <a:xfrm xmlns:a="http://schemas.openxmlformats.org/drawingml/2006/main">
            <a:off x="69151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cxnSp>
        <p:nvCxnSpPr>
          <p:cNvPr id="40" name=""/>
          <p:cNvCxnSpPr>
            <a:stCxn xmlns:a="http://schemas.openxmlformats.org/drawingml/2006/main" id="12" idx="3"/>
            <a:endCxn xmlns:a="http://schemas.openxmlformats.org/drawingml/2006/main" id="14" idx="1"/>
          </p:cNvCxnSpPr>
          <p:nvPr/>
        </p:nvCxnSpPr>
        <p:spPr>
          <a:xfrm xmlns:a="http://schemas.openxmlformats.org/drawingml/2006/main">
            <a:off x="9086850" y="3324225"/>
            <a:ext cx="209550" cy="0"/>
          </a:xfrm>
          <a:prstGeom xmlns:a="http://schemas.openxmlformats.org/drawingml/2006/main" prst="straightConnector1">
            <a:avLst/>
          </a:prstGeom>
          <a:ln xmlns:a="http://schemas.openxmlformats.org/drawingml/2006/main" w="28575">
            <a:solidFill>
              <a:srgbClr val="007C83"/>
            </a:solidFill>
            <a:prstDash val="solid"/>
            <a:headEnd type="arrow" w="med" len="med"/>
          </a:ln>
        </p:spPr>
      </p:cxnSp>
      <p:sp>
        <p:nvSpPr>
          <p:cNvPr id="20" name="conclusion-bg">
            <a:extLst xmlns:a="http://schemas.openxmlformats.org/drawingml/2006/main">
              <a:ext uri="{FF2B5EF4-FFF2-40B4-BE49-F238E27FC236}">
                <a16:creationId xmlns:a16="http://schemas.microsoft.com/office/drawing/2014/main" id="{355382CE-D154-4B7E-9A1E-0981585BDE76}"/>
              </a:ext>
            </a:extLst>
          </p:cNvPr>
          <p:cNvSpPr>
            <a:spLocks xmlns:a="http://schemas.openxmlformats.org/drawingml/2006/main" noGrp="1"/>
          </p:cNvSpPr>
          <p:nvPr/>
        </p:nvSpPr>
        <p:spPr>
          <a:xfrm xmlns:a="http://schemas.openxmlformats.org/drawingml/2006/main">
            <a:off x="1752600" y="4762500"/>
            <a:ext cx="8382000" cy="819150"/>
          </a:xfrm>
          <a:prstGeom xmlns:a="http://schemas.openxmlformats.org/drawingml/2006/main" prst="roundRect">
            <a:avLst>
              <a:gd name="adj" fmla="val 9302"/>
            </a:avLst>
          </a:prstGeom>
          <a:solidFill xmlns:a="http://schemas.openxmlformats.org/drawingml/2006/main">
            <a:srgbClr val="0B1F33"/>
          </a:solidFill>
          <a:ln xmlns:a="http://schemas.openxmlformats.org/drawingml/2006/main" w="9525">
            <a:solidFill>
              <a:srgbClr val="0B1F33"/>
            </a:solidFill>
            <a:prstDash val="solid"/>
          </a:ln>
        </p:spPr>
      </p:sp>
      <p:sp>
        <p:nvSpPr>
          <p:cNvPr id="21" name="conclusion">
            <a:extLst xmlns:a="http://schemas.openxmlformats.org/drawingml/2006/main">
              <a:ext uri="{FF2B5EF4-FFF2-40B4-BE49-F238E27FC236}">
                <a16:creationId xmlns:a16="http://schemas.microsoft.com/office/drawing/2014/main" id="{41BFB6DA-4604-43B9-9FB8-535CE1843ACF}"/>
              </a:ext>
            </a:extLst>
          </p:cNvPr>
          <p:cNvSpPr>
            <a:spLocks xmlns:a="http://schemas.openxmlformats.org/drawingml/2006/main" noGrp="1"/>
          </p:cNvSpPr>
          <p:nvPr/>
        </p:nvSpPr>
        <p:spPr>
          <a:xfrm xmlns:a="http://schemas.openxmlformats.org/drawingml/2006/main">
            <a:off x="2000250" y="4933950"/>
            <a:ext cx="788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725" b="1" i="0">
                <a:solidFill>
                  <a:srgbClr val="FFFFFF"/>
                </a:solidFill>
                <a:latin typeface="Aptos"/>
                <a:ea typeface="Aptos"/>
                <a:cs typeface="Aptos"/>
              </a:defRPr>
            </a:pPr>
            <a:r>
              <a:rPr sz="1725" b="1" i="0">
                <a:solidFill>
                  <a:srgbClr val="FFFFFF"/>
                </a:solidFill>
                <a:latin typeface="Aptos"/>
                <a:ea typeface="Aptos"/>
                <a:cs typeface="Aptos"/>
              </a:rPr>
              <a:t>Die teuerste Operatorzahl allein ist keine Ursachenanalyse.</a:t>
            </a:r>
          </a:p>
        </p:txBody>
      </p:sp>
    </p:spTree>
    <p:extLst>
      <p:ext uri="{BB962C8B-B14F-4D97-AF65-F5344CB8AC3E}">
        <p14:creationId xmlns:p14="http://schemas.microsoft.com/office/powerpoint/2010/main" val="995494075"/>
      </p:ext>
    </p:extLst>
  </p:cSld>
</p:sld>
</file>

<file path=ppt/slides/slide7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B90D93A6-365A-4466-B9A5-B623ABF75EE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6 · DIAGNOSE</a:t>
            </a:r>
          </a:p>
        </p:txBody>
      </p:sp>
      <p:sp>
        <p:nvSpPr>
          <p:cNvPr id="2" name="slide-title">
            <a:extLst xmlns:a="http://schemas.openxmlformats.org/drawingml/2006/main">
              <a:ext uri="{FF2B5EF4-FFF2-40B4-BE49-F238E27FC236}">
                <a16:creationId xmlns:a16="http://schemas.microsoft.com/office/drawing/2014/main" id="{0899A09B-17D1-479B-9EDA-6584B180B195}"/>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01"/>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Ein Vorher-Nachher-Vergleich benötigt identische Bedingungen und mehrere Dimensionen</a:t>
            </a:r>
          </a:p>
        </p:txBody>
      </p:sp>
      <p:sp>
        <p:nvSpPr>
          <p:cNvPr id="3" name="title-rule">
            <a:extLst xmlns:a="http://schemas.openxmlformats.org/drawingml/2006/main">
              <a:ext uri="{FF2B5EF4-FFF2-40B4-BE49-F238E27FC236}">
                <a16:creationId xmlns:a16="http://schemas.microsoft.com/office/drawing/2014/main" id="{E1D08F9E-17F0-433F-BEA6-14F82167817B}"/>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3950329B-4712-4964-8FD0-52F1D13B89BE}"/>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5317596B-D85C-4134-A4AF-0D79D92F369E}"/>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79 / 84</a:t>
            </a:r>
          </a:p>
        </p:txBody>
      </p:sp>
      <p:sp>
        <p:nvSpPr>
          <p:cNvPr id="6" name="left-title">
            <a:extLst xmlns:a="http://schemas.openxmlformats.org/drawingml/2006/main">
              <a:ext uri="{FF2B5EF4-FFF2-40B4-BE49-F238E27FC236}">
                <a16:creationId xmlns:a16="http://schemas.microsoft.com/office/drawing/2014/main" id="{B16A942E-A54E-4AEA-B9A3-AA7A5C80FC10}"/>
              </a:ext>
            </a:extLst>
          </p:cNvPr>
          <p:cNvSpPr>
            <a:spLocks xmlns:a="http://schemas.openxmlformats.org/drawingml/2006/main" noGrp="1"/>
          </p:cNvSpPr>
          <p:nvPr/>
        </p:nvSpPr>
        <p:spPr>
          <a:xfrm xmlns:a="http://schemas.openxmlformats.org/drawingml/2006/main">
            <a:off x="609600" y="21526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007C83"/>
                </a:solidFill>
                <a:latin typeface="Aptos"/>
                <a:ea typeface="Aptos"/>
                <a:cs typeface="Aptos"/>
              </a:defRPr>
            </a:pPr>
            <a:r>
              <a:rPr sz="2100" b="1" i="0">
                <a:solidFill>
                  <a:srgbClr val="007C83"/>
                </a:solidFill>
                <a:latin typeface="Aptos"/>
                <a:ea typeface="Aptos"/>
                <a:cs typeface="Aptos"/>
              </a:rPr>
              <a:t>Konstant halten</a:t>
            </a:r>
          </a:p>
        </p:txBody>
      </p:sp>
      <p:sp>
        <p:nvSpPr>
          <p:cNvPr id="7" name="right-title">
            <a:extLst xmlns:a="http://schemas.openxmlformats.org/drawingml/2006/main">
              <a:ext uri="{FF2B5EF4-FFF2-40B4-BE49-F238E27FC236}">
                <a16:creationId xmlns:a16="http://schemas.microsoft.com/office/drawing/2014/main" id="{4DE19F8B-F916-4816-B883-425DD631821C}"/>
              </a:ext>
            </a:extLst>
          </p:cNvPr>
          <p:cNvSpPr>
            <a:spLocks xmlns:a="http://schemas.openxmlformats.org/drawingml/2006/main" noGrp="1"/>
          </p:cNvSpPr>
          <p:nvPr/>
        </p:nvSpPr>
        <p:spPr>
          <a:xfrm xmlns:a="http://schemas.openxmlformats.org/drawingml/2006/main">
            <a:off x="6419850" y="21526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4A261"/>
                </a:solidFill>
                <a:latin typeface="Aptos"/>
                <a:ea typeface="Aptos"/>
                <a:cs typeface="Aptos"/>
              </a:defRPr>
            </a:pPr>
            <a:r>
              <a:rPr sz="2100" b="1" i="0">
                <a:solidFill>
                  <a:srgbClr val="F4A261"/>
                </a:solidFill>
                <a:latin typeface="Aptos"/>
                <a:ea typeface="Aptos"/>
                <a:cs typeface="Aptos"/>
              </a:rPr>
              <a:t>gemeinsam bewerten</a:t>
            </a:r>
          </a:p>
        </p:txBody>
      </p:sp>
      <p:sp>
        <p:nvSpPr>
          <p:cNvPr id="8" name="middle-rule">
            <a:extLst xmlns:a="http://schemas.openxmlformats.org/drawingml/2006/main">
              <a:ext uri="{FF2B5EF4-FFF2-40B4-BE49-F238E27FC236}">
                <a16:creationId xmlns:a16="http://schemas.microsoft.com/office/drawing/2014/main" id="{96F5BE19-8B28-4009-A4D7-D168DACECDFE}"/>
              </a:ext>
            </a:extLst>
          </p:cNvPr>
          <p:cNvSpPr>
            <a:spLocks xmlns:a="http://schemas.openxmlformats.org/drawingml/2006/main" noGrp="1"/>
          </p:cNvSpPr>
          <p:nvPr/>
        </p:nvSpPr>
        <p:spPr>
          <a:xfrm xmlns:a="http://schemas.openxmlformats.org/drawingml/2006/main">
            <a:off x="5905500" y="2152650"/>
            <a:ext cx="19050" cy="31432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left-points">
            <a:extLst xmlns:a="http://schemas.openxmlformats.org/drawingml/2006/main">
              <a:ext uri="{FF2B5EF4-FFF2-40B4-BE49-F238E27FC236}">
                <a16:creationId xmlns:a16="http://schemas.microsoft.com/office/drawing/2014/main" id="{23AAE32F-5412-423C-A0C8-FF5D1CB9FE9C}"/>
              </a:ext>
            </a:extLst>
          </p:cNvPr>
          <p:cNvSpPr>
            <a:spLocks xmlns:a="http://schemas.openxmlformats.org/drawingml/2006/main" noGrp="1"/>
          </p:cNvSpPr>
          <p:nvPr/>
        </p:nvSpPr>
        <p:spPr>
          <a:xfrm xmlns:a="http://schemas.openxmlformats.org/drawingml/2006/main">
            <a:off x="609600" y="27432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Datenstand und Parameter</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Cache-/Warm-up-Regel</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Concurrency und Zeitfenster</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Version und DB-Optionen</a:t>
            </a:r>
          </a:p>
        </p:txBody>
      </p:sp>
      <p:sp>
        <p:nvSpPr>
          <p:cNvPr id="10" name="right-points">
            <a:extLst xmlns:a="http://schemas.openxmlformats.org/drawingml/2006/main">
              <a:ext uri="{FF2B5EF4-FFF2-40B4-BE49-F238E27FC236}">
                <a16:creationId xmlns:a16="http://schemas.microsoft.com/office/drawing/2014/main" id="{746EFA88-40DF-4C86-8A57-3541F0BE006A}"/>
              </a:ext>
            </a:extLst>
          </p:cNvPr>
          <p:cNvSpPr>
            <a:spLocks xmlns:a="http://schemas.openxmlformats.org/drawingml/2006/main" noGrp="1"/>
          </p:cNvSpPr>
          <p:nvPr/>
        </p:nvSpPr>
        <p:spPr>
          <a:xfrm xmlns:a="http://schemas.openxmlformats.org/drawingml/2006/main">
            <a:off x="6419850" y="27432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Duration und CPU</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Reads, Writes und Rows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Waits, Grants und Spills</a:t>
            </a:r>
          </a:p>
          <a:p xmlns:a="http://schemas.openxmlformats.org/drawingml/2006/main">
            <a:pPr marL="24" indent="-14">
              <a:lnSpc>
                <a:spcPct val="112000"/>
              </a:lnSpc>
              <a:spcAft>
                <a:spcPts val="16"/>
              </a:spcAft>
              <a:buNone/>
              <a:defRPr sz="1800">
                <a:solidFill>
                  <a:srgbClr val="243B53"/>
                </a:solidFill>
                <a:latin typeface="Aptos"/>
                <a:ea typeface="Aptos"/>
                <a:cs typeface="Aptos"/>
              </a:defRPr>
            </a:pPr>
            <a:r>
              <a:rPr sz="1800">
                <a:solidFill>
                  <a:srgbClr val="243B53"/>
                </a:solidFill>
                <a:latin typeface="Aptos"/>
                <a:ea typeface="Aptos"/>
                <a:cs typeface="Aptos"/>
              </a:rPr>
              <a:t>Nebenwirkungen auf DML</a:t>
            </a:r>
          </a:p>
        </p:txBody>
      </p:sp>
      <p:sp>
        <p:nvSpPr>
          <p:cNvPr id="11" name="conclusion-bg">
            <a:extLst xmlns:a="http://schemas.openxmlformats.org/drawingml/2006/main">
              <a:ext uri="{FF2B5EF4-FFF2-40B4-BE49-F238E27FC236}">
                <a16:creationId xmlns:a16="http://schemas.microsoft.com/office/drawing/2014/main" id="{D084095F-21AC-42B4-B762-C3A8B4328077}"/>
              </a:ext>
            </a:extLst>
          </p:cNvPr>
          <p:cNvSpPr>
            <a:spLocks xmlns:a="http://schemas.openxmlformats.org/drawingml/2006/main" noGrp="1"/>
          </p:cNvSpPr>
          <p:nvPr/>
        </p:nvSpPr>
        <p:spPr>
          <a:xfrm xmlns:a="http://schemas.openxmlformats.org/drawingml/2006/main">
            <a:off x="609600" y="5486400"/>
            <a:ext cx="10668000" cy="685800"/>
          </a:xfrm>
          <a:prstGeom xmlns:a="http://schemas.openxmlformats.org/drawingml/2006/main" prst="roundRect">
            <a:avLst>
              <a:gd name="adj" fmla="val 11111"/>
            </a:avLst>
          </a:prstGeom>
          <a:solidFill xmlns:a="http://schemas.openxmlformats.org/drawingml/2006/main">
            <a:srgbClr val="0B1F33"/>
          </a:solidFill>
          <a:ln xmlns:a="http://schemas.openxmlformats.org/drawingml/2006/main" w="9525">
            <a:solidFill>
              <a:srgbClr val="0B1F33"/>
            </a:solidFill>
            <a:prstDash val="solid"/>
          </a:ln>
        </p:spPr>
      </p:sp>
      <p:sp>
        <p:nvSpPr>
          <p:cNvPr id="12" name="conclusion">
            <a:extLst xmlns:a="http://schemas.openxmlformats.org/drawingml/2006/main">
              <a:ext uri="{FF2B5EF4-FFF2-40B4-BE49-F238E27FC236}">
                <a16:creationId xmlns:a16="http://schemas.microsoft.com/office/drawing/2014/main" id="{225A4E62-B417-48B2-9FCB-D725548A7DFB}"/>
              </a:ext>
            </a:extLst>
          </p:cNvPr>
          <p:cNvSpPr>
            <a:spLocks xmlns:a="http://schemas.openxmlformats.org/drawingml/2006/main" noGrp="1"/>
          </p:cNvSpPr>
          <p:nvPr/>
        </p:nvSpPr>
        <p:spPr>
          <a:xfrm xmlns:a="http://schemas.openxmlformats.org/drawingml/2006/main">
            <a:off x="838200" y="5638800"/>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Aptos"/>
                <a:ea typeface="Aptos"/>
                <a:cs typeface="Aptos"/>
              </a:defRPr>
            </a:pPr>
            <a:r>
              <a:rPr sz="1650" b="1" i="0">
                <a:solidFill>
                  <a:srgbClr val="FFFFFF"/>
                </a:solidFill>
                <a:latin typeface="Aptos"/>
                <a:ea typeface="Aptos"/>
                <a:cs typeface="Aptos"/>
              </a:rPr>
              <a:t>Eine Verbesserung ist ein reproduzierbarer Effekt mit dokumentierten Grenzen.</a:t>
            </a:r>
          </a:p>
        </p:txBody>
      </p:sp>
    </p:spTree>
    <p:extLst>
      <p:ext uri="{BB962C8B-B14F-4D97-AF65-F5344CB8AC3E}">
        <p14:creationId xmlns:p14="http://schemas.microsoft.com/office/powerpoint/2010/main" val="1765410419"/>
      </p:ext>
    </p:extLst>
  </p:cSld>
</p:sld>
</file>

<file path=ppt/slides/slide80.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module">
            <a:extLst xmlns:a="http://schemas.openxmlformats.org/drawingml/2006/main">
              <a:ext uri="{FF2B5EF4-FFF2-40B4-BE49-F238E27FC236}">
                <a16:creationId xmlns:a16="http://schemas.microsoft.com/office/drawing/2014/main" id="{F6E446DE-08D4-4E37-BF98-6D36F7E0C7CA}"/>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6 · WISSENSKONTROLLE</a:t>
            </a:r>
          </a:p>
        </p:txBody>
      </p:sp>
      <p:sp>
        <p:nvSpPr>
          <p:cNvPr id="2" name="question">
            <a:extLst xmlns:a="http://schemas.openxmlformats.org/drawingml/2006/main">
              <a:ext uri="{FF2B5EF4-FFF2-40B4-BE49-F238E27FC236}">
                <a16:creationId xmlns:a16="http://schemas.microsoft.com/office/drawing/2014/main" id="{F740ECC6-F1C2-46D5-B644-C85B9992C5F1}"/>
              </a:ext>
            </a:extLst>
          </p:cNvPr>
          <p:cNvSpPr>
            <a:spLocks xmlns:a="http://schemas.openxmlformats.org/drawingml/2006/main" noGrp="1"/>
          </p:cNvSpPr>
          <p:nvPr/>
        </p:nvSpPr>
        <p:spPr>
          <a:xfrm xmlns:a="http://schemas.openxmlformats.org/drawingml/2006/main">
            <a:off x="609600" y="1219200"/>
            <a:ext cx="990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76"/>
          </a:bodyPr>
          <a:lstStyle xmlns:a="http://schemas.openxmlformats.org/drawingml/2006/main"/>
          <a:p xmlns:a="http://schemas.openxmlformats.org/drawingml/2006/main">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Eine Query ist langsamer, CPU bleibt gleich: Welche Achsen werden als Nächstes geprüft?</a:t>
            </a:r>
          </a:p>
        </p:txBody>
      </p:sp>
      <p:sp>
        <p:nvSpPr>
          <p:cNvPr id="3" name="question-rule">
            <a:extLst xmlns:a="http://schemas.openxmlformats.org/drawingml/2006/main">
              <a:ext uri="{FF2B5EF4-FFF2-40B4-BE49-F238E27FC236}">
                <a16:creationId xmlns:a16="http://schemas.microsoft.com/office/drawing/2014/main" id="{CD239907-8295-4F3C-BDAD-121610594579}"/>
              </a:ext>
            </a:extLst>
          </p:cNvPr>
          <p:cNvSpPr>
            <a:spLocks xmlns:a="http://schemas.openxmlformats.org/drawingml/2006/main" noGrp="1"/>
          </p:cNvSpPr>
          <p:nvPr/>
        </p:nvSpPr>
        <p:spPr>
          <a:xfrm xmlns:a="http://schemas.openxmlformats.org/drawingml/2006/main">
            <a:off x="609600" y="3048000"/>
            <a:ext cx="106680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4" name="prompt-num-0">
            <a:extLst xmlns:a="http://schemas.openxmlformats.org/drawingml/2006/main">
              <a:ext uri="{FF2B5EF4-FFF2-40B4-BE49-F238E27FC236}">
                <a16:creationId xmlns:a16="http://schemas.microsoft.com/office/drawing/2014/main" id="{20DCC9B1-7EBC-4497-8CBF-B0F899A65619}"/>
              </a:ext>
            </a:extLst>
          </p:cNvPr>
          <p:cNvSpPr>
            <a:spLocks xmlns:a="http://schemas.openxmlformats.org/drawingml/2006/main" noGrp="1"/>
          </p:cNvSpPr>
          <p:nvPr/>
        </p:nvSpPr>
        <p:spPr>
          <a:xfrm xmlns:a="http://schemas.openxmlformats.org/drawingml/2006/main">
            <a:off x="66675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xmlns:a="http://schemas.openxmlformats.org/drawingml/2006/main">
              <a:ext uri="{FF2B5EF4-FFF2-40B4-BE49-F238E27FC236}">
                <a16:creationId xmlns:a16="http://schemas.microsoft.com/office/drawing/2014/main" id="{D72F7034-26EF-49CE-9220-E5C163CF9FA2}"/>
              </a:ext>
            </a:extLst>
          </p:cNvPr>
          <p:cNvSpPr>
            <a:spLocks xmlns:a="http://schemas.openxmlformats.org/drawingml/2006/main" noGrp="1"/>
          </p:cNvSpPr>
          <p:nvPr/>
        </p:nvSpPr>
        <p:spPr>
          <a:xfrm xmlns:a="http://schemas.openxmlformats.org/drawingml/2006/main">
            <a:off x="125730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Waits und Blocking</a:t>
            </a:r>
          </a:p>
        </p:txBody>
      </p:sp>
      <p:sp>
        <p:nvSpPr>
          <p:cNvPr id="6" name="prompt-num-1">
            <a:extLst xmlns:a="http://schemas.openxmlformats.org/drawingml/2006/main">
              <a:ext uri="{FF2B5EF4-FFF2-40B4-BE49-F238E27FC236}">
                <a16:creationId xmlns:a16="http://schemas.microsoft.com/office/drawing/2014/main" id="{DC411EDB-D0C4-45EC-8D8D-3DA26EBC0273}"/>
              </a:ext>
            </a:extLst>
          </p:cNvPr>
          <p:cNvSpPr>
            <a:spLocks xmlns:a="http://schemas.openxmlformats.org/drawingml/2006/main" noGrp="1"/>
          </p:cNvSpPr>
          <p:nvPr/>
        </p:nvSpPr>
        <p:spPr>
          <a:xfrm xmlns:a="http://schemas.openxmlformats.org/drawingml/2006/main">
            <a:off x="609600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xmlns:a="http://schemas.openxmlformats.org/drawingml/2006/main">
              <a:ext uri="{FF2B5EF4-FFF2-40B4-BE49-F238E27FC236}">
                <a16:creationId xmlns:a16="http://schemas.microsoft.com/office/drawing/2014/main" id="{030B669B-FE4B-4824-86B0-F4E438826BF1}"/>
              </a:ext>
            </a:extLst>
          </p:cNvPr>
          <p:cNvSpPr>
            <a:spLocks xmlns:a="http://schemas.openxmlformats.org/drawingml/2006/main" noGrp="1"/>
          </p:cNvSpPr>
          <p:nvPr/>
        </p:nvSpPr>
        <p:spPr>
          <a:xfrm xmlns:a="http://schemas.openxmlformats.org/drawingml/2006/main">
            <a:off x="668655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Physical I/O und File-Latenz</a:t>
            </a:r>
          </a:p>
        </p:txBody>
      </p:sp>
      <p:sp>
        <p:nvSpPr>
          <p:cNvPr id="8" name="prompt-num-2">
            <a:extLst xmlns:a="http://schemas.openxmlformats.org/drawingml/2006/main">
              <a:ext uri="{FF2B5EF4-FFF2-40B4-BE49-F238E27FC236}">
                <a16:creationId xmlns:a16="http://schemas.microsoft.com/office/drawing/2014/main" id="{744C9B2D-92DC-45CF-8D67-6EE35A0FC489}"/>
              </a:ext>
            </a:extLst>
          </p:cNvPr>
          <p:cNvSpPr>
            <a:spLocks xmlns:a="http://schemas.openxmlformats.org/drawingml/2006/main" noGrp="1"/>
          </p:cNvSpPr>
          <p:nvPr/>
        </p:nvSpPr>
        <p:spPr>
          <a:xfrm xmlns:a="http://schemas.openxmlformats.org/drawingml/2006/main">
            <a:off x="66675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xmlns:a="http://schemas.openxmlformats.org/drawingml/2006/main">
              <a:ext uri="{FF2B5EF4-FFF2-40B4-BE49-F238E27FC236}">
                <a16:creationId xmlns:a16="http://schemas.microsoft.com/office/drawing/2014/main" id="{C3BB6B97-FC98-4191-881B-42A68A40F664}"/>
              </a:ext>
            </a:extLst>
          </p:cNvPr>
          <p:cNvSpPr>
            <a:spLocks xmlns:a="http://schemas.openxmlformats.org/drawingml/2006/main" noGrp="1"/>
          </p:cNvSpPr>
          <p:nvPr/>
        </p:nvSpPr>
        <p:spPr>
          <a:xfrm xmlns:a="http://schemas.openxmlformats.org/drawingml/2006/main">
            <a:off x="125730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Grant-Warten und Spills</a:t>
            </a:r>
          </a:p>
        </p:txBody>
      </p:sp>
      <p:sp>
        <p:nvSpPr>
          <p:cNvPr id="10" name="prompt-num-3">
            <a:extLst xmlns:a="http://schemas.openxmlformats.org/drawingml/2006/main">
              <a:ext uri="{FF2B5EF4-FFF2-40B4-BE49-F238E27FC236}">
                <a16:creationId xmlns:a16="http://schemas.microsoft.com/office/drawing/2014/main" id="{9A068093-9544-44CF-8AD3-3E60CC77B690}"/>
              </a:ext>
            </a:extLst>
          </p:cNvPr>
          <p:cNvSpPr>
            <a:spLocks xmlns:a="http://schemas.openxmlformats.org/drawingml/2006/main" noGrp="1"/>
          </p:cNvSpPr>
          <p:nvPr/>
        </p:nvSpPr>
        <p:spPr>
          <a:xfrm xmlns:a="http://schemas.openxmlformats.org/drawingml/2006/main">
            <a:off x="609600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xmlns:a="http://schemas.openxmlformats.org/drawingml/2006/main">
              <a:ext uri="{FF2B5EF4-FFF2-40B4-BE49-F238E27FC236}">
                <a16:creationId xmlns:a16="http://schemas.microsoft.com/office/drawing/2014/main" id="{0DC6C869-08E7-4BCB-8D90-7021B0735447}"/>
              </a:ext>
            </a:extLst>
          </p:cNvPr>
          <p:cNvSpPr>
            <a:spLocks xmlns:a="http://schemas.openxmlformats.org/drawingml/2006/main" noGrp="1"/>
          </p:cNvSpPr>
          <p:nvPr/>
        </p:nvSpPr>
        <p:spPr>
          <a:xfrm xmlns:a="http://schemas.openxmlformats.org/drawingml/2006/main">
            <a:off x="668655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Clientkonsum und Netzwerk</a:t>
            </a:r>
          </a:p>
        </p:txBody>
      </p:sp>
      <p:sp>
        <p:nvSpPr>
          <p:cNvPr id="12" name="question-footer">
            <a:extLst xmlns:a="http://schemas.openxmlformats.org/drawingml/2006/main">
              <a:ext uri="{FF2B5EF4-FFF2-40B4-BE49-F238E27FC236}">
                <a16:creationId xmlns:a16="http://schemas.microsoft.com/office/drawing/2014/main" id="{9630E0FA-4EE7-43BB-B00D-B8BDABBBADDB}"/>
              </a:ext>
            </a:extLst>
          </p:cNvPr>
          <p:cNvSpPr>
            <a:spLocks xmlns:a="http://schemas.openxmlformats.org/drawingml/2006/main" noGrp="1"/>
          </p:cNvSpPr>
          <p:nvPr/>
        </p:nvSpPr>
        <p:spPr>
          <a:xfrm xmlns:a="http://schemas.openxmlformats.org/drawingml/2006/main">
            <a:off x="10287000" y="64389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80 / 84</a:t>
            </a:r>
          </a:p>
        </p:txBody>
      </p:sp>
    </p:spTree>
    <p:extLst>
      <p:ext uri="{BB962C8B-B14F-4D97-AF65-F5344CB8AC3E}">
        <p14:creationId xmlns:p14="http://schemas.microsoft.com/office/powerpoint/2010/main" val="993403754"/>
      </p:ext>
    </p:extLst>
  </p:cSld>
</p:sld>
</file>

<file path=ppt/slides/slide8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8B95CA54-8CE3-4DF0-AACA-0BE4E4CBF87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ABSCHLUSS</a:t>
            </a:r>
          </a:p>
        </p:txBody>
      </p:sp>
      <p:sp>
        <p:nvSpPr>
          <p:cNvPr id="2" name="slide-title">
            <a:extLst xmlns:a="http://schemas.openxmlformats.org/drawingml/2006/main">
              <a:ext uri="{FF2B5EF4-FFF2-40B4-BE49-F238E27FC236}">
                <a16:creationId xmlns:a16="http://schemas.microsoft.com/office/drawing/2014/main" id="{9F487623-B2CB-402E-8504-708D7D55A9D4}"/>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Zehn Prinzipien für belastbare SQL-Server-Performancearbeit</a:t>
            </a:r>
          </a:p>
        </p:txBody>
      </p:sp>
      <p:sp>
        <p:nvSpPr>
          <p:cNvPr id="3" name="title-rule">
            <a:extLst xmlns:a="http://schemas.openxmlformats.org/drawingml/2006/main">
              <a:ext uri="{FF2B5EF4-FFF2-40B4-BE49-F238E27FC236}">
                <a16:creationId xmlns:a16="http://schemas.microsoft.com/office/drawing/2014/main" id="{DEEFC8CE-4D78-4895-A675-10EC7EE24806}"/>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BB902EAF-B555-47E1-B43F-C238BCF87685}"/>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E5438DD8-9E15-403B-956B-DF550FD23738}"/>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81 / 84</a:t>
            </a:r>
          </a:p>
        </p:txBody>
      </p:sp>
      <p:sp>
        <p:nvSpPr>
          <p:cNvPr id="6" name="principle-num-0">
            <a:extLst xmlns:a="http://schemas.openxmlformats.org/drawingml/2006/main">
              <a:ext uri="{FF2B5EF4-FFF2-40B4-BE49-F238E27FC236}">
                <a16:creationId xmlns:a16="http://schemas.microsoft.com/office/drawing/2014/main" id="{A4148194-A14E-4D1A-9664-39407672F92D}"/>
              </a:ext>
            </a:extLst>
          </p:cNvPr>
          <p:cNvSpPr>
            <a:spLocks xmlns:a="http://schemas.openxmlformats.org/drawingml/2006/main" noGrp="1"/>
          </p:cNvSpPr>
          <p:nvPr/>
        </p:nvSpPr>
        <p:spPr>
          <a:xfrm xmlns:a="http://schemas.openxmlformats.org/drawingml/2006/main">
            <a:off x="609600" y="213360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01</a:t>
            </a:r>
          </a:p>
        </p:txBody>
      </p:sp>
      <p:sp>
        <p:nvSpPr>
          <p:cNvPr id="7" name="principle-0">
            <a:extLst xmlns:a="http://schemas.openxmlformats.org/drawingml/2006/main">
              <a:ext uri="{FF2B5EF4-FFF2-40B4-BE49-F238E27FC236}">
                <a16:creationId xmlns:a16="http://schemas.microsoft.com/office/drawing/2014/main" id="{B38A62BD-E0A0-491C-BBA2-C0734EC17EDB}"/>
              </a:ext>
            </a:extLst>
          </p:cNvPr>
          <p:cNvSpPr>
            <a:spLocks xmlns:a="http://schemas.openxmlformats.org/drawingml/2006/main" noGrp="1"/>
          </p:cNvSpPr>
          <p:nvPr/>
        </p:nvSpPr>
        <p:spPr>
          <a:xfrm xmlns:a="http://schemas.openxmlformats.org/drawingml/2006/main">
            <a:off x="1257300" y="213360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Messfenster definieren</a:t>
            </a:r>
          </a:p>
        </p:txBody>
      </p:sp>
      <p:sp>
        <p:nvSpPr>
          <p:cNvPr id="8" name="principle-rule-0">
            <a:extLst xmlns:a="http://schemas.openxmlformats.org/drawingml/2006/main">
              <a:ext uri="{FF2B5EF4-FFF2-40B4-BE49-F238E27FC236}">
                <a16:creationId xmlns:a16="http://schemas.microsoft.com/office/drawing/2014/main" id="{3B72AB7E-4397-4555-9D8B-6773B0F5C4C8}"/>
              </a:ext>
            </a:extLst>
          </p:cNvPr>
          <p:cNvSpPr>
            <a:spLocks xmlns:a="http://schemas.openxmlformats.org/drawingml/2006/main" noGrp="1"/>
          </p:cNvSpPr>
          <p:nvPr/>
        </p:nvSpPr>
        <p:spPr>
          <a:xfrm xmlns:a="http://schemas.openxmlformats.org/drawingml/2006/main">
            <a:off x="1257300" y="2657475"/>
            <a:ext cx="419100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principle-num-1">
            <a:extLst xmlns:a="http://schemas.openxmlformats.org/drawingml/2006/main">
              <a:ext uri="{FF2B5EF4-FFF2-40B4-BE49-F238E27FC236}">
                <a16:creationId xmlns:a16="http://schemas.microsoft.com/office/drawing/2014/main" id="{8873D973-7DA4-4D60-B48A-9C1633219CAB}"/>
              </a:ext>
            </a:extLst>
          </p:cNvPr>
          <p:cNvSpPr>
            <a:spLocks xmlns:a="http://schemas.openxmlformats.org/drawingml/2006/main" noGrp="1"/>
          </p:cNvSpPr>
          <p:nvPr/>
        </p:nvSpPr>
        <p:spPr>
          <a:xfrm xmlns:a="http://schemas.openxmlformats.org/drawingml/2006/main">
            <a:off x="5943600" y="213360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02</a:t>
            </a:r>
          </a:p>
        </p:txBody>
      </p:sp>
      <p:sp>
        <p:nvSpPr>
          <p:cNvPr id="10" name="principle-1">
            <a:extLst xmlns:a="http://schemas.openxmlformats.org/drawingml/2006/main">
              <a:ext uri="{FF2B5EF4-FFF2-40B4-BE49-F238E27FC236}">
                <a16:creationId xmlns:a16="http://schemas.microsoft.com/office/drawing/2014/main" id="{08027BF6-04DC-44D0-BDEF-995BE6771F69}"/>
              </a:ext>
            </a:extLst>
          </p:cNvPr>
          <p:cNvSpPr>
            <a:spLocks xmlns:a="http://schemas.openxmlformats.org/drawingml/2006/main" noGrp="1"/>
          </p:cNvSpPr>
          <p:nvPr/>
        </p:nvSpPr>
        <p:spPr>
          <a:xfrm xmlns:a="http://schemas.openxmlformats.org/drawingml/2006/main">
            <a:off x="6591300" y="213360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Scope jeder Metrik kennen</a:t>
            </a:r>
          </a:p>
        </p:txBody>
      </p:sp>
      <p:sp>
        <p:nvSpPr>
          <p:cNvPr id="11" name="principle-rule-1">
            <a:extLst xmlns:a="http://schemas.openxmlformats.org/drawingml/2006/main">
              <a:ext uri="{FF2B5EF4-FFF2-40B4-BE49-F238E27FC236}">
                <a16:creationId xmlns:a16="http://schemas.microsoft.com/office/drawing/2014/main" id="{FF4CBD05-E2DB-4D5D-B5E2-FBCEED435F92}"/>
              </a:ext>
            </a:extLst>
          </p:cNvPr>
          <p:cNvSpPr>
            <a:spLocks xmlns:a="http://schemas.openxmlformats.org/drawingml/2006/main" noGrp="1"/>
          </p:cNvSpPr>
          <p:nvPr/>
        </p:nvSpPr>
        <p:spPr>
          <a:xfrm xmlns:a="http://schemas.openxmlformats.org/drawingml/2006/main">
            <a:off x="6591300" y="2657475"/>
            <a:ext cx="419100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12" name="principle-num-2">
            <a:extLst xmlns:a="http://schemas.openxmlformats.org/drawingml/2006/main">
              <a:ext uri="{FF2B5EF4-FFF2-40B4-BE49-F238E27FC236}">
                <a16:creationId xmlns:a16="http://schemas.microsoft.com/office/drawing/2014/main" id="{4164D3EE-6519-4AED-920B-9F45F2729099}"/>
              </a:ext>
            </a:extLst>
          </p:cNvPr>
          <p:cNvSpPr>
            <a:spLocks xmlns:a="http://schemas.openxmlformats.org/drawingml/2006/main" noGrp="1"/>
          </p:cNvSpPr>
          <p:nvPr/>
        </p:nvSpPr>
        <p:spPr>
          <a:xfrm xmlns:a="http://schemas.openxmlformats.org/drawingml/2006/main">
            <a:off x="609600" y="291465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03</a:t>
            </a:r>
          </a:p>
        </p:txBody>
      </p:sp>
      <p:sp>
        <p:nvSpPr>
          <p:cNvPr id="13" name="principle-2">
            <a:extLst xmlns:a="http://schemas.openxmlformats.org/drawingml/2006/main">
              <a:ext uri="{FF2B5EF4-FFF2-40B4-BE49-F238E27FC236}">
                <a16:creationId xmlns:a16="http://schemas.microsoft.com/office/drawing/2014/main" id="{2DE57339-2292-4E30-95B9-86630A22C941}"/>
              </a:ext>
            </a:extLst>
          </p:cNvPr>
          <p:cNvSpPr>
            <a:spLocks xmlns:a="http://schemas.openxmlformats.org/drawingml/2006/main" noGrp="1"/>
          </p:cNvSpPr>
          <p:nvPr/>
        </p:nvSpPr>
        <p:spPr>
          <a:xfrm xmlns:a="http://schemas.openxmlformats.org/drawingml/2006/main">
            <a:off x="1257300" y="29146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Plan und Runtime verbinden</a:t>
            </a:r>
          </a:p>
        </p:txBody>
      </p:sp>
      <p:sp>
        <p:nvSpPr>
          <p:cNvPr id="14" name="principle-rule-2">
            <a:extLst xmlns:a="http://schemas.openxmlformats.org/drawingml/2006/main">
              <a:ext uri="{FF2B5EF4-FFF2-40B4-BE49-F238E27FC236}">
                <a16:creationId xmlns:a16="http://schemas.microsoft.com/office/drawing/2014/main" id="{87817522-76F5-4FF8-99A0-9E408BB69845}"/>
              </a:ext>
            </a:extLst>
          </p:cNvPr>
          <p:cNvSpPr>
            <a:spLocks xmlns:a="http://schemas.openxmlformats.org/drawingml/2006/main" noGrp="1"/>
          </p:cNvSpPr>
          <p:nvPr/>
        </p:nvSpPr>
        <p:spPr>
          <a:xfrm xmlns:a="http://schemas.openxmlformats.org/drawingml/2006/main">
            <a:off x="1257300" y="3438525"/>
            <a:ext cx="419100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15" name="principle-num-3">
            <a:extLst xmlns:a="http://schemas.openxmlformats.org/drawingml/2006/main">
              <a:ext uri="{FF2B5EF4-FFF2-40B4-BE49-F238E27FC236}">
                <a16:creationId xmlns:a16="http://schemas.microsoft.com/office/drawing/2014/main" id="{91FE41EE-6882-444F-A0D0-8A811BECFF3C}"/>
              </a:ext>
            </a:extLst>
          </p:cNvPr>
          <p:cNvSpPr>
            <a:spLocks xmlns:a="http://schemas.openxmlformats.org/drawingml/2006/main" noGrp="1"/>
          </p:cNvSpPr>
          <p:nvPr/>
        </p:nvSpPr>
        <p:spPr>
          <a:xfrm xmlns:a="http://schemas.openxmlformats.org/drawingml/2006/main">
            <a:off x="5943600" y="291465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04</a:t>
            </a:r>
          </a:p>
        </p:txBody>
      </p:sp>
      <p:sp>
        <p:nvSpPr>
          <p:cNvPr id="16" name="principle-3">
            <a:extLst xmlns:a="http://schemas.openxmlformats.org/drawingml/2006/main">
              <a:ext uri="{FF2B5EF4-FFF2-40B4-BE49-F238E27FC236}">
                <a16:creationId xmlns:a16="http://schemas.microsoft.com/office/drawing/2014/main" id="{CF9EEE9E-03CB-4FBE-B513-694835864899}"/>
              </a:ext>
            </a:extLst>
          </p:cNvPr>
          <p:cNvSpPr>
            <a:spLocks xmlns:a="http://schemas.openxmlformats.org/drawingml/2006/main" noGrp="1"/>
          </p:cNvSpPr>
          <p:nvPr/>
        </p:nvSpPr>
        <p:spPr>
          <a:xfrm xmlns:a="http://schemas.openxmlformats.org/drawingml/2006/main">
            <a:off x="6591300" y="29146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Kardinalität vor Kosten lesen</a:t>
            </a:r>
          </a:p>
        </p:txBody>
      </p:sp>
      <p:sp>
        <p:nvSpPr>
          <p:cNvPr id="17" name="principle-rule-3">
            <a:extLst xmlns:a="http://schemas.openxmlformats.org/drawingml/2006/main">
              <a:ext uri="{FF2B5EF4-FFF2-40B4-BE49-F238E27FC236}">
                <a16:creationId xmlns:a16="http://schemas.microsoft.com/office/drawing/2014/main" id="{2AFFA1D2-3759-43EB-98F3-FC37E6DB364C}"/>
              </a:ext>
            </a:extLst>
          </p:cNvPr>
          <p:cNvSpPr>
            <a:spLocks xmlns:a="http://schemas.openxmlformats.org/drawingml/2006/main" noGrp="1"/>
          </p:cNvSpPr>
          <p:nvPr/>
        </p:nvSpPr>
        <p:spPr>
          <a:xfrm xmlns:a="http://schemas.openxmlformats.org/drawingml/2006/main">
            <a:off x="6591300" y="3438525"/>
            <a:ext cx="419100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18" name="principle-num-4">
            <a:extLst xmlns:a="http://schemas.openxmlformats.org/drawingml/2006/main">
              <a:ext uri="{FF2B5EF4-FFF2-40B4-BE49-F238E27FC236}">
                <a16:creationId xmlns:a16="http://schemas.microsoft.com/office/drawing/2014/main" id="{BF412182-7B73-4526-957E-0763C6ABDDE6}"/>
              </a:ext>
            </a:extLst>
          </p:cNvPr>
          <p:cNvSpPr>
            <a:spLocks xmlns:a="http://schemas.openxmlformats.org/drawingml/2006/main" noGrp="1"/>
          </p:cNvSpPr>
          <p:nvPr/>
        </p:nvSpPr>
        <p:spPr>
          <a:xfrm xmlns:a="http://schemas.openxmlformats.org/drawingml/2006/main">
            <a:off x="609600" y="369570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05</a:t>
            </a:r>
          </a:p>
        </p:txBody>
      </p:sp>
      <p:sp>
        <p:nvSpPr>
          <p:cNvPr id="19" name="principle-4">
            <a:extLst xmlns:a="http://schemas.openxmlformats.org/drawingml/2006/main">
              <a:ext uri="{FF2B5EF4-FFF2-40B4-BE49-F238E27FC236}">
                <a16:creationId xmlns:a16="http://schemas.microsoft.com/office/drawing/2014/main" id="{EBEC4CCA-F47E-44F9-A67B-57F42F4F82DC}"/>
              </a:ext>
            </a:extLst>
          </p:cNvPr>
          <p:cNvSpPr>
            <a:spLocks xmlns:a="http://schemas.openxmlformats.org/drawingml/2006/main" noGrp="1"/>
          </p:cNvSpPr>
          <p:nvPr/>
        </p:nvSpPr>
        <p:spPr>
          <a:xfrm xmlns:a="http://schemas.openxmlformats.org/drawingml/2006/main">
            <a:off x="1257300" y="369570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Logical Reads ernst nehmen</a:t>
            </a:r>
          </a:p>
        </p:txBody>
      </p:sp>
      <p:sp>
        <p:nvSpPr>
          <p:cNvPr id="20" name="principle-rule-4">
            <a:extLst xmlns:a="http://schemas.openxmlformats.org/drawingml/2006/main">
              <a:ext uri="{FF2B5EF4-FFF2-40B4-BE49-F238E27FC236}">
                <a16:creationId xmlns:a16="http://schemas.microsoft.com/office/drawing/2014/main" id="{16C6BC7B-460F-4E50-B723-5A44F44BF01D}"/>
              </a:ext>
            </a:extLst>
          </p:cNvPr>
          <p:cNvSpPr>
            <a:spLocks xmlns:a="http://schemas.openxmlformats.org/drawingml/2006/main" noGrp="1"/>
          </p:cNvSpPr>
          <p:nvPr/>
        </p:nvSpPr>
        <p:spPr>
          <a:xfrm xmlns:a="http://schemas.openxmlformats.org/drawingml/2006/main">
            <a:off x="1257300" y="4219575"/>
            <a:ext cx="419100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21" name="principle-num-5">
            <a:extLst xmlns:a="http://schemas.openxmlformats.org/drawingml/2006/main">
              <a:ext uri="{FF2B5EF4-FFF2-40B4-BE49-F238E27FC236}">
                <a16:creationId xmlns:a16="http://schemas.microsoft.com/office/drawing/2014/main" id="{B342CCF9-FB6F-468C-BCF5-C7719A4A20E4}"/>
              </a:ext>
            </a:extLst>
          </p:cNvPr>
          <p:cNvSpPr>
            <a:spLocks xmlns:a="http://schemas.openxmlformats.org/drawingml/2006/main" noGrp="1"/>
          </p:cNvSpPr>
          <p:nvPr/>
        </p:nvSpPr>
        <p:spPr>
          <a:xfrm xmlns:a="http://schemas.openxmlformats.org/drawingml/2006/main">
            <a:off x="5943600" y="369570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06</a:t>
            </a:r>
          </a:p>
        </p:txBody>
      </p:sp>
      <p:sp>
        <p:nvSpPr>
          <p:cNvPr id="22" name="principle-5">
            <a:extLst xmlns:a="http://schemas.openxmlformats.org/drawingml/2006/main">
              <a:ext uri="{FF2B5EF4-FFF2-40B4-BE49-F238E27FC236}">
                <a16:creationId xmlns:a16="http://schemas.microsoft.com/office/drawing/2014/main" id="{D85506A9-B797-4E88-8B2F-B73EEC04CA81}"/>
              </a:ext>
            </a:extLst>
          </p:cNvPr>
          <p:cNvSpPr>
            <a:spLocks xmlns:a="http://schemas.openxmlformats.org/drawingml/2006/main" noGrp="1"/>
          </p:cNvSpPr>
          <p:nvPr/>
        </p:nvSpPr>
        <p:spPr>
          <a:xfrm xmlns:a="http://schemas.openxmlformats.org/drawingml/2006/main">
            <a:off x="6591300" y="369570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Concurrency mitbewerten</a:t>
            </a:r>
          </a:p>
        </p:txBody>
      </p:sp>
      <p:sp>
        <p:nvSpPr>
          <p:cNvPr id="23" name="principle-rule-5">
            <a:extLst xmlns:a="http://schemas.openxmlformats.org/drawingml/2006/main">
              <a:ext uri="{FF2B5EF4-FFF2-40B4-BE49-F238E27FC236}">
                <a16:creationId xmlns:a16="http://schemas.microsoft.com/office/drawing/2014/main" id="{4F6027E2-3BAE-4B41-A680-74BD6CA6495B}"/>
              </a:ext>
            </a:extLst>
          </p:cNvPr>
          <p:cNvSpPr>
            <a:spLocks xmlns:a="http://schemas.openxmlformats.org/drawingml/2006/main" noGrp="1"/>
          </p:cNvSpPr>
          <p:nvPr/>
        </p:nvSpPr>
        <p:spPr>
          <a:xfrm xmlns:a="http://schemas.openxmlformats.org/drawingml/2006/main">
            <a:off x="6591300" y="4219575"/>
            <a:ext cx="419100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24" name="principle-num-6">
            <a:extLst xmlns:a="http://schemas.openxmlformats.org/drawingml/2006/main">
              <a:ext uri="{FF2B5EF4-FFF2-40B4-BE49-F238E27FC236}">
                <a16:creationId xmlns:a16="http://schemas.microsoft.com/office/drawing/2014/main" id="{C32AD52A-C49C-493D-89B4-031278AD6593}"/>
              </a:ext>
            </a:extLst>
          </p:cNvPr>
          <p:cNvSpPr>
            <a:spLocks xmlns:a="http://schemas.openxmlformats.org/drawingml/2006/main" noGrp="1"/>
          </p:cNvSpPr>
          <p:nvPr/>
        </p:nvSpPr>
        <p:spPr>
          <a:xfrm xmlns:a="http://schemas.openxmlformats.org/drawingml/2006/main">
            <a:off x="609600" y="447675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07</a:t>
            </a:r>
          </a:p>
        </p:txBody>
      </p:sp>
      <p:sp>
        <p:nvSpPr>
          <p:cNvPr id="25" name="principle-6">
            <a:extLst xmlns:a="http://schemas.openxmlformats.org/drawingml/2006/main">
              <a:ext uri="{FF2B5EF4-FFF2-40B4-BE49-F238E27FC236}">
                <a16:creationId xmlns:a16="http://schemas.microsoft.com/office/drawing/2014/main" id="{4C38D64F-4BA7-401C-A3B9-829460C98D0E}"/>
              </a:ext>
            </a:extLst>
          </p:cNvPr>
          <p:cNvSpPr>
            <a:spLocks xmlns:a="http://schemas.openxmlformats.org/drawingml/2006/main" noGrp="1"/>
          </p:cNvSpPr>
          <p:nvPr/>
        </p:nvSpPr>
        <p:spPr>
          <a:xfrm xmlns:a="http://schemas.openxmlformats.org/drawingml/2006/main">
            <a:off x="1257300" y="44767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Version und CL trennen</a:t>
            </a:r>
          </a:p>
        </p:txBody>
      </p:sp>
      <p:sp>
        <p:nvSpPr>
          <p:cNvPr id="26" name="principle-rule-6">
            <a:extLst xmlns:a="http://schemas.openxmlformats.org/drawingml/2006/main">
              <a:ext uri="{FF2B5EF4-FFF2-40B4-BE49-F238E27FC236}">
                <a16:creationId xmlns:a16="http://schemas.microsoft.com/office/drawing/2014/main" id="{C183FB05-D1BB-460C-9B61-DAA3EF76413B}"/>
              </a:ext>
            </a:extLst>
          </p:cNvPr>
          <p:cNvSpPr>
            <a:spLocks xmlns:a="http://schemas.openxmlformats.org/drawingml/2006/main" noGrp="1"/>
          </p:cNvSpPr>
          <p:nvPr/>
        </p:nvSpPr>
        <p:spPr>
          <a:xfrm xmlns:a="http://schemas.openxmlformats.org/drawingml/2006/main">
            <a:off x="1257300" y="5000625"/>
            <a:ext cx="419100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27" name="principle-num-7">
            <a:extLst xmlns:a="http://schemas.openxmlformats.org/drawingml/2006/main">
              <a:ext uri="{FF2B5EF4-FFF2-40B4-BE49-F238E27FC236}">
                <a16:creationId xmlns:a16="http://schemas.microsoft.com/office/drawing/2014/main" id="{9A97F8AA-2715-45F5-89B7-C9A158C36C5E}"/>
              </a:ext>
            </a:extLst>
          </p:cNvPr>
          <p:cNvSpPr>
            <a:spLocks xmlns:a="http://schemas.openxmlformats.org/drawingml/2006/main" noGrp="1"/>
          </p:cNvSpPr>
          <p:nvPr/>
        </p:nvSpPr>
        <p:spPr>
          <a:xfrm xmlns:a="http://schemas.openxmlformats.org/drawingml/2006/main">
            <a:off x="5943600" y="447675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08</a:t>
            </a:r>
          </a:p>
        </p:txBody>
      </p:sp>
      <p:sp>
        <p:nvSpPr>
          <p:cNvPr id="28" name="principle-7">
            <a:extLst xmlns:a="http://schemas.openxmlformats.org/drawingml/2006/main">
              <a:ext uri="{FF2B5EF4-FFF2-40B4-BE49-F238E27FC236}">
                <a16:creationId xmlns:a16="http://schemas.microsoft.com/office/drawing/2014/main" id="{6B46BA55-2F30-424D-932F-E740F3666973}"/>
              </a:ext>
            </a:extLst>
          </p:cNvPr>
          <p:cNvSpPr>
            <a:spLocks xmlns:a="http://schemas.openxmlformats.org/drawingml/2006/main" noGrp="1"/>
          </p:cNvSpPr>
          <p:nvPr/>
        </p:nvSpPr>
        <p:spPr>
          <a:xfrm xmlns:a="http://schemas.openxmlformats.org/drawingml/2006/main">
            <a:off x="6591300" y="44767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Eine Änderung je Hypothese</a:t>
            </a:r>
          </a:p>
        </p:txBody>
      </p:sp>
      <p:sp>
        <p:nvSpPr>
          <p:cNvPr id="29" name="principle-rule-7">
            <a:extLst xmlns:a="http://schemas.openxmlformats.org/drawingml/2006/main">
              <a:ext uri="{FF2B5EF4-FFF2-40B4-BE49-F238E27FC236}">
                <a16:creationId xmlns:a16="http://schemas.microsoft.com/office/drawing/2014/main" id="{3FC53224-10E7-4CE9-8413-C7DA85D221CF}"/>
              </a:ext>
            </a:extLst>
          </p:cNvPr>
          <p:cNvSpPr>
            <a:spLocks xmlns:a="http://schemas.openxmlformats.org/drawingml/2006/main" noGrp="1"/>
          </p:cNvSpPr>
          <p:nvPr/>
        </p:nvSpPr>
        <p:spPr>
          <a:xfrm xmlns:a="http://schemas.openxmlformats.org/drawingml/2006/main">
            <a:off x="6591300" y="5000625"/>
            <a:ext cx="419100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30" name="principle-num-8">
            <a:extLst xmlns:a="http://schemas.openxmlformats.org/drawingml/2006/main">
              <a:ext uri="{FF2B5EF4-FFF2-40B4-BE49-F238E27FC236}">
                <a16:creationId xmlns:a16="http://schemas.microsoft.com/office/drawing/2014/main" id="{3B1168C1-C41C-46E9-A3B8-A97DD68857CD}"/>
              </a:ext>
            </a:extLst>
          </p:cNvPr>
          <p:cNvSpPr>
            <a:spLocks xmlns:a="http://schemas.openxmlformats.org/drawingml/2006/main" noGrp="1"/>
          </p:cNvSpPr>
          <p:nvPr/>
        </p:nvSpPr>
        <p:spPr>
          <a:xfrm xmlns:a="http://schemas.openxmlformats.org/drawingml/2006/main">
            <a:off x="609600" y="525780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09</a:t>
            </a:r>
          </a:p>
        </p:txBody>
      </p:sp>
      <p:sp>
        <p:nvSpPr>
          <p:cNvPr id="31" name="principle-8">
            <a:extLst xmlns:a="http://schemas.openxmlformats.org/drawingml/2006/main">
              <a:ext uri="{FF2B5EF4-FFF2-40B4-BE49-F238E27FC236}">
                <a16:creationId xmlns:a16="http://schemas.microsoft.com/office/drawing/2014/main" id="{778AAC59-880F-44A4-B13A-0227B2B62DA7}"/>
              </a:ext>
            </a:extLst>
          </p:cNvPr>
          <p:cNvSpPr>
            <a:spLocks xmlns:a="http://schemas.openxmlformats.org/drawingml/2006/main" noGrp="1"/>
          </p:cNvSpPr>
          <p:nvPr/>
        </p:nvSpPr>
        <p:spPr>
          <a:xfrm xmlns:a="http://schemas.openxmlformats.org/drawingml/2006/main">
            <a:off x="1257300" y="525780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Trade-offs dokumentieren</a:t>
            </a:r>
          </a:p>
        </p:txBody>
      </p:sp>
      <p:sp>
        <p:nvSpPr>
          <p:cNvPr id="32" name="principle-rule-8">
            <a:extLst xmlns:a="http://schemas.openxmlformats.org/drawingml/2006/main">
              <a:ext uri="{FF2B5EF4-FFF2-40B4-BE49-F238E27FC236}">
                <a16:creationId xmlns:a16="http://schemas.microsoft.com/office/drawing/2014/main" id="{36659D20-7FE8-421C-B0D5-EF87B7874210}"/>
              </a:ext>
            </a:extLst>
          </p:cNvPr>
          <p:cNvSpPr>
            <a:spLocks xmlns:a="http://schemas.openxmlformats.org/drawingml/2006/main" noGrp="1"/>
          </p:cNvSpPr>
          <p:nvPr/>
        </p:nvSpPr>
        <p:spPr>
          <a:xfrm xmlns:a="http://schemas.openxmlformats.org/drawingml/2006/main">
            <a:off x="1257300" y="5781675"/>
            <a:ext cx="419100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33" name="principle-num-9">
            <a:extLst xmlns:a="http://schemas.openxmlformats.org/drawingml/2006/main">
              <a:ext uri="{FF2B5EF4-FFF2-40B4-BE49-F238E27FC236}">
                <a16:creationId xmlns:a16="http://schemas.microsoft.com/office/drawing/2014/main" id="{F4A799F9-236C-413D-8187-FB259EEED4A8}"/>
              </a:ext>
            </a:extLst>
          </p:cNvPr>
          <p:cNvSpPr>
            <a:spLocks xmlns:a="http://schemas.openxmlformats.org/drawingml/2006/main" noGrp="1"/>
          </p:cNvSpPr>
          <p:nvPr/>
        </p:nvSpPr>
        <p:spPr>
          <a:xfrm xmlns:a="http://schemas.openxmlformats.org/drawingml/2006/main">
            <a:off x="5943600" y="525780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007C83"/>
                </a:solidFill>
                <a:latin typeface="Aptos"/>
                <a:ea typeface="Aptos"/>
                <a:cs typeface="Aptos"/>
              </a:defRPr>
            </a:pPr>
            <a:r>
              <a:rPr sz="1575" b="1" i="0">
                <a:solidFill>
                  <a:srgbClr val="007C83"/>
                </a:solidFill>
                <a:latin typeface="Aptos"/>
                <a:ea typeface="Aptos"/>
                <a:cs typeface="Aptos"/>
              </a:rPr>
              <a:t>10</a:t>
            </a:r>
          </a:p>
        </p:txBody>
      </p:sp>
      <p:sp>
        <p:nvSpPr>
          <p:cNvPr id="34" name="principle-9">
            <a:extLst xmlns:a="http://schemas.openxmlformats.org/drawingml/2006/main">
              <a:ext uri="{FF2B5EF4-FFF2-40B4-BE49-F238E27FC236}">
                <a16:creationId xmlns:a16="http://schemas.microsoft.com/office/drawing/2014/main" id="{730096E9-5A03-47F6-8E2E-F7F43EE9DA48}"/>
              </a:ext>
            </a:extLst>
          </p:cNvPr>
          <p:cNvSpPr>
            <a:spLocks xmlns:a="http://schemas.openxmlformats.org/drawingml/2006/main" noGrp="1"/>
          </p:cNvSpPr>
          <p:nvPr/>
        </p:nvSpPr>
        <p:spPr>
          <a:xfrm xmlns:a="http://schemas.openxmlformats.org/drawingml/2006/main">
            <a:off x="6591300" y="525780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725" b="1" i="0">
                <a:solidFill>
                  <a:srgbClr val="102A43"/>
                </a:solidFill>
                <a:latin typeface="Aptos"/>
                <a:ea typeface="Aptos"/>
                <a:cs typeface="Aptos"/>
              </a:defRPr>
            </a:pPr>
            <a:r>
              <a:rPr sz="1725" b="1" i="0">
                <a:solidFill>
                  <a:srgbClr val="102A43"/>
                </a:solidFill>
                <a:latin typeface="Aptos"/>
                <a:ea typeface="Aptos"/>
                <a:cs typeface="Aptos"/>
              </a:rPr>
              <a:t>Vorher/Nachher reproduzieren</a:t>
            </a:r>
          </a:p>
        </p:txBody>
      </p:sp>
      <p:sp>
        <p:nvSpPr>
          <p:cNvPr id="35" name="principle-rule-9">
            <a:extLst xmlns:a="http://schemas.openxmlformats.org/drawingml/2006/main">
              <a:ext uri="{FF2B5EF4-FFF2-40B4-BE49-F238E27FC236}">
                <a16:creationId xmlns:a16="http://schemas.microsoft.com/office/drawing/2014/main" id="{5ACE3A88-F12E-4639-BF1D-C603AD369F83}"/>
              </a:ext>
            </a:extLst>
          </p:cNvPr>
          <p:cNvSpPr>
            <a:spLocks xmlns:a="http://schemas.openxmlformats.org/drawingml/2006/main" noGrp="1"/>
          </p:cNvSpPr>
          <p:nvPr/>
        </p:nvSpPr>
        <p:spPr>
          <a:xfrm xmlns:a="http://schemas.openxmlformats.org/drawingml/2006/main">
            <a:off x="6591300" y="5781675"/>
            <a:ext cx="419100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Tree>
    <p:extLst>
      <p:ext uri="{BB962C8B-B14F-4D97-AF65-F5344CB8AC3E}">
        <p14:creationId xmlns:p14="http://schemas.microsoft.com/office/powerpoint/2010/main" val="481525440"/>
      </p:ext>
    </p:extLst>
  </p:cSld>
</p:sld>
</file>

<file path=ppt/slides/slide82.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module">
            <a:extLst xmlns:a="http://schemas.openxmlformats.org/drawingml/2006/main">
              <a:ext uri="{FF2B5EF4-FFF2-40B4-BE49-F238E27FC236}">
                <a16:creationId xmlns:a16="http://schemas.microsoft.com/office/drawing/2014/main" id="{C9AA9DC1-2368-4611-9EE6-F14E9F40AAD0}"/>
              </a:ext>
            </a:extLst>
          </p:cNvPr>
          <p:cNvSpPr>
            <a:spLocks xmlns:a="http://schemas.openxmlformats.org/drawingml/2006/main" noGrp="1"/>
          </p:cNvSpPr>
          <p:nvPr/>
        </p:nvSpPr>
        <p:spPr>
          <a:xfrm xmlns:a="http://schemas.openxmlformats.org/drawingml/2006/main">
            <a:off x="6096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1B5C2"/>
                </a:solidFill>
                <a:latin typeface="Aptos"/>
                <a:ea typeface="Aptos"/>
                <a:cs typeface="Aptos"/>
              </a:defRPr>
            </a:pPr>
            <a:r>
              <a:rPr sz="1200" b="1" i="0">
                <a:solidFill>
                  <a:srgbClr val="21B5C2"/>
                </a:solidFill>
                <a:latin typeface="Aptos"/>
                <a:ea typeface="Aptos"/>
                <a:cs typeface="Aptos"/>
              </a:rPr>
              <a:t>TRANSFER</a:t>
            </a:r>
          </a:p>
        </p:txBody>
      </p:sp>
      <p:sp>
        <p:nvSpPr>
          <p:cNvPr id="2" name="question">
            <a:extLst xmlns:a="http://schemas.openxmlformats.org/drawingml/2006/main">
              <a:ext uri="{FF2B5EF4-FFF2-40B4-BE49-F238E27FC236}">
                <a16:creationId xmlns:a16="http://schemas.microsoft.com/office/drawing/2014/main" id="{8212FB64-FBFB-413B-8021-E9EFFA2D2759}"/>
              </a:ext>
            </a:extLst>
          </p:cNvPr>
          <p:cNvSpPr>
            <a:spLocks xmlns:a="http://schemas.openxmlformats.org/drawingml/2006/main" noGrp="1"/>
          </p:cNvSpPr>
          <p:nvPr/>
        </p:nvSpPr>
        <p:spPr>
          <a:xfrm xmlns:a="http://schemas.openxmlformats.org/drawingml/2006/main">
            <a:off x="609600" y="1219200"/>
            <a:ext cx="990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900" b="1" i="0">
                <a:solidFill>
                  <a:srgbClr val="FFFFFF"/>
                </a:solidFill>
                <a:latin typeface="Aptos"/>
                <a:ea typeface="Aptos"/>
                <a:cs typeface="Aptos"/>
              </a:defRPr>
            </a:pPr>
            <a:r>
              <a:rPr sz="3900" b="1" i="0">
                <a:solidFill>
                  <a:srgbClr val="FFFFFF"/>
                </a:solidFill>
                <a:latin typeface="Aptos"/>
                <a:ea typeface="Aptos"/>
                <a:cs typeface="Aptos"/>
              </a:rPr>
              <a:t>Transferaufgabe: Von einem Symptom zu einer überprüfbaren Hypothese</a:t>
            </a:r>
          </a:p>
        </p:txBody>
      </p:sp>
      <p:sp>
        <p:nvSpPr>
          <p:cNvPr id="3" name="question-rule">
            <a:extLst xmlns:a="http://schemas.openxmlformats.org/drawingml/2006/main">
              <a:ext uri="{FF2B5EF4-FFF2-40B4-BE49-F238E27FC236}">
                <a16:creationId xmlns:a16="http://schemas.microsoft.com/office/drawing/2014/main" id="{03E6705C-8E90-4783-8DAC-94CBB9582A27}"/>
              </a:ext>
            </a:extLst>
          </p:cNvPr>
          <p:cNvSpPr>
            <a:spLocks xmlns:a="http://schemas.openxmlformats.org/drawingml/2006/main" noGrp="1"/>
          </p:cNvSpPr>
          <p:nvPr/>
        </p:nvSpPr>
        <p:spPr>
          <a:xfrm xmlns:a="http://schemas.openxmlformats.org/drawingml/2006/main">
            <a:off x="609600" y="3048000"/>
            <a:ext cx="10668000" cy="19050"/>
          </a:xfrm>
          <a:prstGeom xmlns:a="http://schemas.openxmlformats.org/drawingml/2006/main" prst="rect">
            <a:avLst/>
          </a:prstGeom>
          <a:solidFill xmlns:a="http://schemas.openxmlformats.org/drawingml/2006/main">
            <a:srgbClr val="35536A"/>
          </a:solidFill>
          <a:ln xmlns:a="http://schemas.openxmlformats.org/drawingml/2006/main" w="0">
            <a:noFill/>
            <a:prstDash val="solid"/>
          </a:ln>
        </p:spPr>
      </p:sp>
      <p:sp>
        <p:nvSpPr>
          <p:cNvPr id="4" name="prompt-num-0">
            <a:extLst xmlns:a="http://schemas.openxmlformats.org/drawingml/2006/main">
              <a:ext uri="{FF2B5EF4-FFF2-40B4-BE49-F238E27FC236}">
                <a16:creationId xmlns:a16="http://schemas.microsoft.com/office/drawing/2014/main" id="{12D0C4E4-BF92-4888-80EC-4C794D28CF18}"/>
              </a:ext>
            </a:extLst>
          </p:cNvPr>
          <p:cNvSpPr>
            <a:spLocks xmlns:a="http://schemas.openxmlformats.org/drawingml/2006/main" noGrp="1"/>
          </p:cNvSpPr>
          <p:nvPr/>
        </p:nvSpPr>
        <p:spPr>
          <a:xfrm xmlns:a="http://schemas.openxmlformats.org/drawingml/2006/main">
            <a:off x="66675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01</a:t>
            </a:r>
          </a:p>
        </p:txBody>
      </p:sp>
      <p:sp>
        <p:nvSpPr>
          <p:cNvPr id="5" name="prompt-0">
            <a:extLst xmlns:a="http://schemas.openxmlformats.org/drawingml/2006/main">
              <a:ext uri="{FF2B5EF4-FFF2-40B4-BE49-F238E27FC236}">
                <a16:creationId xmlns:a16="http://schemas.microsoft.com/office/drawing/2014/main" id="{6C7159F0-49A5-4C06-9C2C-857E9DCCA9C9}"/>
              </a:ext>
            </a:extLst>
          </p:cNvPr>
          <p:cNvSpPr>
            <a:spLocks xmlns:a="http://schemas.openxmlformats.org/drawingml/2006/main" noGrp="1"/>
          </p:cNvSpPr>
          <p:nvPr/>
        </p:nvSpPr>
        <p:spPr>
          <a:xfrm xmlns:a="http://schemas.openxmlformats.org/drawingml/2006/main">
            <a:off x="125730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Symptom und Zeitraum präzisieren</a:t>
            </a:r>
          </a:p>
        </p:txBody>
      </p:sp>
      <p:sp>
        <p:nvSpPr>
          <p:cNvPr id="6" name="prompt-num-1">
            <a:extLst xmlns:a="http://schemas.openxmlformats.org/drawingml/2006/main">
              <a:ext uri="{FF2B5EF4-FFF2-40B4-BE49-F238E27FC236}">
                <a16:creationId xmlns:a16="http://schemas.microsoft.com/office/drawing/2014/main" id="{0AD74B8F-E4BF-4E45-9ACC-07DAC3692FD1}"/>
              </a:ext>
            </a:extLst>
          </p:cNvPr>
          <p:cNvSpPr>
            <a:spLocks xmlns:a="http://schemas.openxmlformats.org/drawingml/2006/main" noGrp="1"/>
          </p:cNvSpPr>
          <p:nvPr/>
        </p:nvSpPr>
        <p:spPr>
          <a:xfrm xmlns:a="http://schemas.openxmlformats.org/drawingml/2006/main">
            <a:off x="6096000" y="3524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02</a:t>
            </a:r>
          </a:p>
        </p:txBody>
      </p:sp>
      <p:sp>
        <p:nvSpPr>
          <p:cNvPr id="7" name="prompt-1">
            <a:extLst xmlns:a="http://schemas.openxmlformats.org/drawingml/2006/main">
              <a:ext uri="{FF2B5EF4-FFF2-40B4-BE49-F238E27FC236}">
                <a16:creationId xmlns:a16="http://schemas.microsoft.com/office/drawing/2014/main" id="{FB6DC6E1-38DC-4DA7-830C-6AAAA861EDDE}"/>
              </a:ext>
            </a:extLst>
          </p:cNvPr>
          <p:cNvSpPr>
            <a:spLocks xmlns:a="http://schemas.openxmlformats.org/drawingml/2006/main" noGrp="1"/>
          </p:cNvSpPr>
          <p:nvPr/>
        </p:nvSpPr>
        <p:spPr>
          <a:xfrm xmlns:a="http://schemas.openxmlformats.org/drawingml/2006/main">
            <a:off x="6686550" y="35242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fünf passende Messwerte auswählen</a:t>
            </a:r>
          </a:p>
        </p:txBody>
      </p:sp>
      <p:sp>
        <p:nvSpPr>
          <p:cNvPr id="8" name="prompt-num-2">
            <a:extLst xmlns:a="http://schemas.openxmlformats.org/drawingml/2006/main">
              <a:ext uri="{FF2B5EF4-FFF2-40B4-BE49-F238E27FC236}">
                <a16:creationId xmlns:a16="http://schemas.microsoft.com/office/drawing/2014/main" id="{7227A5ED-4B30-47AE-9A8E-2155CD79F6E7}"/>
              </a:ext>
            </a:extLst>
          </p:cNvPr>
          <p:cNvSpPr>
            <a:spLocks xmlns:a="http://schemas.openxmlformats.org/drawingml/2006/main" noGrp="1"/>
          </p:cNvSpPr>
          <p:nvPr/>
        </p:nvSpPr>
        <p:spPr>
          <a:xfrm xmlns:a="http://schemas.openxmlformats.org/drawingml/2006/main">
            <a:off x="66675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03</a:t>
            </a:r>
          </a:p>
        </p:txBody>
      </p:sp>
      <p:sp>
        <p:nvSpPr>
          <p:cNvPr id="9" name="prompt-2">
            <a:extLst xmlns:a="http://schemas.openxmlformats.org/drawingml/2006/main">
              <a:ext uri="{FF2B5EF4-FFF2-40B4-BE49-F238E27FC236}">
                <a16:creationId xmlns:a16="http://schemas.microsoft.com/office/drawing/2014/main" id="{1137FCAD-ED9E-4C52-B076-54C180CC3040}"/>
              </a:ext>
            </a:extLst>
          </p:cNvPr>
          <p:cNvSpPr>
            <a:spLocks xmlns:a="http://schemas.openxmlformats.org/drawingml/2006/main" noGrp="1"/>
          </p:cNvSpPr>
          <p:nvPr/>
        </p:nvSpPr>
        <p:spPr>
          <a:xfrm xmlns:a="http://schemas.openxmlformats.org/drawingml/2006/main">
            <a:off x="125730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wahrscheinlichste technische Ursache formulieren</a:t>
            </a:r>
          </a:p>
        </p:txBody>
      </p:sp>
      <p:sp>
        <p:nvSpPr>
          <p:cNvPr id="10" name="prompt-num-3">
            <a:extLst xmlns:a="http://schemas.openxmlformats.org/drawingml/2006/main">
              <a:ext uri="{FF2B5EF4-FFF2-40B4-BE49-F238E27FC236}">
                <a16:creationId xmlns:a16="http://schemas.microsoft.com/office/drawing/2014/main" id="{7864C615-93AA-443C-AE9F-861D31B086E7}"/>
              </a:ext>
            </a:extLst>
          </p:cNvPr>
          <p:cNvSpPr>
            <a:spLocks xmlns:a="http://schemas.openxmlformats.org/drawingml/2006/main" noGrp="1"/>
          </p:cNvSpPr>
          <p:nvPr/>
        </p:nvSpPr>
        <p:spPr>
          <a:xfrm xmlns:a="http://schemas.openxmlformats.org/drawingml/2006/main">
            <a:off x="6096000" y="44386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4A261"/>
                </a:solidFill>
                <a:latin typeface="Aptos"/>
                <a:ea typeface="Aptos"/>
                <a:cs typeface="Aptos"/>
              </a:defRPr>
            </a:pPr>
            <a:r>
              <a:rPr sz="1650" b="1" i="0">
                <a:solidFill>
                  <a:srgbClr val="F4A261"/>
                </a:solidFill>
                <a:latin typeface="Aptos"/>
                <a:ea typeface="Aptos"/>
                <a:cs typeface="Aptos"/>
              </a:rPr>
              <a:t>04</a:t>
            </a:r>
          </a:p>
        </p:txBody>
      </p:sp>
      <p:sp>
        <p:nvSpPr>
          <p:cNvPr id="11" name="prompt-3">
            <a:extLst xmlns:a="http://schemas.openxmlformats.org/drawingml/2006/main">
              <a:ext uri="{FF2B5EF4-FFF2-40B4-BE49-F238E27FC236}">
                <a16:creationId xmlns:a16="http://schemas.microsoft.com/office/drawing/2014/main" id="{D1004015-1E26-4A8E-970A-DFC17573E68F}"/>
              </a:ext>
            </a:extLst>
          </p:cNvPr>
          <p:cNvSpPr>
            <a:spLocks xmlns:a="http://schemas.openxmlformats.org/drawingml/2006/main" noGrp="1"/>
          </p:cNvSpPr>
          <p:nvPr/>
        </p:nvSpPr>
        <p:spPr>
          <a:xfrm xmlns:a="http://schemas.openxmlformats.org/drawingml/2006/main">
            <a:off x="6686550" y="44386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800" b="1" i="0">
                <a:solidFill>
                  <a:srgbClr val="D9E2EC"/>
                </a:solidFill>
                <a:latin typeface="Aptos"/>
                <a:ea typeface="Aptos"/>
                <a:cs typeface="Aptos"/>
              </a:defRPr>
            </a:pPr>
            <a:r>
              <a:rPr sz="1800" b="1" i="0">
                <a:solidFill>
                  <a:srgbClr val="D9E2EC"/>
                </a:solidFill>
                <a:latin typeface="Aptos"/>
                <a:ea typeface="Aptos"/>
                <a:cs typeface="Aptos"/>
              </a:rPr>
              <a:t>eine Änderung und Vergleichsmessung definieren</a:t>
            </a:r>
          </a:p>
        </p:txBody>
      </p:sp>
      <p:sp>
        <p:nvSpPr>
          <p:cNvPr id="12" name="question-footer">
            <a:extLst xmlns:a="http://schemas.openxmlformats.org/drawingml/2006/main">
              <a:ext uri="{FF2B5EF4-FFF2-40B4-BE49-F238E27FC236}">
                <a16:creationId xmlns:a16="http://schemas.microsoft.com/office/drawing/2014/main" id="{82799B77-A314-43BB-91E7-A42D348D9FCB}"/>
              </a:ext>
            </a:extLst>
          </p:cNvPr>
          <p:cNvSpPr>
            <a:spLocks xmlns:a="http://schemas.openxmlformats.org/drawingml/2006/main" noGrp="1"/>
          </p:cNvSpPr>
          <p:nvPr/>
        </p:nvSpPr>
        <p:spPr>
          <a:xfrm xmlns:a="http://schemas.openxmlformats.org/drawingml/2006/main">
            <a:off x="10287000" y="64389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8BA4B7"/>
                </a:solidFill>
                <a:latin typeface="Aptos"/>
                <a:ea typeface="Aptos"/>
                <a:cs typeface="Aptos"/>
              </a:defRPr>
            </a:pPr>
            <a:r>
              <a:rPr sz="1050" b="0" i="0">
                <a:solidFill>
                  <a:srgbClr val="8BA4B7"/>
                </a:solidFill>
                <a:latin typeface="Aptos"/>
                <a:ea typeface="Aptos"/>
                <a:cs typeface="Aptos"/>
              </a:rPr>
              <a:t>82 / 84</a:t>
            </a:r>
          </a:p>
        </p:txBody>
      </p:sp>
    </p:spTree>
    <p:extLst>
      <p:ext uri="{BB962C8B-B14F-4D97-AF65-F5344CB8AC3E}">
        <p14:creationId xmlns:p14="http://schemas.microsoft.com/office/powerpoint/2010/main" val="1298925269"/>
      </p:ext>
    </p:extLst>
  </p:cSld>
</p:sld>
</file>

<file path=ppt/slides/slide8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 name="module-label">
            <a:extLst xmlns:a="http://schemas.openxmlformats.org/drawingml/2006/main">
              <a:ext uri="{FF2B5EF4-FFF2-40B4-BE49-F238E27FC236}">
                <a16:creationId xmlns:a16="http://schemas.microsoft.com/office/drawing/2014/main" id="{2D69A86E-EF08-48A1-A292-5BCDB90B2D0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7C83"/>
                </a:solidFill>
                <a:latin typeface="Aptos"/>
                <a:ea typeface="Aptos"/>
                <a:cs typeface="Aptos"/>
              </a:defRPr>
            </a:pPr>
            <a:r>
              <a:rPr sz="1200" b="1" i="0">
                <a:solidFill>
                  <a:srgbClr val="007C83"/>
                </a:solidFill>
                <a:latin typeface="Aptos"/>
                <a:ea typeface="Aptos"/>
                <a:cs typeface="Aptos"/>
              </a:rPr>
              <a:t>QUELLEN UND METHODE</a:t>
            </a:r>
          </a:p>
        </p:txBody>
      </p:sp>
      <p:sp>
        <p:nvSpPr>
          <p:cNvPr id="2" name="slide-title">
            <a:extLst xmlns:a="http://schemas.openxmlformats.org/drawingml/2006/main">
              <a:ext uri="{FF2B5EF4-FFF2-40B4-BE49-F238E27FC236}">
                <a16:creationId xmlns:a16="http://schemas.microsoft.com/office/drawing/2014/main" id="{FE646A5D-A0C8-470C-95A1-A31F35F990DD}"/>
              </a:ext>
            </a:extLst>
          </p:cNvPr>
          <p:cNvSpPr>
            <a:spLocks xmlns:a="http://schemas.openxmlformats.org/drawingml/2006/main" noGrp="1"/>
          </p:cNvSpPr>
          <p:nvPr/>
        </p:nvSpPr>
        <p:spPr>
          <a:xfrm xmlns:a="http://schemas.openxmlformats.org/drawingml/2006/main">
            <a:off x="609600" y="6858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i="0">
                <a:solidFill>
                  <a:srgbClr val="102A43"/>
                </a:solidFill>
                <a:latin typeface="Aptos"/>
                <a:ea typeface="Aptos"/>
                <a:cs typeface="Aptos"/>
              </a:defRPr>
            </a:pPr>
            <a:r>
              <a:rPr sz="3600" b="1" i="0">
                <a:solidFill>
                  <a:srgbClr val="102A43"/>
                </a:solidFill>
                <a:latin typeface="Aptos"/>
                <a:ea typeface="Aptos"/>
                <a:cs typeface="Aptos"/>
              </a:rPr>
              <a:t>Technische Aussagen sind versionsbezogen und auf Primärdokumentation gestützt</a:t>
            </a:r>
          </a:p>
        </p:txBody>
      </p:sp>
      <p:sp>
        <p:nvSpPr>
          <p:cNvPr id="3" name="title-rule">
            <a:extLst xmlns:a="http://schemas.openxmlformats.org/drawingml/2006/main">
              <a:ext uri="{FF2B5EF4-FFF2-40B4-BE49-F238E27FC236}">
                <a16:creationId xmlns:a16="http://schemas.microsoft.com/office/drawing/2014/main" id="{1087D526-B569-451B-AB8A-D0E74B3A2109}"/>
              </a:ext>
            </a:extLst>
          </p:cNvPr>
          <p:cNvSpPr>
            <a:spLocks xmlns:a="http://schemas.openxmlformats.org/drawingml/2006/main" noGrp="1"/>
          </p:cNvSpPr>
          <p:nvPr/>
        </p:nvSpPr>
        <p:spPr>
          <a:xfrm xmlns:a="http://schemas.openxmlformats.org/drawingml/2006/main">
            <a:off x="609600" y="1790700"/>
            <a:ext cx="10668000" cy="19050"/>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907B0388-0A3C-4533-8528-533996FCA7B3}"/>
              </a:ext>
            </a:extLst>
          </p:cNvPr>
          <p:cNvSpPr>
            <a:spLocks xmlns:a="http://schemas.openxmlformats.org/drawingml/2006/main" noGrp="1"/>
          </p:cNvSpPr>
          <p:nvPr/>
        </p:nvSpPr>
        <p:spPr>
          <a:xfrm xmlns:a="http://schemas.openxmlformats.org/drawingml/2006/main">
            <a:off x="609600" y="65341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SQL Server Performance Grundlagen</a:t>
            </a:r>
          </a:p>
        </p:txBody>
      </p:sp>
      <p:sp>
        <p:nvSpPr>
          <p:cNvPr id="5" name="footer-page">
            <a:extLst xmlns:a="http://schemas.openxmlformats.org/drawingml/2006/main">
              <a:ext uri="{FF2B5EF4-FFF2-40B4-BE49-F238E27FC236}">
                <a16:creationId xmlns:a16="http://schemas.microsoft.com/office/drawing/2014/main" id="{83DE0DF4-BFDD-476A-8B81-10A09352DB8A}"/>
              </a:ext>
            </a:extLst>
          </p:cNvPr>
          <p:cNvSpPr>
            <a:spLocks xmlns:a="http://schemas.openxmlformats.org/drawingml/2006/main" noGrp="1"/>
          </p:cNvSpPr>
          <p:nvPr/>
        </p:nvSpPr>
        <p:spPr>
          <a:xfrm xmlns:a="http://schemas.openxmlformats.org/drawingml/2006/main">
            <a:off x="10287000" y="6534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i="0">
                <a:solidFill>
                  <a:srgbClr val="52606D"/>
                </a:solidFill>
                <a:latin typeface="Aptos"/>
                <a:ea typeface="Aptos"/>
                <a:cs typeface="Aptos"/>
              </a:defRPr>
            </a:pPr>
            <a:r>
              <a:rPr sz="1050" b="0" i="0">
                <a:solidFill>
                  <a:srgbClr val="52606D"/>
                </a:solidFill>
                <a:latin typeface="Aptos"/>
                <a:ea typeface="Aptos"/>
                <a:cs typeface="Aptos"/>
              </a:rPr>
              <a:t>83 / 84</a:t>
            </a:r>
          </a:p>
        </p:txBody>
      </p:sp>
      <p:sp>
        <p:nvSpPr>
          <p:cNvPr id="6" name="lead">
            <a:extLst xmlns:a="http://schemas.openxmlformats.org/drawingml/2006/main">
              <a:ext uri="{FF2B5EF4-FFF2-40B4-BE49-F238E27FC236}">
                <a16:creationId xmlns:a16="http://schemas.microsoft.com/office/drawing/2014/main" id="{C4D9CB9D-AAF7-4FE4-A81F-8880D1C44B4C}"/>
              </a:ext>
            </a:extLst>
          </p:cNvPr>
          <p:cNvSpPr>
            <a:spLocks xmlns:a="http://schemas.openxmlformats.org/drawingml/2006/main" noGrp="1"/>
          </p:cNvSpPr>
          <p:nvPr/>
        </p:nvSpPr>
        <p:spPr>
          <a:xfrm xmlns:a="http://schemas.openxmlformats.org/drawingml/2006/main">
            <a:off x="609600" y="21717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02A43"/>
                </a:solidFill>
                <a:latin typeface="Aptos"/>
                <a:ea typeface="Aptos"/>
                <a:cs typeface="Aptos"/>
              </a:defRPr>
            </a:pPr>
            <a:r>
              <a:rPr sz="2325" b="1" i="0">
                <a:solidFill>
                  <a:srgbClr val="102A43"/>
                </a:solidFill>
                <a:latin typeface="Aptos"/>
                <a:ea typeface="Aptos"/>
                <a:cs typeface="Aptos"/>
              </a:rPr>
              <a:t>Der Foliensatz verwendet Microsoft Learn als primäre Dokumentationsbasis; empirische Demoergebnisse werden separat gekennzeichnet.</a:t>
            </a:r>
          </a:p>
        </p:txBody>
      </p:sp>
      <p:sp>
        <p:nvSpPr>
          <p:cNvPr id="7" name="lead-accent">
            <a:extLst xmlns:a="http://schemas.openxmlformats.org/drawingml/2006/main">
              <a:ext uri="{FF2B5EF4-FFF2-40B4-BE49-F238E27FC236}">
                <a16:creationId xmlns:a16="http://schemas.microsoft.com/office/drawing/2014/main" id="{2ABF2E50-44C0-44F8-9719-E8B71F187DE4}"/>
              </a:ext>
            </a:extLst>
          </p:cNvPr>
          <p:cNvSpPr>
            <a:spLocks xmlns:a="http://schemas.openxmlformats.org/drawingml/2006/main" noGrp="1"/>
          </p:cNvSpPr>
          <p:nvPr/>
        </p:nvSpPr>
        <p:spPr>
          <a:xfrm xmlns:a="http://schemas.openxmlformats.org/drawingml/2006/main">
            <a:off x="609600" y="4591050"/>
            <a:ext cx="3429000" cy="76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points">
            <a:extLst xmlns:a="http://schemas.openxmlformats.org/drawingml/2006/main">
              <a:ext uri="{FF2B5EF4-FFF2-40B4-BE49-F238E27FC236}">
                <a16:creationId xmlns:a16="http://schemas.microsoft.com/office/drawing/2014/main" id="{0037AE56-E236-47F7-8F5E-EDAD6EB2AFFA}"/>
              </a:ext>
            </a:extLst>
          </p:cNvPr>
          <p:cNvSpPr>
            <a:spLocks xmlns:a="http://schemas.openxmlformats.org/drawingml/2006/main" noGrp="1"/>
          </p:cNvSpPr>
          <p:nvPr/>
        </p:nvSpPr>
        <p:spPr>
          <a:xfrm xmlns:a="http://schemas.openxmlformats.org/drawingml/2006/main">
            <a:off x="5981700" y="2152650"/>
            <a:ext cx="5295900" cy="3467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Page and Extent Architecture Guide</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Query Processing, Statistics und Cardinality Estimation</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Intelligent Query Processing für SQL Server 2019/2022/2025</a:t>
            </a:r>
          </a:p>
          <a:p xmlns:a="http://schemas.openxmlformats.org/drawingml/2006/main">
            <a:pPr marL="24" indent="-14">
              <a:lnSpc>
                <a:spcPct val="112000"/>
              </a:lnSpc>
              <a:spcAft>
                <a:spcPts val="18"/>
              </a:spcAft>
              <a:buNone/>
              <a:defRPr sz="1800">
                <a:solidFill>
                  <a:srgbClr val="243B53"/>
                </a:solidFill>
                <a:latin typeface="Aptos"/>
                <a:ea typeface="Aptos"/>
                <a:cs typeface="Aptos"/>
              </a:defRPr>
            </a:pPr>
            <a:r>
              <a:rPr sz="1800">
                <a:solidFill>
                  <a:srgbClr val="243B53"/>
                </a:solidFill>
                <a:latin typeface="Aptos"/>
                <a:ea typeface="Aptos"/>
                <a:cs typeface="Aptos"/>
              </a:rPr>
              <a:t>Index, Columnstore, Locking, Query Store und Extended Events</a:t>
            </a:r>
          </a:p>
        </p:txBody>
      </p:sp>
    </p:spTree>
    <p:extLst>
      <p:ext uri="{BB962C8B-B14F-4D97-AF65-F5344CB8AC3E}">
        <p14:creationId xmlns:p14="http://schemas.microsoft.com/office/powerpoint/2010/main" val="1449575950"/>
      </p:ext>
    </p:extLst>
  </p:cSld>
</p:sld>
</file>

<file path=ppt/slides/slide84.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end-accent">
            <a:extLst xmlns:a="http://schemas.openxmlformats.org/drawingml/2006/main">
              <a:ext uri="{FF2B5EF4-FFF2-40B4-BE49-F238E27FC236}">
                <a16:creationId xmlns:a16="http://schemas.microsoft.com/office/drawing/2014/main" id="{8B70C4F8-9A99-43EC-9799-39BBA69E69AD}"/>
              </a:ext>
            </a:extLst>
          </p:cNvPr>
          <p:cNvSpPr>
            <a:spLocks xmlns:a="http://schemas.openxmlformats.org/drawingml/2006/main" noGrp="1"/>
          </p:cNvSpPr>
          <p:nvPr/>
        </p:nvSpPr>
        <p:spPr>
          <a:xfrm xmlns:a="http://schemas.openxmlformats.org/drawingml/2006/main">
            <a:off x="609600" y="685800"/>
            <a:ext cx="76200" cy="4762500"/>
          </a:xfrm>
          <a:prstGeom xmlns:a="http://schemas.openxmlformats.org/drawingml/2006/main" prst="rect">
            <a:avLst/>
          </a:prstGeom>
          <a:solidFill xmlns:a="http://schemas.openxmlformats.org/drawingml/2006/main">
            <a:srgbClr val="21B5C2"/>
          </a:solidFill>
          <a:ln xmlns:a="http://schemas.openxmlformats.org/drawingml/2006/main" w="0">
            <a:noFill/>
            <a:prstDash val="solid"/>
          </a:ln>
        </p:spPr>
      </p:sp>
      <p:sp>
        <p:nvSpPr>
          <p:cNvPr id="2" name="end-title">
            <a:extLst xmlns:a="http://schemas.openxmlformats.org/drawingml/2006/main">
              <a:ext uri="{FF2B5EF4-FFF2-40B4-BE49-F238E27FC236}">
                <a16:creationId xmlns:a16="http://schemas.microsoft.com/office/drawing/2014/main" id="{AC8D707B-5FF0-400E-A0DA-CD4FAB29AE22}"/>
              </a:ext>
            </a:extLst>
          </p:cNvPr>
          <p:cNvSpPr>
            <a:spLocks xmlns:a="http://schemas.openxmlformats.org/drawingml/2006/main" noGrp="1"/>
          </p:cNvSpPr>
          <p:nvPr/>
        </p:nvSpPr>
        <p:spPr>
          <a:xfrm xmlns:a="http://schemas.openxmlformats.org/drawingml/2006/main">
            <a:off x="990600" y="1524000"/>
            <a:ext cx="9525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650" b="1" i="0">
                <a:solidFill>
                  <a:srgbClr val="FFFFFF"/>
                </a:solidFill>
                <a:latin typeface="Aptos"/>
                <a:ea typeface="Aptos"/>
                <a:cs typeface="Aptos"/>
              </a:defRPr>
            </a:pPr>
            <a:r>
              <a:rPr sz="4650" b="1" i="0">
                <a:solidFill>
                  <a:srgbClr val="FFFFFF"/>
                </a:solidFill>
                <a:latin typeface="Aptos"/>
                <a:ea typeface="Aptos"/>
                <a:cs typeface="Aptos"/>
              </a:rPr>
              <a:t>Performance wird erklärbar,</a:t>
            </a:r>
          </a:p>
          <a:p xmlns:a="http://schemas.openxmlformats.org/drawingml/2006/main">
            <a:pPr algn="l">
              <a:lnSpc>
                <a:spcPct val="94000"/>
              </a:lnSpc>
              <a:buNone/>
              <a:defRPr sz="4650" b="1" i="0">
                <a:solidFill>
                  <a:srgbClr val="FFFFFF"/>
                </a:solidFill>
                <a:latin typeface="Aptos"/>
                <a:ea typeface="Aptos"/>
                <a:cs typeface="Aptos"/>
              </a:defRPr>
            </a:pPr>
            <a:r>
              <a:rPr sz="4650" b="1" i="0">
                <a:solidFill>
                  <a:srgbClr val="FFFFFF"/>
                </a:solidFill>
                <a:latin typeface="Aptos"/>
                <a:ea typeface="Aptos"/>
                <a:cs typeface="Aptos"/>
              </a:rPr>
              <a:t>wenn Evidenz die Reihenfolge bestimmt.</a:t>
            </a:r>
          </a:p>
        </p:txBody>
      </p:sp>
      <p:sp>
        <p:nvSpPr>
          <p:cNvPr id="3" name="end-subtitle">
            <a:extLst xmlns:a="http://schemas.openxmlformats.org/drawingml/2006/main">
              <a:ext uri="{FF2B5EF4-FFF2-40B4-BE49-F238E27FC236}">
                <a16:creationId xmlns:a16="http://schemas.microsoft.com/office/drawing/2014/main" id="{2A5398B4-9D21-4727-9583-433EAEA246A6}"/>
              </a:ext>
            </a:extLst>
          </p:cNvPr>
          <p:cNvSpPr>
            <a:spLocks xmlns:a="http://schemas.openxmlformats.org/drawingml/2006/main" noGrp="1"/>
          </p:cNvSpPr>
          <p:nvPr/>
        </p:nvSpPr>
        <p:spPr>
          <a:xfrm xmlns:a="http://schemas.openxmlformats.org/drawingml/2006/main">
            <a:off x="990600" y="48958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21B5C2"/>
                </a:solidFill>
                <a:latin typeface="Aptos"/>
                <a:ea typeface="Aptos"/>
                <a:cs typeface="Aptos"/>
              </a:defRPr>
            </a:pPr>
            <a:r>
              <a:rPr sz="1875" b="1" i="0">
                <a:solidFill>
                  <a:srgbClr val="21B5C2"/>
                </a:solidFill>
                <a:latin typeface="Aptos"/>
                <a:ea typeface="Aptos"/>
                <a:cs typeface="Aptos"/>
              </a:rPr>
              <a:t>Gerhard Pisch · SQL Server Performance</a:t>
            </a:r>
          </a:p>
        </p:txBody>
      </p:sp>
      <p:sp>
        <p:nvSpPr>
          <p:cNvPr id="4" name="end-version">
            <a:extLst xmlns:a="http://schemas.openxmlformats.org/drawingml/2006/main">
              <a:ext uri="{FF2B5EF4-FFF2-40B4-BE49-F238E27FC236}">
                <a16:creationId xmlns:a16="http://schemas.microsoft.com/office/drawing/2014/main" id="{31EE691A-32E2-4E85-A170-9D540BB06983}"/>
              </a:ext>
            </a:extLst>
          </p:cNvPr>
          <p:cNvSpPr>
            <a:spLocks xmlns:a="http://schemas.openxmlformats.org/drawingml/2006/main" noGrp="1"/>
          </p:cNvSpPr>
          <p:nvPr/>
        </p:nvSpPr>
        <p:spPr>
          <a:xfrm xmlns:a="http://schemas.openxmlformats.org/drawingml/2006/main">
            <a:off x="990600" y="59055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i="0">
                <a:solidFill>
                  <a:srgbClr val="9FB3C8"/>
                </a:solidFill>
                <a:latin typeface="Aptos"/>
                <a:ea typeface="Aptos"/>
                <a:cs typeface="Aptos"/>
              </a:defRPr>
            </a:pPr>
            <a:r>
              <a:rPr sz="1275" b="0" i="0">
                <a:solidFill>
                  <a:srgbClr val="9FB3C8"/>
                </a:solidFill>
                <a:latin typeface="Aptos"/>
                <a:ea typeface="Aptos"/>
                <a:cs typeface="Aptos"/>
              </a:rPr>
              <a:t>Stand: 2026 · SQL Server 2019 / 2022 / 2025</a:t>
            </a:r>
          </a:p>
        </p:txBody>
      </p:sp>
    </p:spTree>
    <p:extLst>
      <p:ext uri="{BB962C8B-B14F-4D97-AF65-F5344CB8AC3E}">
        <p14:creationId xmlns:p14="http://schemas.microsoft.com/office/powerpoint/2010/main" val="994711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2026-07-23T22:15:27.7970000Z</dcterms:created>
  <dcterms:modified xsi:type="dcterms:W3CDTF">2026-07-23T22:15:27.7970000Z</dcterms:modified>
</coreProperties>
</file>